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Inter" panose="02000000000000000000" charset="-120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0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07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14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40.png"/><Relationship Id="rId21" Type="http://schemas.openxmlformats.org/officeDocument/2006/relationships/image" Target="../media/image56.png"/><Relationship Id="rId34" Type="http://schemas.openxmlformats.org/officeDocument/2006/relationships/image" Target="../media/image6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33" Type="http://schemas.openxmlformats.org/officeDocument/2006/relationships/image" Target="../media/image6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32" Type="http://schemas.openxmlformats.org/officeDocument/2006/relationships/image" Target="../media/image67.png"/><Relationship Id="rId5" Type="http://schemas.openxmlformats.org/officeDocument/2006/relationships/image" Target="../media/image15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31" Type="http://schemas.openxmlformats.org/officeDocument/2006/relationships/image" Target="../media/image66.png"/><Relationship Id="rId4" Type="http://schemas.openxmlformats.org/officeDocument/2006/relationships/image" Target="../media/image2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Relationship Id="rId30" Type="http://schemas.openxmlformats.org/officeDocument/2006/relationships/image" Target="../media/image65.png"/><Relationship Id="rId8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9" Type="http://schemas.openxmlformats.org/officeDocument/2006/relationships/image" Target="../media/image104.png"/><Relationship Id="rId21" Type="http://schemas.openxmlformats.org/officeDocument/2006/relationships/image" Target="../media/image86.png"/><Relationship Id="rId34" Type="http://schemas.openxmlformats.org/officeDocument/2006/relationships/image" Target="../media/image99.png"/><Relationship Id="rId42" Type="http://schemas.openxmlformats.org/officeDocument/2006/relationships/image" Target="../media/image107.png"/><Relationship Id="rId47" Type="http://schemas.openxmlformats.org/officeDocument/2006/relationships/image" Target="../media/image112.png"/><Relationship Id="rId50" Type="http://schemas.openxmlformats.org/officeDocument/2006/relationships/image" Target="../media/image115.png"/><Relationship Id="rId55" Type="http://schemas.openxmlformats.org/officeDocument/2006/relationships/image" Target="../media/image12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1.png"/><Relationship Id="rId29" Type="http://schemas.openxmlformats.org/officeDocument/2006/relationships/image" Target="../media/image94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image" Target="../media/image102.png"/><Relationship Id="rId40" Type="http://schemas.openxmlformats.org/officeDocument/2006/relationships/image" Target="../media/image105.png"/><Relationship Id="rId45" Type="http://schemas.openxmlformats.org/officeDocument/2006/relationships/image" Target="../media/image110.png"/><Relationship Id="rId53" Type="http://schemas.openxmlformats.org/officeDocument/2006/relationships/image" Target="../media/image118.png"/><Relationship Id="rId5" Type="http://schemas.openxmlformats.org/officeDocument/2006/relationships/image" Target="../media/image15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4" Type="http://schemas.openxmlformats.org/officeDocument/2006/relationships/image" Target="../media/image109.png"/><Relationship Id="rId52" Type="http://schemas.openxmlformats.org/officeDocument/2006/relationships/image" Target="../media/image117.png"/><Relationship Id="rId4" Type="http://schemas.openxmlformats.org/officeDocument/2006/relationships/image" Target="../media/image2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png"/><Relationship Id="rId35" Type="http://schemas.openxmlformats.org/officeDocument/2006/relationships/image" Target="../media/image100.png"/><Relationship Id="rId43" Type="http://schemas.openxmlformats.org/officeDocument/2006/relationships/image" Target="../media/image108.png"/><Relationship Id="rId48" Type="http://schemas.openxmlformats.org/officeDocument/2006/relationships/image" Target="../media/image113.png"/><Relationship Id="rId8" Type="http://schemas.openxmlformats.org/officeDocument/2006/relationships/image" Target="../media/image73.png"/><Relationship Id="rId51" Type="http://schemas.openxmlformats.org/officeDocument/2006/relationships/image" Target="../media/image116.png"/><Relationship Id="rId3" Type="http://schemas.openxmlformats.org/officeDocument/2006/relationships/image" Target="../media/image70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38" Type="http://schemas.openxmlformats.org/officeDocument/2006/relationships/image" Target="../media/image103.png"/><Relationship Id="rId46" Type="http://schemas.openxmlformats.org/officeDocument/2006/relationships/image" Target="../media/image111.png"/><Relationship Id="rId20" Type="http://schemas.openxmlformats.org/officeDocument/2006/relationships/image" Target="../media/image85.png"/><Relationship Id="rId41" Type="http://schemas.openxmlformats.org/officeDocument/2006/relationships/image" Target="../media/image106.png"/><Relationship Id="rId54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36" Type="http://schemas.openxmlformats.org/officeDocument/2006/relationships/image" Target="../media/image101.png"/><Relationship Id="rId49" Type="http://schemas.openxmlformats.org/officeDocument/2006/relationships/image" Target="../media/image1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14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5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2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35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5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6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26" Type="http://schemas.openxmlformats.org/officeDocument/2006/relationships/image" Target="../media/image174.png"/><Relationship Id="rId3" Type="http://schemas.openxmlformats.org/officeDocument/2006/relationships/image" Target="../media/image14.png"/><Relationship Id="rId21" Type="http://schemas.openxmlformats.org/officeDocument/2006/relationships/image" Target="../media/image169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5" Type="http://schemas.openxmlformats.org/officeDocument/2006/relationships/image" Target="../media/image17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4.png"/><Relationship Id="rId20" Type="http://schemas.openxmlformats.org/officeDocument/2006/relationships/image" Target="../media/image168.png"/><Relationship Id="rId29" Type="http://schemas.openxmlformats.org/officeDocument/2006/relationships/image" Target="../media/image1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2.png"/><Relationship Id="rId32" Type="http://schemas.openxmlformats.org/officeDocument/2006/relationships/image" Target="../media/image180.png"/><Relationship Id="rId5" Type="http://schemas.openxmlformats.org/officeDocument/2006/relationships/image" Target="../media/image15.png"/><Relationship Id="rId15" Type="http://schemas.openxmlformats.org/officeDocument/2006/relationships/image" Target="../media/image163.png"/><Relationship Id="rId23" Type="http://schemas.openxmlformats.org/officeDocument/2006/relationships/image" Target="../media/image171.png"/><Relationship Id="rId28" Type="http://schemas.openxmlformats.org/officeDocument/2006/relationships/image" Target="../media/image176.png"/><Relationship Id="rId10" Type="http://schemas.openxmlformats.org/officeDocument/2006/relationships/image" Target="../media/image158.png"/><Relationship Id="rId19" Type="http://schemas.openxmlformats.org/officeDocument/2006/relationships/image" Target="../media/image167.png"/><Relationship Id="rId31" Type="http://schemas.openxmlformats.org/officeDocument/2006/relationships/image" Target="../media/image179.png"/><Relationship Id="rId4" Type="http://schemas.openxmlformats.org/officeDocument/2006/relationships/image" Target="../media/image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0.png"/><Relationship Id="rId27" Type="http://schemas.openxmlformats.org/officeDocument/2006/relationships/image" Target="../media/image175.png"/><Relationship Id="rId30" Type="http://schemas.openxmlformats.org/officeDocument/2006/relationships/image" Target="../media/image1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26" Type="http://schemas.openxmlformats.org/officeDocument/2006/relationships/image" Target="../media/image201.png"/><Relationship Id="rId3" Type="http://schemas.openxmlformats.org/officeDocument/2006/relationships/image" Target="../media/image40.png"/><Relationship Id="rId21" Type="http://schemas.openxmlformats.org/officeDocument/2006/relationships/image" Target="../media/image196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5" Type="http://schemas.openxmlformats.org/officeDocument/2006/relationships/image" Target="../media/image20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1.png"/><Relationship Id="rId20" Type="http://schemas.openxmlformats.org/officeDocument/2006/relationships/image" Target="../media/image1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24" Type="http://schemas.openxmlformats.org/officeDocument/2006/relationships/image" Target="../media/image199.png"/><Relationship Id="rId5" Type="http://schemas.openxmlformats.org/officeDocument/2006/relationships/image" Target="../media/image15.png"/><Relationship Id="rId15" Type="http://schemas.openxmlformats.org/officeDocument/2006/relationships/image" Target="../media/image190.png"/><Relationship Id="rId23" Type="http://schemas.openxmlformats.org/officeDocument/2006/relationships/image" Target="../media/image198.png"/><Relationship Id="rId10" Type="http://schemas.openxmlformats.org/officeDocument/2006/relationships/image" Target="../media/image185.png"/><Relationship Id="rId19" Type="http://schemas.openxmlformats.org/officeDocument/2006/relationships/image" Target="../media/image194.png"/><Relationship Id="rId4" Type="http://schemas.openxmlformats.org/officeDocument/2006/relationships/image" Target="../media/image2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Relationship Id="rId22" Type="http://schemas.openxmlformats.org/officeDocument/2006/relationships/image" Target="../media/image197.png"/><Relationship Id="rId27" Type="http://schemas.openxmlformats.org/officeDocument/2006/relationships/image" Target="../media/image20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3" Type="http://schemas.openxmlformats.org/officeDocument/2006/relationships/image" Target="../media/image40.png"/><Relationship Id="rId21" Type="http://schemas.openxmlformats.org/officeDocument/2006/relationships/image" Target="../media/image218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15.png"/><Relationship Id="rId15" Type="http://schemas.openxmlformats.org/officeDocument/2006/relationships/image" Target="../media/image212.png"/><Relationship Id="rId10" Type="http://schemas.openxmlformats.org/officeDocument/2006/relationships/image" Target="../media/image207.png"/><Relationship Id="rId19" Type="http://schemas.openxmlformats.org/officeDocument/2006/relationships/image" Target="../media/image216.png"/><Relationship Id="rId4" Type="http://schemas.openxmlformats.org/officeDocument/2006/relationships/image" Target="../media/image2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Relationship Id="rId22" Type="http://schemas.openxmlformats.org/officeDocument/2006/relationships/image" Target="../media/image2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18" Type="http://schemas.openxmlformats.org/officeDocument/2006/relationships/image" Target="../media/image231.png"/><Relationship Id="rId3" Type="http://schemas.openxmlformats.org/officeDocument/2006/relationships/image" Target="../media/image14.png"/><Relationship Id="rId21" Type="http://schemas.openxmlformats.org/officeDocument/2006/relationships/image" Target="../media/image234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17" Type="http://schemas.openxmlformats.org/officeDocument/2006/relationships/image" Target="../media/image23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29.png"/><Relationship Id="rId20" Type="http://schemas.openxmlformats.org/officeDocument/2006/relationships/image" Target="../media/image2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11" Type="http://schemas.openxmlformats.org/officeDocument/2006/relationships/image" Target="../media/image225.png"/><Relationship Id="rId5" Type="http://schemas.openxmlformats.org/officeDocument/2006/relationships/image" Target="../media/image15.png"/><Relationship Id="rId15" Type="http://schemas.openxmlformats.org/officeDocument/2006/relationships/image" Target="../media/image125.png"/><Relationship Id="rId23" Type="http://schemas.openxmlformats.org/officeDocument/2006/relationships/image" Target="../media/image236.png"/><Relationship Id="rId10" Type="http://schemas.openxmlformats.org/officeDocument/2006/relationships/image" Target="../media/image224.png"/><Relationship Id="rId19" Type="http://schemas.openxmlformats.org/officeDocument/2006/relationships/image" Target="../media/image232.png"/><Relationship Id="rId4" Type="http://schemas.openxmlformats.org/officeDocument/2006/relationships/image" Target="../media/image2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Relationship Id="rId22" Type="http://schemas.openxmlformats.org/officeDocument/2006/relationships/image" Target="../media/image2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18" Type="http://schemas.openxmlformats.org/officeDocument/2006/relationships/image" Target="../media/image249.png"/><Relationship Id="rId26" Type="http://schemas.openxmlformats.org/officeDocument/2006/relationships/image" Target="../media/image257.png"/><Relationship Id="rId3" Type="http://schemas.openxmlformats.org/officeDocument/2006/relationships/image" Target="../media/image14.png"/><Relationship Id="rId21" Type="http://schemas.openxmlformats.org/officeDocument/2006/relationships/image" Target="../media/image252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17" Type="http://schemas.openxmlformats.org/officeDocument/2006/relationships/image" Target="../media/image248.png"/><Relationship Id="rId25" Type="http://schemas.openxmlformats.org/officeDocument/2006/relationships/image" Target="../media/image25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47.png"/><Relationship Id="rId20" Type="http://schemas.openxmlformats.org/officeDocument/2006/relationships/image" Target="../media/image251.png"/><Relationship Id="rId29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24" Type="http://schemas.openxmlformats.org/officeDocument/2006/relationships/image" Target="../media/image255.png"/><Relationship Id="rId5" Type="http://schemas.openxmlformats.org/officeDocument/2006/relationships/image" Target="../media/image15.png"/><Relationship Id="rId15" Type="http://schemas.openxmlformats.org/officeDocument/2006/relationships/image" Target="../media/image246.png"/><Relationship Id="rId23" Type="http://schemas.openxmlformats.org/officeDocument/2006/relationships/image" Target="../media/image254.png"/><Relationship Id="rId28" Type="http://schemas.openxmlformats.org/officeDocument/2006/relationships/image" Target="../media/image259.png"/><Relationship Id="rId10" Type="http://schemas.openxmlformats.org/officeDocument/2006/relationships/image" Target="../media/image241.png"/><Relationship Id="rId19" Type="http://schemas.openxmlformats.org/officeDocument/2006/relationships/image" Target="../media/image250.png"/><Relationship Id="rId4" Type="http://schemas.openxmlformats.org/officeDocument/2006/relationships/image" Target="../media/image2.png"/><Relationship Id="rId9" Type="http://schemas.openxmlformats.org/officeDocument/2006/relationships/image" Target="../media/image240.png"/><Relationship Id="rId14" Type="http://schemas.openxmlformats.org/officeDocument/2006/relationships/image" Target="../media/image245.png"/><Relationship Id="rId22" Type="http://schemas.openxmlformats.org/officeDocument/2006/relationships/image" Target="../media/image253.png"/><Relationship Id="rId27" Type="http://schemas.openxmlformats.org/officeDocument/2006/relationships/image" Target="../media/image2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13" Type="http://schemas.openxmlformats.org/officeDocument/2006/relationships/image" Target="../media/image268.png"/><Relationship Id="rId18" Type="http://schemas.openxmlformats.org/officeDocument/2006/relationships/image" Target="../media/image273.png"/><Relationship Id="rId3" Type="http://schemas.openxmlformats.org/officeDocument/2006/relationships/image" Target="../media/image14.png"/><Relationship Id="rId21" Type="http://schemas.openxmlformats.org/officeDocument/2006/relationships/image" Target="../media/image276.png"/><Relationship Id="rId7" Type="http://schemas.openxmlformats.org/officeDocument/2006/relationships/image" Target="../media/image262.png"/><Relationship Id="rId12" Type="http://schemas.openxmlformats.org/officeDocument/2006/relationships/image" Target="../media/image267.png"/><Relationship Id="rId17" Type="http://schemas.openxmlformats.org/officeDocument/2006/relationships/image" Target="../media/image27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71.png"/><Relationship Id="rId20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11" Type="http://schemas.openxmlformats.org/officeDocument/2006/relationships/image" Target="../media/image266.png"/><Relationship Id="rId5" Type="http://schemas.openxmlformats.org/officeDocument/2006/relationships/image" Target="../media/image15.png"/><Relationship Id="rId15" Type="http://schemas.openxmlformats.org/officeDocument/2006/relationships/image" Target="../media/image270.png"/><Relationship Id="rId23" Type="http://schemas.openxmlformats.org/officeDocument/2006/relationships/image" Target="../media/image278.png"/><Relationship Id="rId10" Type="http://schemas.openxmlformats.org/officeDocument/2006/relationships/image" Target="../media/image265.png"/><Relationship Id="rId19" Type="http://schemas.openxmlformats.org/officeDocument/2006/relationships/image" Target="../media/image274.png"/><Relationship Id="rId4" Type="http://schemas.openxmlformats.org/officeDocument/2006/relationships/image" Target="../media/image2.png"/><Relationship Id="rId9" Type="http://schemas.openxmlformats.org/officeDocument/2006/relationships/image" Target="../media/image264.png"/><Relationship Id="rId14" Type="http://schemas.openxmlformats.org/officeDocument/2006/relationships/image" Target="../media/image269.png"/><Relationship Id="rId22" Type="http://schemas.openxmlformats.org/officeDocument/2006/relationships/image" Target="../media/image2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7.png"/><Relationship Id="rId3" Type="http://schemas.openxmlformats.org/officeDocument/2006/relationships/image" Target="../media/image279.png"/><Relationship Id="rId7" Type="http://schemas.openxmlformats.org/officeDocument/2006/relationships/image" Target="../media/image281.png"/><Relationship Id="rId12" Type="http://schemas.openxmlformats.org/officeDocument/2006/relationships/image" Target="../media/image28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11" Type="http://schemas.openxmlformats.org/officeDocument/2006/relationships/image" Target="../media/image285.png"/><Relationship Id="rId5" Type="http://schemas.openxmlformats.org/officeDocument/2006/relationships/image" Target="../media/image15.png"/><Relationship Id="rId10" Type="http://schemas.openxmlformats.org/officeDocument/2006/relationships/image" Target="../media/image284.png"/><Relationship Id="rId4" Type="http://schemas.openxmlformats.org/officeDocument/2006/relationships/image" Target="../media/image2.png"/><Relationship Id="rId9" Type="http://schemas.openxmlformats.org/officeDocument/2006/relationships/image" Target="../media/image283.png"/><Relationship Id="rId14" Type="http://schemas.openxmlformats.org/officeDocument/2006/relationships/image" Target="../media/image28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13" Type="http://schemas.openxmlformats.org/officeDocument/2006/relationships/image" Target="../media/image296.png"/><Relationship Id="rId18" Type="http://schemas.openxmlformats.org/officeDocument/2006/relationships/image" Target="../media/image300.png"/><Relationship Id="rId3" Type="http://schemas.openxmlformats.org/officeDocument/2006/relationships/image" Target="../media/image40.png"/><Relationship Id="rId21" Type="http://schemas.openxmlformats.org/officeDocument/2006/relationships/image" Target="../media/image303.png"/><Relationship Id="rId7" Type="http://schemas.openxmlformats.org/officeDocument/2006/relationships/image" Target="../media/image290.png"/><Relationship Id="rId12" Type="http://schemas.openxmlformats.org/officeDocument/2006/relationships/image" Target="../media/image295.png"/><Relationship Id="rId17" Type="http://schemas.openxmlformats.org/officeDocument/2006/relationships/image" Target="../media/image299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21.png"/><Relationship Id="rId20" Type="http://schemas.openxmlformats.org/officeDocument/2006/relationships/image" Target="../media/image3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9.png"/><Relationship Id="rId11" Type="http://schemas.openxmlformats.org/officeDocument/2006/relationships/image" Target="../media/image294.png"/><Relationship Id="rId24" Type="http://schemas.openxmlformats.org/officeDocument/2006/relationships/image" Target="../media/image306.png"/><Relationship Id="rId5" Type="http://schemas.openxmlformats.org/officeDocument/2006/relationships/image" Target="../media/image15.png"/><Relationship Id="rId15" Type="http://schemas.openxmlformats.org/officeDocument/2006/relationships/image" Target="../media/image298.png"/><Relationship Id="rId23" Type="http://schemas.openxmlformats.org/officeDocument/2006/relationships/image" Target="../media/image305.png"/><Relationship Id="rId10" Type="http://schemas.openxmlformats.org/officeDocument/2006/relationships/image" Target="../media/image293.png"/><Relationship Id="rId19" Type="http://schemas.openxmlformats.org/officeDocument/2006/relationships/image" Target="../media/image301.png"/><Relationship Id="rId4" Type="http://schemas.openxmlformats.org/officeDocument/2006/relationships/image" Target="../media/image2.png"/><Relationship Id="rId9" Type="http://schemas.openxmlformats.org/officeDocument/2006/relationships/image" Target="../media/image292.png"/><Relationship Id="rId14" Type="http://schemas.openxmlformats.org/officeDocument/2006/relationships/image" Target="../media/image297.png"/><Relationship Id="rId22" Type="http://schemas.openxmlformats.org/officeDocument/2006/relationships/image" Target="../media/image30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3" Type="http://schemas.openxmlformats.org/officeDocument/2006/relationships/image" Target="../media/image279.png"/><Relationship Id="rId7" Type="http://schemas.openxmlformats.org/officeDocument/2006/relationships/image" Target="../media/image308.png"/><Relationship Id="rId12" Type="http://schemas.openxmlformats.org/officeDocument/2006/relationships/image" Target="../media/image3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7.png"/><Relationship Id="rId11" Type="http://schemas.openxmlformats.org/officeDocument/2006/relationships/image" Target="../media/image312.png"/><Relationship Id="rId5" Type="http://schemas.openxmlformats.org/officeDocument/2006/relationships/image" Target="../media/image15.png"/><Relationship Id="rId10" Type="http://schemas.openxmlformats.org/officeDocument/2006/relationships/image" Target="../media/image311.png"/><Relationship Id="rId4" Type="http://schemas.openxmlformats.org/officeDocument/2006/relationships/image" Target="../media/image2.png"/><Relationship Id="rId9" Type="http://schemas.openxmlformats.org/officeDocument/2006/relationships/image" Target="../media/image3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1425" y="0"/>
            <a:ext cx="28575" cy="6858000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8" name="SK-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09600"/>
            <a:ext cx="495300" cy="495300"/>
          </a:xfrm>
          <a:prstGeom prst="rect">
            <a:avLst/>
          </a:prstGeom>
        </p:spPr>
      </p:pic>
      <p:pic>
        <p:nvPicPr>
          <p:cNvPr id="9" name="SK-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637187"/>
            <a:ext cx="685800" cy="28575"/>
          </a:xfrm>
          <a:prstGeom prst="rect">
            <a:avLst/>
          </a:prstGeom>
        </p:spPr>
      </p:pic>
      <p:pic>
        <p:nvPicPr>
          <p:cNvPr id="10" name="SK-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6062663"/>
            <a:ext cx="1543050" cy="261937"/>
          </a:xfrm>
          <a:prstGeom prst="rect">
            <a:avLst/>
          </a:prstGeom>
        </p:spPr>
      </p:pic>
      <p:pic>
        <p:nvPicPr>
          <p:cNvPr id="11" name="SK-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4100" y="6062663"/>
            <a:ext cx="2038350" cy="261937"/>
          </a:xfrm>
          <a:prstGeom prst="rect">
            <a:avLst/>
          </a:prstGeom>
        </p:spPr>
      </p:pic>
      <p:pic>
        <p:nvPicPr>
          <p:cNvPr id="12" name="SK-1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6062663"/>
            <a:ext cx="885825" cy="261937"/>
          </a:xfrm>
          <a:prstGeom prst="rect">
            <a:avLst/>
          </a:prstGeom>
        </p:spPr>
      </p:pic>
      <p:pic>
        <p:nvPicPr>
          <p:cNvPr id="13" name="SK-1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6071" y="1302544"/>
            <a:ext cx="4320480" cy="4000500"/>
          </a:xfrm>
          <a:prstGeom prst="rect">
            <a:avLst/>
          </a:prstGeom>
        </p:spPr>
      </p:pic>
      <p:pic>
        <p:nvPicPr>
          <p:cNvPr id="14" name="SK-1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6071" y="1302544"/>
            <a:ext cx="4320480" cy="4000500"/>
          </a:xfrm>
          <a:prstGeom prst="rect">
            <a:avLst/>
          </a:prstGeom>
        </p:spPr>
      </p:pic>
      <p:sp>
        <p:nvSpPr>
          <p:cNvPr id="15" name="SK-1-text-14"/>
          <p:cNvSpPr/>
          <p:nvPr/>
        </p:nvSpPr>
        <p:spPr>
          <a:xfrm>
            <a:off x="1314450" y="764381"/>
            <a:ext cx="4533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kern="0" spc="90" dirty="0">
                <a:solidFill>
                  <a:srgbClr val="059669"/>
                </a:solidFill>
              </a:rPr>
              <a:t>FM ABATTAGE // SOUTENANCE DWWM</a:t>
            </a:r>
            <a:endParaRPr lang="en-US" sz="975" dirty="0"/>
          </a:p>
        </p:txBody>
      </p:sp>
      <p:sp>
        <p:nvSpPr>
          <p:cNvPr id="16" name="SK-1-text-15"/>
          <p:cNvSpPr/>
          <p:nvPr/>
        </p:nvSpPr>
        <p:spPr>
          <a:xfrm>
            <a:off x="685800" y="2120801"/>
            <a:ext cx="5928271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kern="0" spc="120" dirty="0">
                <a:solidFill>
                  <a:srgbClr val="0EA5E9"/>
                </a:solidFill>
              </a:rPr>
              <a:t>TITRE PROFESSIONNEL · SESSION 2026</a:t>
            </a:r>
            <a:endParaRPr lang="en-US" sz="975" dirty="0"/>
          </a:p>
        </p:txBody>
      </p:sp>
      <p:sp>
        <p:nvSpPr>
          <p:cNvPr id="17" name="SK-1-text-16"/>
          <p:cNvSpPr/>
          <p:nvPr/>
        </p:nvSpPr>
        <p:spPr>
          <a:xfrm>
            <a:off x="685800" y="2458938"/>
            <a:ext cx="8046720" cy="6704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280"/>
              </a:lnSpc>
              <a:buNone/>
            </a:pPr>
            <a:r>
              <a:rPr lang="en-US" sz="4800" b="1" kern="0" spc="-9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FM </a:t>
            </a:r>
            <a:r>
              <a:rPr lang="en-US" sz="4800" b="1" kern="0" spc="-9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Abattage</a:t>
            </a:r>
            <a:endParaRPr lang="en-US" sz="4800" dirty="0"/>
          </a:p>
        </p:txBody>
      </p:sp>
      <p:sp>
        <p:nvSpPr>
          <p:cNvPr id="18" name="SK-1-text-17"/>
          <p:cNvSpPr/>
          <p:nvPr/>
        </p:nvSpPr>
        <p:spPr>
          <a:xfrm>
            <a:off x="685800" y="3186559"/>
            <a:ext cx="6661785" cy="3219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5"/>
              </a:lnSpc>
              <a:buNone/>
            </a:pPr>
            <a:r>
              <a:rPr lang="en-US" sz="1950" b="1" kern="0" spc="-18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de Gestion</a:t>
            </a:r>
            <a:endParaRPr lang="en-US" sz="1950" dirty="0"/>
          </a:p>
        </p:txBody>
      </p:sp>
      <p:sp>
        <p:nvSpPr>
          <p:cNvPr id="19" name="SK-1-text-18"/>
          <p:cNvSpPr/>
          <p:nvPr/>
        </p:nvSpPr>
        <p:spPr>
          <a:xfrm>
            <a:off x="685800" y="3679924"/>
            <a:ext cx="4953000" cy="728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Soutenance du Titre Professionnel Développeur Web et Web Mobile — Application full-stack de gestion administrative pour la micro-entreprise FM Abattage.</a:t>
            </a:r>
            <a:endParaRPr lang="en-US" sz="1275" dirty="0"/>
          </a:p>
        </p:txBody>
      </p:sp>
      <p:sp>
        <p:nvSpPr>
          <p:cNvPr id="20" name="SK-1-text-19"/>
          <p:cNvSpPr/>
          <p:nvPr/>
        </p:nvSpPr>
        <p:spPr>
          <a:xfrm>
            <a:off x="685800" y="5681663"/>
            <a:ext cx="3067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kern="0" spc="-18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Lydie Meunier</a:t>
            </a:r>
            <a:endParaRPr lang="en-US" sz="1500" dirty="0"/>
          </a:p>
        </p:txBody>
      </p:sp>
      <p:sp>
        <p:nvSpPr>
          <p:cNvPr id="21" name="SK-1-text-20"/>
          <p:cNvSpPr/>
          <p:nvPr/>
        </p:nvSpPr>
        <p:spPr>
          <a:xfrm>
            <a:off x="781050" y="6062663"/>
            <a:ext cx="2898187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DWWM · Session 2026</a:t>
            </a:r>
            <a:endParaRPr lang="en-US" sz="975" dirty="0"/>
          </a:p>
        </p:txBody>
      </p:sp>
      <p:sp>
        <p:nvSpPr>
          <p:cNvPr id="22" name="SK-1-text-21"/>
          <p:cNvSpPr/>
          <p:nvPr/>
        </p:nvSpPr>
        <p:spPr>
          <a:xfrm>
            <a:off x="2419350" y="6062663"/>
            <a:ext cx="3847886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Centre Européen de Formation</a:t>
            </a:r>
            <a:endParaRPr lang="en-US" sz="975" dirty="0"/>
          </a:p>
        </p:txBody>
      </p:sp>
      <p:sp>
        <p:nvSpPr>
          <p:cNvPr id="23" name="SK-1-text-22"/>
          <p:cNvSpPr/>
          <p:nvPr/>
        </p:nvSpPr>
        <p:spPr>
          <a:xfrm>
            <a:off x="4552950" y="6062663"/>
            <a:ext cx="1942363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juin 2026</a:t>
            </a:r>
            <a:endParaRPr lang="en-US" sz="975" dirty="0"/>
          </a:p>
        </p:txBody>
      </p:sp>
      <p:sp>
        <p:nvSpPr>
          <p:cNvPr id="24" name="SK-1-text-23"/>
          <p:cNvSpPr/>
          <p:nvPr/>
        </p:nvSpPr>
        <p:spPr>
          <a:xfrm>
            <a:off x="8499872" y="5398294"/>
            <a:ext cx="3196679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kern="0" spc="48" dirty="0">
                <a:solidFill>
                  <a:srgbClr val="94A3B8"/>
                </a:solidFill>
              </a:rPr>
              <a:t>PAYSAGISME &amp; ABATTAGE · SOLUTION NUMÉRIQUE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7650"/>
            <a:ext cx="11049000" cy="641896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032421"/>
            <a:ext cx="5372100" cy="2698552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280071"/>
            <a:ext cx="190500" cy="152400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22971"/>
            <a:ext cx="190500" cy="205085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175421"/>
            <a:ext cx="190500" cy="166688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499271"/>
            <a:ext cx="190500" cy="166688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851696"/>
            <a:ext cx="4914900" cy="9525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985046"/>
            <a:ext cx="190500" cy="222200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911947"/>
            <a:ext cx="5372100" cy="2698552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159597"/>
            <a:ext cx="190500" cy="152400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502497"/>
            <a:ext cx="4914900" cy="228600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4912072"/>
            <a:ext cx="190500" cy="166688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5235922"/>
            <a:ext cx="190500" cy="166688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559772"/>
            <a:ext cx="190500" cy="166688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0" y="1032421"/>
            <a:ext cx="5372100" cy="2743200"/>
          </a:xfrm>
          <a:prstGeom prst="rect">
            <a:avLst/>
          </a:prstGeom>
        </p:spPr>
      </p:pic>
      <p:pic>
        <p:nvPicPr>
          <p:cNvPr id="19" name="SK-2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1280071"/>
            <a:ext cx="190500" cy="152400"/>
          </a:xfrm>
          <a:prstGeom prst="rect">
            <a:avLst/>
          </a:prstGeom>
        </p:spPr>
      </p:pic>
      <p:pic>
        <p:nvPicPr>
          <p:cNvPr id="20" name="SK-2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1622971"/>
            <a:ext cx="4914900" cy="228600"/>
          </a:xfrm>
          <a:prstGeom prst="rect">
            <a:avLst/>
          </a:prstGeom>
        </p:spPr>
      </p:pic>
      <p:pic>
        <p:nvPicPr>
          <p:cNvPr id="21" name="SK-2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2032546"/>
            <a:ext cx="190500" cy="190500"/>
          </a:xfrm>
          <a:prstGeom prst="rect">
            <a:avLst/>
          </a:prstGeom>
        </p:spPr>
      </p:pic>
      <p:pic>
        <p:nvPicPr>
          <p:cNvPr id="22" name="SK-2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584996"/>
            <a:ext cx="190500" cy="205085"/>
          </a:xfrm>
          <a:prstGeom prst="rect">
            <a:avLst/>
          </a:prstGeom>
        </p:spPr>
      </p:pic>
      <p:pic>
        <p:nvPicPr>
          <p:cNvPr id="23" name="SK-2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3137446"/>
            <a:ext cx="190500" cy="166688"/>
          </a:xfrm>
          <a:prstGeom prst="rect">
            <a:avLst/>
          </a:prstGeom>
        </p:spPr>
      </p:pic>
      <p:pic>
        <p:nvPicPr>
          <p:cNvPr id="24" name="SK-2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48400" y="3918496"/>
            <a:ext cx="5372100" cy="2691854"/>
          </a:xfrm>
          <a:prstGeom prst="rect">
            <a:avLst/>
          </a:prstGeom>
        </p:spPr>
      </p:pic>
      <p:pic>
        <p:nvPicPr>
          <p:cNvPr id="25" name="SK-2-img-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166146"/>
            <a:ext cx="190500" cy="152400"/>
          </a:xfrm>
          <a:prstGeom prst="rect">
            <a:avLst/>
          </a:prstGeom>
        </p:spPr>
      </p:pic>
      <p:pic>
        <p:nvPicPr>
          <p:cNvPr id="26" name="SK-2-img-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77000" y="5418683"/>
            <a:ext cx="190500" cy="166688"/>
          </a:xfrm>
          <a:prstGeom prst="rect">
            <a:avLst/>
          </a:prstGeom>
        </p:spPr>
      </p:pic>
      <p:pic>
        <p:nvPicPr>
          <p:cNvPr id="27" name="SK-2-img-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5742533"/>
            <a:ext cx="190500" cy="166688"/>
          </a:xfrm>
          <a:prstGeom prst="rect">
            <a:avLst/>
          </a:prstGeom>
        </p:spPr>
      </p:pic>
      <p:pic>
        <p:nvPicPr>
          <p:cNvPr id="28" name="SK-2-img-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77000" y="6066383"/>
            <a:ext cx="190500" cy="166688"/>
          </a:xfrm>
          <a:prstGeom prst="rect">
            <a:avLst/>
          </a:prstGeom>
        </p:spPr>
      </p:pic>
      <p:sp>
        <p:nvSpPr>
          <p:cNvPr id="29" name="SK-2-text-28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0" name="SK-2-text-29"/>
          <p:cNvSpPr/>
          <p:nvPr/>
        </p:nvSpPr>
        <p:spPr>
          <a:xfrm>
            <a:off x="762000" y="52387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du Projet &amp; Contexte</a:t>
            </a:r>
            <a:endParaRPr lang="en-US" sz="2400" dirty="0"/>
          </a:p>
        </p:txBody>
      </p:sp>
      <p:sp>
        <p:nvSpPr>
          <p:cNvPr id="31" name="SK-2-text-30"/>
          <p:cNvSpPr/>
          <p:nvPr/>
        </p:nvSpPr>
        <p:spPr>
          <a:xfrm>
            <a:off x="1104900" y="1213396"/>
            <a:ext cx="6496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Micro-entreprise FM Abattage</a:t>
            </a:r>
            <a:endParaRPr lang="en-US" sz="1500" dirty="0"/>
          </a:p>
        </p:txBody>
      </p:sp>
      <p:sp>
        <p:nvSpPr>
          <p:cNvPr id="32" name="SK-2-text-31"/>
          <p:cNvSpPr/>
          <p:nvPr/>
        </p:nvSpPr>
        <p:spPr>
          <a:xfrm>
            <a:off x="1085850" y="1622971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Gérant :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Entrepreneur individuel spécialisé en paysagisme et abattage d'arbres.</a:t>
            </a:r>
            <a:endParaRPr lang="en-US" sz="1200" dirty="0"/>
          </a:p>
        </p:txBody>
      </p:sp>
      <p:sp>
        <p:nvSpPr>
          <p:cNvPr id="33" name="SK-2-text-32"/>
          <p:cNvSpPr/>
          <p:nvPr/>
        </p:nvSpPr>
        <p:spPr>
          <a:xfrm>
            <a:off x="1085850" y="2175421"/>
            <a:ext cx="8427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rue du Thou, 01240 Saint-Paul de Varax</a:t>
            </a:r>
            <a:endParaRPr lang="en-US" sz="1200" dirty="0"/>
          </a:p>
        </p:txBody>
      </p:sp>
      <p:sp>
        <p:nvSpPr>
          <p:cNvPr id="34" name="SK-2-text-33"/>
          <p:cNvSpPr/>
          <p:nvPr/>
        </p:nvSpPr>
        <p:spPr>
          <a:xfrm>
            <a:off x="1085850" y="2499271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SIRET :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914 446 364</a:t>
            </a:r>
            <a:endParaRPr lang="en-US" sz="1200" dirty="0"/>
          </a:p>
        </p:txBody>
      </p:sp>
      <p:sp>
        <p:nvSpPr>
          <p:cNvPr id="35" name="SK-2-text-34"/>
          <p:cNvSpPr/>
          <p:nvPr/>
        </p:nvSpPr>
        <p:spPr>
          <a:xfrm>
            <a:off x="1085850" y="2985046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Ancienne gestion :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Utilisation exclusive de fichiers Excel et documents manuels.</a:t>
            </a:r>
            <a:endParaRPr lang="en-US" sz="1200" dirty="0"/>
          </a:p>
        </p:txBody>
      </p:sp>
      <p:sp>
        <p:nvSpPr>
          <p:cNvPr id="36" name="SK-2-text-35"/>
          <p:cNvSpPr/>
          <p:nvPr/>
        </p:nvSpPr>
        <p:spPr>
          <a:xfrm>
            <a:off x="1104900" y="4092922"/>
            <a:ext cx="466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Problèmes Identifiés</a:t>
            </a:r>
            <a:endParaRPr lang="en-US" sz="1500" dirty="0"/>
          </a:p>
        </p:txBody>
      </p:sp>
      <p:sp>
        <p:nvSpPr>
          <p:cNvPr id="37" name="SK-2-text-36"/>
          <p:cNvSpPr/>
          <p:nvPr/>
        </p:nvSpPr>
        <p:spPr>
          <a:xfrm>
            <a:off x="914400" y="4502497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ÉTAT INITIAL : CRITIQUE</a:t>
            </a:r>
            <a:endParaRPr lang="en-US" sz="900" dirty="0"/>
          </a:p>
        </p:txBody>
      </p:sp>
      <p:sp>
        <p:nvSpPr>
          <p:cNvPr id="38" name="SK-2-text-37"/>
          <p:cNvSpPr/>
          <p:nvPr/>
        </p:nvSpPr>
        <p:spPr>
          <a:xfrm>
            <a:off x="1085850" y="4912072"/>
            <a:ext cx="1104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Perte de temps significative et risques d'erreurs de saisie.</a:t>
            </a:r>
            <a:endParaRPr lang="en-US" sz="1200" dirty="0"/>
          </a:p>
        </p:txBody>
      </p:sp>
      <p:sp>
        <p:nvSpPr>
          <p:cNvPr id="39" name="SK-2-text-38"/>
          <p:cNvSpPr/>
          <p:nvPr/>
        </p:nvSpPr>
        <p:spPr>
          <a:xfrm>
            <a:off x="1085850" y="5235922"/>
            <a:ext cx="11106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 à retrouver et centraliser les informations clients.</a:t>
            </a:r>
            <a:endParaRPr lang="en-US" sz="1200" dirty="0"/>
          </a:p>
        </p:txBody>
      </p:sp>
      <p:sp>
        <p:nvSpPr>
          <p:cNvPr id="40" name="SK-2-text-39"/>
          <p:cNvSpPr/>
          <p:nvPr/>
        </p:nvSpPr>
        <p:spPr>
          <a:xfrm>
            <a:off x="1085850" y="5559772"/>
            <a:ext cx="1031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 avec des compétences informatiques limitées.</a:t>
            </a:r>
            <a:endParaRPr lang="en-US" sz="1200" dirty="0"/>
          </a:p>
        </p:txBody>
      </p:sp>
      <p:sp>
        <p:nvSpPr>
          <p:cNvPr id="41" name="SK-2-text-40"/>
          <p:cNvSpPr/>
          <p:nvPr/>
        </p:nvSpPr>
        <p:spPr>
          <a:xfrm>
            <a:off x="6781800" y="1213396"/>
            <a:ext cx="4438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Objectifs du Projet</a:t>
            </a:r>
            <a:endParaRPr lang="en-US" sz="1500" dirty="0"/>
          </a:p>
        </p:txBody>
      </p:sp>
      <p:sp>
        <p:nvSpPr>
          <p:cNvPr id="42" name="SK-2-text-41"/>
          <p:cNvSpPr/>
          <p:nvPr/>
        </p:nvSpPr>
        <p:spPr>
          <a:xfrm>
            <a:off x="6591300" y="1622971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kern="0" spc="3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: CENTRALISÉE</a:t>
            </a:r>
            <a:endParaRPr lang="en-US" sz="900" dirty="0"/>
          </a:p>
        </p:txBody>
      </p:sp>
      <p:sp>
        <p:nvSpPr>
          <p:cNvPr id="43" name="SK-2-text-42"/>
          <p:cNvSpPr/>
          <p:nvPr/>
        </p:nvSpPr>
        <p:spPr>
          <a:xfrm>
            <a:off x="6762750" y="2032546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: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Gestion fluide des clients, devis, factures et paiements.</a:t>
            </a:r>
            <a:endParaRPr lang="en-US" sz="1200" dirty="0"/>
          </a:p>
        </p:txBody>
      </p:sp>
      <p:sp>
        <p:nvSpPr>
          <p:cNvPr id="44" name="SK-2-text-43"/>
          <p:cNvSpPr/>
          <p:nvPr/>
        </p:nvSpPr>
        <p:spPr>
          <a:xfrm>
            <a:off x="6762750" y="2584996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Fiabilisation :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Réduction des erreurs humaines et sécurisation des données.</a:t>
            </a:r>
            <a:endParaRPr lang="en-US" sz="1200" dirty="0"/>
          </a:p>
        </p:txBody>
      </p:sp>
      <p:sp>
        <p:nvSpPr>
          <p:cNvPr id="45" name="SK-2-text-44"/>
          <p:cNvSpPr/>
          <p:nvPr/>
        </p:nvSpPr>
        <p:spPr>
          <a:xfrm>
            <a:off x="6762750" y="3137446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Simplicité :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Interface intuitive pour une prise en main immédiate.</a:t>
            </a:r>
            <a:endParaRPr lang="en-US" sz="1200" dirty="0"/>
          </a:p>
        </p:txBody>
      </p:sp>
      <p:sp>
        <p:nvSpPr>
          <p:cNvPr id="46" name="SK-2-text-45"/>
          <p:cNvSpPr/>
          <p:nvPr/>
        </p:nvSpPr>
        <p:spPr>
          <a:xfrm>
            <a:off x="6781800" y="4099471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Développée</a:t>
            </a:r>
            <a:endParaRPr lang="en-US" sz="1500" dirty="0"/>
          </a:p>
        </p:txBody>
      </p:sp>
      <p:sp>
        <p:nvSpPr>
          <p:cNvPr id="47" name="SK-2-text-46"/>
          <p:cNvSpPr/>
          <p:nvPr/>
        </p:nvSpPr>
        <p:spPr>
          <a:xfrm>
            <a:off x="6477000" y="4509046"/>
            <a:ext cx="4914900" cy="728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d'une </a:t>
            </a: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web full-stack</a:t>
            </a: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mesure remplaçant les outils bureautiques traditionnels par une plateforme unique et collaborative.</a:t>
            </a:r>
            <a:endParaRPr lang="en-US" sz="1275" dirty="0"/>
          </a:p>
        </p:txBody>
      </p:sp>
      <p:sp>
        <p:nvSpPr>
          <p:cNvPr id="48" name="SK-2-text-47"/>
          <p:cNvSpPr/>
          <p:nvPr/>
        </p:nvSpPr>
        <p:spPr>
          <a:xfrm>
            <a:off x="6762750" y="5418683"/>
            <a:ext cx="5429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relationnelle centralisée.</a:t>
            </a:r>
            <a:endParaRPr lang="en-US" sz="1200" dirty="0"/>
          </a:p>
        </p:txBody>
      </p:sp>
      <p:sp>
        <p:nvSpPr>
          <p:cNvPr id="49" name="SK-2-text-48"/>
          <p:cNvSpPr/>
          <p:nvPr/>
        </p:nvSpPr>
        <p:spPr>
          <a:xfrm>
            <a:off x="6762750" y="5742533"/>
            <a:ext cx="5429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automatique de documents PDF professionnels.</a:t>
            </a:r>
            <a:endParaRPr lang="en-US" sz="1200" dirty="0"/>
          </a:p>
        </p:txBody>
      </p:sp>
      <p:sp>
        <p:nvSpPr>
          <p:cNvPr id="50" name="SK-2-text-49"/>
          <p:cNvSpPr/>
          <p:nvPr/>
        </p:nvSpPr>
        <p:spPr>
          <a:xfrm>
            <a:off x="6762750" y="6066383"/>
            <a:ext cx="5429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en temps réel de l'activité commerciale.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51496"/>
            <a:ext cx="3530650" cy="2536627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65796"/>
            <a:ext cx="3302050" cy="333375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06723"/>
            <a:ext cx="214313" cy="17532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073027"/>
            <a:ext cx="38100" cy="38100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296864"/>
            <a:ext cx="38100" cy="38100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520702"/>
            <a:ext cx="38100" cy="3810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744539"/>
            <a:ext cx="38100" cy="3810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292822"/>
            <a:ext cx="3302050" cy="381000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940522"/>
            <a:ext cx="3530650" cy="2536627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054822"/>
            <a:ext cx="3302050" cy="333375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095750"/>
            <a:ext cx="214313" cy="175320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762054"/>
            <a:ext cx="38100" cy="38100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985891"/>
            <a:ext cx="38100" cy="3810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209729"/>
            <a:ext cx="38100" cy="38100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30750" y="1251496"/>
            <a:ext cx="3530650" cy="2536627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5050" y="1365796"/>
            <a:ext cx="3302050" cy="333375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45050" y="1406723"/>
            <a:ext cx="214313" cy="175320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5050" y="2073027"/>
            <a:ext cx="38100" cy="38100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50" y="2296864"/>
            <a:ext cx="38100" cy="38100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5050" y="2520702"/>
            <a:ext cx="38100" cy="38100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50" y="2744539"/>
            <a:ext cx="38100" cy="38100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5050" y="3292822"/>
            <a:ext cx="3302050" cy="381000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30750" y="3940522"/>
            <a:ext cx="3530650" cy="2536627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45050" y="4054822"/>
            <a:ext cx="3302050" cy="333375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45050" y="4095750"/>
            <a:ext cx="214313" cy="175320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50" y="4762054"/>
            <a:ext cx="38100" cy="38100"/>
          </a:xfrm>
          <a:prstGeom prst="rect">
            <a:avLst/>
          </a:prstGeom>
        </p:spPr>
      </p:pic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45050" y="4985891"/>
            <a:ext cx="38100" cy="38100"/>
          </a:xfrm>
          <a:prstGeom prst="rect">
            <a:avLst/>
          </a:prstGeom>
        </p:spPr>
      </p:pic>
      <p:pic>
        <p:nvPicPr>
          <p:cNvPr id="32" name="SK-3-img-3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50" y="5209729"/>
            <a:ext cx="38100" cy="38100"/>
          </a:xfrm>
          <a:prstGeom prst="rect">
            <a:avLst/>
          </a:prstGeom>
        </p:spPr>
      </p:pic>
      <p:pic>
        <p:nvPicPr>
          <p:cNvPr id="33" name="SK-3-img-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45050" y="5981849"/>
            <a:ext cx="3302050" cy="381000"/>
          </a:xfrm>
          <a:prstGeom prst="rect">
            <a:avLst/>
          </a:prstGeom>
        </p:spPr>
      </p:pic>
      <p:pic>
        <p:nvPicPr>
          <p:cNvPr id="34" name="SK-3-img-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89999" y="1251496"/>
            <a:ext cx="3530650" cy="1640235"/>
          </a:xfrm>
          <a:prstGeom prst="rect">
            <a:avLst/>
          </a:prstGeom>
        </p:spPr>
      </p:pic>
      <p:pic>
        <p:nvPicPr>
          <p:cNvPr id="35" name="SK-3-img-3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4299" y="1365796"/>
            <a:ext cx="3302050" cy="333375"/>
          </a:xfrm>
          <a:prstGeom prst="rect">
            <a:avLst/>
          </a:prstGeom>
        </p:spPr>
      </p:pic>
      <p:pic>
        <p:nvPicPr>
          <p:cNvPr id="36" name="SK-3-img-3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4299" y="1406723"/>
            <a:ext cx="214313" cy="175320"/>
          </a:xfrm>
          <a:prstGeom prst="rect">
            <a:avLst/>
          </a:prstGeom>
        </p:spPr>
      </p:pic>
      <p:pic>
        <p:nvPicPr>
          <p:cNvPr id="37" name="SK-3-img-3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04299" y="2073027"/>
            <a:ext cx="38100" cy="38100"/>
          </a:xfrm>
          <a:prstGeom prst="rect">
            <a:avLst/>
          </a:prstGeom>
        </p:spPr>
      </p:pic>
      <p:pic>
        <p:nvPicPr>
          <p:cNvPr id="38" name="SK-3-img-3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04299" y="2296864"/>
            <a:ext cx="38100" cy="38100"/>
          </a:xfrm>
          <a:prstGeom prst="rect">
            <a:avLst/>
          </a:prstGeom>
        </p:spPr>
      </p:pic>
      <p:pic>
        <p:nvPicPr>
          <p:cNvPr id="39" name="SK-3-img-3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04299" y="2520702"/>
            <a:ext cx="38100" cy="38100"/>
          </a:xfrm>
          <a:prstGeom prst="rect">
            <a:avLst/>
          </a:prstGeom>
        </p:spPr>
      </p:pic>
      <p:pic>
        <p:nvPicPr>
          <p:cNvPr id="40" name="SK-3-img-3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89999" y="3044130"/>
            <a:ext cx="3530650" cy="1640235"/>
          </a:xfrm>
          <a:prstGeom prst="rect">
            <a:avLst/>
          </a:prstGeom>
        </p:spPr>
      </p:pic>
      <p:pic>
        <p:nvPicPr>
          <p:cNvPr id="41" name="SK-3-img-4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04299" y="3158430"/>
            <a:ext cx="3302050" cy="333375"/>
          </a:xfrm>
          <a:prstGeom prst="rect">
            <a:avLst/>
          </a:prstGeom>
        </p:spPr>
      </p:pic>
      <p:pic>
        <p:nvPicPr>
          <p:cNvPr id="42" name="SK-3-img-4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04299" y="3199358"/>
            <a:ext cx="214313" cy="175320"/>
          </a:xfrm>
          <a:prstGeom prst="rect">
            <a:avLst/>
          </a:prstGeom>
        </p:spPr>
      </p:pic>
      <p:pic>
        <p:nvPicPr>
          <p:cNvPr id="43" name="SK-3-img-4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04299" y="3865662"/>
            <a:ext cx="38100" cy="38100"/>
          </a:xfrm>
          <a:prstGeom prst="rect">
            <a:avLst/>
          </a:prstGeom>
        </p:spPr>
      </p:pic>
      <p:pic>
        <p:nvPicPr>
          <p:cNvPr id="44" name="SK-3-img-4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04299" y="4089499"/>
            <a:ext cx="38100" cy="38100"/>
          </a:xfrm>
          <a:prstGeom prst="rect">
            <a:avLst/>
          </a:prstGeom>
        </p:spPr>
      </p:pic>
      <p:pic>
        <p:nvPicPr>
          <p:cNvPr id="45" name="SK-3-img-4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089999" y="4836765"/>
            <a:ext cx="3530650" cy="1640235"/>
          </a:xfrm>
          <a:prstGeom prst="rect">
            <a:avLst/>
          </a:prstGeom>
        </p:spPr>
      </p:pic>
      <p:pic>
        <p:nvPicPr>
          <p:cNvPr id="46" name="SK-3-img-45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04299" y="4951065"/>
            <a:ext cx="3302050" cy="333375"/>
          </a:xfrm>
          <a:prstGeom prst="rect">
            <a:avLst/>
          </a:prstGeom>
        </p:spPr>
      </p:pic>
      <p:pic>
        <p:nvPicPr>
          <p:cNvPr id="47" name="SK-3-img-46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04299" y="4991993"/>
            <a:ext cx="214313" cy="175320"/>
          </a:xfrm>
          <a:prstGeom prst="rect">
            <a:avLst/>
          </a:prstGeom>
        </p:spPr>
      </p:pic>
      <p:pic>
        <p:nvPicPr>
          <p:cNvPr id="48" name="SK-3-img-4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04299" y="5658296"/>
            <a:ext cx="38100" cy="38100"/>
          </a:xfrm>
          <a:prstGeom prst="rect">
            <a:avLst/>
          </a:prstGeom>
        </p:spPr>
      </p:pic>
      <p:pic>
        <p:nvPicPr>
          <p:cNvPr id="49" name="SK-3-img-4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04299" y="5882134"/>
            <a:ext cx="38100" cy="38100"/>
          </a:xfrm>
          <a:prstGeom prst="rect">
            <a:avLst/>
          </a:prstGeom>
        </p:spPr>
      </p:pic>
      <p:sp>
        <p:nvSpPr>
          <p:cNvPr id="50" name="SK-3-text-4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51" name="SK-3-text-50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Conceptuel de Données (MCD)</a:t>
            </a:r>
            <a:endParaRPr lang="en-US" sz="2400" dirty="0"/>
          </a:p>
        </p:txBody>
      </p:sp>
      <p:sp>
        <p:nvSpPr>
          <p:cNvPr id="52" name="SK-3-text-51"/>
          <p:cNvSpPr/>
          <p:nvPr/>
        </p:nvSpPr>
        <p:spPr>
          <a:xfrm>
            <a:off x="995363" y="1365796"/>
            <a:ext cx="13201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350" dirty="0"/>
          </a:p>
        </p:txBody>
      </p:sp>
      <p:sp>
        <p:nvSpPr>
          <p:cNvPr id="53" name="SK-3-text-52"/>
          <p:cNvSpPr/>
          <p:nvPr/>
        </p:nvSpPr>
        <p:spPr>
          <a:xfrm>
            <a:off x="685800" y="1775371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r>
              <a:rPr lang="en-US" sz="975" dirty="0">
                <a:solidFill>
                  <a:srgbClr val="475569"/>
                </a:solidFill>
              </a:rPr>
              <a:t>identifiant</a:t>
            </a:r>
            <a:endParaRPr lang="en-US" sz="975" dirty="0"/>
          </a:p>
        </p:txBody>
      </p:sp>
      <p:sp>
        <p:nvSpPr>
          <p:cNvPr id="54" name="SK-3-text-53"/>
          <p:cNvSpPr/>
          <p:nvPr/>
        </p:nvSpPr>
        <p:spPr>
          <a:xfrm>
            <a:off x="800100" y="1999208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nom / prénom</a:t>
            </a:r>
            <a:endParaRPr lang="en-US" sz="975" dirty="0"/>
          </a:p>
        </p:txBody>
      </p:sp>
      <p:sp>
        <p:nvSpPr>
          <p:cNvPr id="55" name="SK-3-text-54"/>
          <p:cNvSpPr/>
          <p:nvPr/>
        </p:nvSpPr>
        <p:spPr>
          <a:xfrm>
            <a:off x="800100" y="2223046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téléphone / email</a:t>
            </a:r>
            <a:endParaRPr lang="en-US" sz="975" dirty="0"/>
          </a:p>
        </p:txBody>
      </p:sp>
      <p:sp>
        <p:nvSpPr>
          <p:cNvPr id="56" name="SK-3-text-55"/>
          <p:cNvSpPr/>
          <p:nvPr/>
        </p:nvSpPr>
        <p:spPr>
          <a:xfrm>
            <a:off x="800100" y="2446883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adresse / CP / ville</a:t>
            </a:r>
            <a:endParaRPr lang="en-US" sz="975" dirty="0"/>
          </a:p>
        </p:txBody>
      </p:sp>
      <p:sp>
        <p:nvSpPr>
          <p:cNvPr id="57" name="SK-3-text-56"/>
          <p:cNvSpPr/>
          <p:nvPr/>
        </p:nvSpPr>
        <p:spPr>
          <a:xfrm>
            <a:off x="800100" y="2670721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commentaire</a:t>
            </a:r>
            <a:endParaRPr lang="en-US" sz="975" dirty="0"/>
          </a:p>
        </p:txBody>
      </p:sp>
      <p:sp>
        <p:nvSpPr>
          <p:cNvPr id="58" name="SK-3-text-57"/>
          <p:cNvSpPr/>
          <p:nvPr/>
        </p:nvSpPr>
        <p:spPr>
          <a:xfrm>
            <a:off x="800100" y="3407122"/>
            <a:ext cx="37414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client possède N devis</a:t>
            </a:r>
            <a:endParaRPr lang="en-US" sz="975" dirty="0"/>
          </a:p>
        </p:txBody>
      </p:sp>
      <p:sp>
        <p:nvSpPr>
          <p:cNvPr id="59" name="SK-3-text-58"/>
          <p:cNvSpPr/>
          <p:nvPr/>
        </p:nvSpPr>
        <p:spPr>
          <a:xfrm>
            <a:off x="995363" y="4054822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Utilisateur</a:t>
            </a:r>
            <a:endParaRPr lang="en-US" sz="1350" dirty="0"/>
          </a:p>
        </p:txBody>
      </p:sp>
      <p:sp>
        <p:nvSpPr>
          <p:cNvPr id="60" name="SK-3-text-59"/>
          <p:cNvSpPr/>
          <p:nvPr/>
        </p:nvSpPr>
        <p:spPr>
          <a:xfrm>
            <a:off x="685800" y="4464397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r>
              <a:rPr lang="en-US" sz="975" dirty="0">
                <a:solidFill>
                  <a:srgbClr val="475569"/>
                </a:solidFill>
              </a:rPr>
              <a:t>id_user</a:t>
            </a:r>
            <a:endParaRPr lang="en-US" sz="975" dirty="0"/>
          </a:p>
        </p:txBody>
      </p:sp>
      <p:sp>
        <p:nvSpPr>
          <p:cNvPr id="61" name="SK-3-text-60"/>
          <p:cNvSpPr/>
          <p:nvPr/>
        </p:nvSpPr>
        <p:spPr>
          <a:xfrm>
            <a:off x="800100" y="4688235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mail / username</a:t>
            </a:r>
            <a:endParaRPr lang="en-US" sz="975" dirty="0"/>
          </a:p>
        </p:txBody>
      </p:sp>
      <p:sp>
        <p:nvSpPr>
          <p:cNvPr id="62" name="SK-3-text-61"/>
          <p:cNvSpPr/>
          <p:nvPr/>
        </p:nvSpPr>
        <p:spPr>
          <a:xfrm>
            <a:off x="800100" y="4912072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role (admin/user)</a:t>
            </a:r>
            <a:endParaRPr lang="en-US" sz="975" dirty="0"/>
          </a:p>
        </p:txBody>
      </p:sp>
      <p:sp>
        <p:nvSpPr>
          <p:cNvPr id="63" name="SK-3-text-62"/>
          <p:cNvSpPr/>
          <p:nvPr/>
        </p:nvSpPr>
        <p:spPr>
          <a:xfrm>
            <a:off x="800100" y="5135910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password_hash</a:t>
            </a:r>
            <a:endParaRPr lang="en-US" sz="975" dirty="0"/>
          </a:p>
        </p:txBody>
      </p:sp>
      <p:sp>
        <p:nvSpPr>
          <p:cNvPr id="64" name="SK-3-text-63"/>
          <p:cNvSpPr/>
          <p:nvPr/>
        </p:nvSpPr>
        <p:spPr>
          <a:xfrm>
            <a:off x="4754612" y="1365796"/>
            <a:ext cx="27603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&amp; Items</a:t>
            </a:r>
            <a:endParaRPr lang="en-US" sz="1350" dirty="0"/>
          </a:p>
        </p:txBody>
      </p:sp>
      <p:sp>
        <p:nvSpPr>
          <p:cNvPr id="65" name="SK-3-text-64"/>
          <p:cNvSpPr/>
          <p:nvPr/>
        </p:nvSpPr>
        <p:spPr>
          <a:xfrm>
            <a:off x="4445050" y="1775371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r>
              <a:rPr lang="en-US" sz="975" dirty="0">
                <a:solidFill>
                  <a:srgbClr val="475569"/>
                </a:solidFill>
              </a:rPr>
              <a:t>numéro_unique</a:t>
            </a:r>
            <a:endParaRPr lang="en-US" sz="975" dirty="0"/>
          </a:p>
        </p:txBody>
      </p:sp>
      <p:sp>
        <p:nvSpPr>
          <p:cNvPr id="66" name="SK-3-text-65"/>
          <p:cNvSpPr/>
          <p:nvPr/>
        </p:nvSpPr>
        <p:spPr>
          <a:xfrm>
            <a:off x="4559350" y="1999208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client_id (FK)</a:t>
            </a:r>
            <a:endParaRPr lang="en-US" sz="975" dirty="0"/>
          </a:p>
        </p:txBody>
      </p:sp>
      <p:sp>
        <p:nvSpPr>
          <p:cNvPr id="67" name="SK-3-text-66"/>
          <p:cNvSpPr/>
          <p:nvPr/>
        </p:nvSpPr>
        <p:spPr>
          <a:xfrm>
            <a:off x="4559350" y="2223046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statut</a:t>
            </a:r>
            <a:endParaRPr lang="en-US" sz="975" dirty="0"/>
          </a:p>
        </p:txBody>
      </p:sp>
      <p:sp>
        <p:nvSpPr>
          <p:cNvPr id="68" name="SK-3-text-67"/>
          <p:cNvSpPr/>
          <p:nvPr/>
        </p:nvSpPr>
        <p:spPr>
          <a:xfrm>
            <a:off x="4559350" y="2446883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ligne: description</a:t>
            </a:r>
            <a:endParaRPr lang="en-US" sz="975" dirty="0"/>
          </a:p>
        </p:txBody>
      </p:sp>
      <p:sp>
        <p:nvSpPr>
          <p:cNvPr id="69" name="SK-3-text-68"/>
          <p:cNvSpPr/>
          <p:nvPr/>
        </p:nvSpPr>
        <p:spPr>
          <a:xfrm>
            <a:off x="4559350" y="2670721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ligne: quantité / PU</a:t>
            </a:r>
            <a:endParaRPr lang="en-US" sz="975" dirty="0"/>
          </a:p>
        </p:txBody>
      </p:sp>
      <p:sp>
        <p:nvSpPr>
          <p:cNvPr id="70" name="SK-3-text-69"/>
          <p:cNvSpPr/>
          <p:nvPr/>
        </p:nvSpPr>
        <p:spPr>
          <a:xfrm>
            <a:off x="4559350" y="3407122"/>
            <a:ext cx="37414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devis = N lignes items</a:t>
            </a:r>
            <a:endParaRPr lang="en-US" sz="975" dirty="0"/>
          </a:p>
        </p:txBody>
      </p:sp>
      <p:sp>
        <p:nvSpPr>
          <p:cNvPr id="71" name="SK-3-text-70"/>
          <p:cNvSpPr/>
          <p:nvPr/>
        </p:nvSpPr>
        <p:spPr>
          <a:xfrm>
            <a:off x="4754612" y="4054822"/>
            <a:ext cx="15259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</a:t>
            </a:r>
            <a:endParaRPr lang="en-US" sz="1350" dirty="0"/>
          </a:p>
        </p:txBody>
      </p:sp>
      <p:sp>
        <p:nvSpPr>
          <p:cNvPr id="72" name="SK-3-text-71"/>
          <p:cNvSpPr/>
          <p:nvPr/>
        </p:nvSpPr>
        <p:spPr>
          <a:xfrm>
            <a:off x="4445050" y="4464397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r>
              <a:rPr lang="en-US" sz="975" dirty="0">
                <a:solidFill>
                  <a:srgbClr val="475569"/>
                </a:solidFill>
              </a:rPr>
              <a:t>id_facture</a:t>
            </a:r>
            <a:endParaRPr lang="en-US" sz="975" dirty="0"/>
          </a:p>
        </p:txBody>
      </p:sp>
      <p:sp>
        <p:nvSpPr>
          <p:cNvPr id="73" name="SK-3-text-72"/>
          <p:cNvSpPr/>
          <p:nvPr/>
        </p:nvSpPr>
        <p:spPr>
          <a:xfrm>
            <a:off x="4559350" y="4688235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devis_id (FK)</a:t>
            </a:r>
            <a:endParaRPr lang="en-US" sz="975" dirty="0"/>
          </a:p>
        </p:txBody>
      </p:sp>
      <p:sp>
        <p:nvSpPr>
          <p:cNvPr id="74" name="SK-3-text-73"/>
          <p:cNvSpPr/>
          <p:nvPr/>
        </p:nvSpPr>
        <p:spPr>
          <a:xfrm>
            <a:off x="4559350" y="4912072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client_id (FK)</a:t>
            </a:r>
            <a:endParaRPr lang="en-US" sz="975" dirty="0"/>
          </a:p>
        </p:txBody>
      </p:sp>
      <p:sp>
        <p:nvSpPr>
          <p:cNvPr id="75" name="SK-3-text-74"/>
          <p:cNvSpPr/>
          <p:nvPr/>
        </p:nvSpPr>
        <p:spPr>
          <a:xfrm>
            <a:off x="4559350" y="5135910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statut</a:t>
            </a:r>
            <a:endParaRPr lang="en-US" sz="975" dirty="0"/>
          </a:p>
        </p:txBody>
      </p:sp>
      <p:sp>
        <p:nvSpPr>
          <p:cNvPr id="76" name="SK-3-text-75"/>
          <p:cNvSpPr/>
          <p:nvPr/>
        </p:nvSpPr>
        <p:spPr>
          <a:xfrm>
            <a:off x="4559350" y="6096149"/>
            <a:ext cx="41376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Lien direct 1-1 avec Devis</a:t>
            </a:r>
            <a:endParaRPr lang="en-US" sz="975" dirty="0"/>
          </a:p>
        </p:txBody>
      </p:sp>
      <p:sp>
        <p:nvSpPr>
          <p:cNvPr id="77" name="SK-3-text-76"/>
          <p:cNvSpPr/>
          <p:nvPr/>
        </p:nvSpPr>
        <p:spPr>
          <a:xfrm>
            <a:off x="8513862" y="1365796"/>
            <a:ext cx="17316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</a:t>
            </a:r>
            <a:endParaRPr lang="en-US" sz="1350" dirty="0"/>
          </a:p>
        </p:txBody>
      </p:sp>
      <p:sp>
        <p:nvSpPr>
          <p:cNvPr id="78" name="SK-3-text-77"/>
          <p:cNvSpPr/>
          <p:nvPr/>
        </p:nvSpPr>
        <p:spPr>
          <a:xfrm>
            <a:off x="8204299" y="1775371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r>
              <a:rPr lang="en-US" sz="975" dirty="0">
                <a:solidFill>
                  <a:srgbClr val="475569"/>
                </a:solidFill>
              </a:rPr>
              <a:t>id_paiement</a:t>
            </a:r>
            <a:endParaRPr lang="en-US" sz="975" dirty="0"/>
          </a:p>
        </p:txBody>
      </p:sp>
      <p:sp>
        <p:nvSpPr>
          <p:cNvPr id="79" name="SK-3-text-78"/>
          <p:cNvSpPr/>
          <p:nvPr/>
        </p:nvSpPr>
        <p:spPr>
          <a:xfrm>
            <a:off x="8318599" y="1999208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facture_id (FK)</a:t>
            </a:r>
            <a:endParaRPr lang="en-US" sz="975" dirty="0"/>
          </a:p>
        </p:txBody>
      </p:sp>
      <p:sp>
        <p:nvSpPr>
          <p:cNvPr id="80" name="SK-3-text-79"/>
          <p:cNvSpPr/>
          <p:nvPr/>
        </p:nvSpPr>
        <p:spPr>
          <a:xfrm>
            <a:off x="8318599" y="2223046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date</a:t>
            </a:r>
            <a:endParaRPr lang="en-US" sz="975" dirty="0"/>
          </a:p>
        </p:txBody>
      </p:sp>
      <p:sp>
        <p:nvSpPr>
          <p:cNvPr id="81" name="SK-3-text-80"/>
          <p:cNvSpPr/>
          <p:nvPr/>
        </p:nvSpPr>
        <p:spPr>
          <a:xfrm>
            <a:off x="8318599" y="2446883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mode_règlement</a:t>
            </a:r>
            <a:endParaRPr lang="en-US" sz="975" dirty="0"/>
          </a:p>
        </p:txBody>
      </p:sp>
      <p:sp>
        <p:nvSpPr>
          <p:cNvPr id="82" name="SK-3-text-81"/>
          <p:cNvSpPr/>
          <p:nvPr/>
        </p:nvSpPr>
        <p:spPr>
          <a:xfrm>
            <a:off x="8513862" y="3158430"/>
            <a:ext cx="15259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</a:t>
            </a:r>
            <a:endParaRPr lang="en-US" sz="1350" dirty="0"/>
          </a:p>
        </p:txBody>
      </p:sp>
      <p:sp>
        <p:nvSpPr>
          <p:cNvPr id="83" name="SK-3-text-82"/>
          <p:cNvSpPr/>
          <p:nvPr/>
        </p:nvSpPr>
        <p:spPr>
          <a:xfrm>
            <a:off x="8204299" y="3568005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r>
              <a:rPr lang="en-US" sz="975" dirty="0">
                <a:solidFill>
                  <a:srgbClr val="475569"/>
                </a:solidFill>
              </a:rPr>
              <a:t>id_relance</a:t>
            </a:r>
            <a:endParaRPr lang="en-US" sz="975" dirty="0"/>
          </a:p>
        </p:txBody>
      </p:sp>
      <p:sp>
        <p:nvSpPr>
          <p:cNvPr id="84" name="SK-3-text-83"/>
          <p:cNvSpPr/>
          <p:nvPr/>
        </p:nvSpPr>
        <p:spPr>
          <a:xfrm>
            <a:off x="8318599" y="3791843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niveau (1, 2, 3)</a:t>
            </a:r>
            <a:endParaRPr lang="en-US" sz="975" dirty="0"/>
          </a:p>
        </p:txBody>
      </p:sp>
      <p:sp>
        <p:nvSpPr>
          <p:cNvPr id="85" name="SK-3-text-84"/>
          <p:cNvSpPr/>
          <p:nvPr/>
        </p:nvSpPr>
        <p:spPr>
          <a:xfrm>
            <a:off x="8318599" y="4015680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pénalités / délais</a:t>
            </a:r>
            <a:endParaRPr lang="en-US" sz="975" dirty="0"/>
          </a:p>
        </p:txBody>
      </p:sp>
      <p:sp>
        <p:nvSpPr>
          <p:cNvPr id="86" name="SK-3-text-85"/>
          <p:cNvSpPr/>
          <p:nvPr/>
        </p:nvSpPr>
        <p:spPr>
          <a:xfrm>
            <a:off x="8513862" y="4951065"/>
            <a:ext cx="15259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Dépense</a:t>
            </a:r>
            <a:endParaRPr lang="en-US" sz="1350" dirty="0"/>
          </a:p>
        </p:txBody>
      </p:sp>
      <p:sp>
        <p:nvSpPr>
          <p:cNvPr id="87" name="SK-3-text-86"/>
          <p:cNvSpPr/>
          <p:nvPr/>
        </p:nvSpPr>
        <p:spPr>
          <a:xfrm>
            <a:off x="8204299" y="5360640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59669"/>
                </a:solidFill>
              </a:rPr>
              <a:t>PK</a:t>
            </a:r>
            <a:r>
              <a:rPr lang="en-US" sz="975" dirty="0">
                <a:solidFill>
                  <a:srgbClr val="475569"/>
                </a:solidFill>
              </a:rPr>
              <a:t>id_depense</a:t>
            </a:r>
            <a:endParaRPr lang="en-US" sz="975" dirty="0"/>
          </a:p>
        </p:txBody>
      </p:sp>
      <p:sp>
        <p:nvSpPr>
          <p:cNvPr id="88" name="SK-3-text-87"/>
          <p:cNvSpPr/>
          <p:nvPr/>
        </p:nvSpPr>
        <p:spPr>
          <a:xfrm>
            <a:off x="8318599" y="5584478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type (carbu, matos)</a:t>
            </a:r>
            <a:endParaRPr lang="en-US" sz="975" dirty="0"/>
          </a:p>
        </p:txBody>
      </p:sp>
      <p:sp>
        <p:nvSpPr>
          <p:cNvPr id="89" name="SK-3-text-88"/>
          <p:cNvSpPr/>
          <p:nvPr/>
        </p:nvSpPr>
        <p:spPr>
          <a:xfrm>
            <a:off x="8318599" y="5808315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</a:rPr>
              <a:t>montant / date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11049000" cy="641896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099096"/>
            <a:ext cx="11049000" cy="276225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1156246"/>
            <a:ext cx="228600" cy="161925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0" y="1156246"/>
            <a:ext cx="228600" cy="161925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5125" y="1156246"/>
            <a:ext cx="342900" cy="161925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8650" y="1156246"/>
            <a:ext cx="400050" cy="161925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508671"/>
            <a:ext cx="6538020" cy="166881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1650504"/>
            <a:ext cx="154781" cy="12576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781" y="1603921"/>
            <a:ext cx="685800" cy="219075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1889671"/>
            <a:ext cx="447675" cy="176213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0625" y="1889671"/>
            <a:ext cx="1181100" cy="176213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8875" y="1889671"/>
            <a:ext cx="1114425" cy="176213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0450" y="1889671"/>
            <a:ext cx="1314450" cy="176213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72050" y="1889671"/>
            <a:ext cx="1447800" cy="176213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2103983"/>
            <a:ext cx="1581150" cy="176213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24100" y="2103983"/>
            <a:ext cx="1314450" cy="176213"/>
          </a:xfrm>
          <a:prstGeom prst="rect">
            <a:avLst/>
          </a:prstGeom>
        </p:spPr>
      </p:pic>
      <p:pic>
        <p:nvPicPr>
          <p:cNvPr id="20" name="SK-4-img-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272730"/>
            <a:ext cx="6538020" cy="1668810"/>
          </a:xfrm>
          <a:prstGeom prst="rect">
            <a:avLst/>
          </a:prstGeom>
        </p:spPr>
      </p:pic>
      <p:pic>
        <p:nvPicPr>
          <p:cNvPr id="21" name="SK-4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3414564"/>
            <a:ext cx="154781" cy="125760"/>
          </a:xfrm>
          <a:prstGeom prst="rect">
            <a:avLst/>
          </a:prstGeom>
        </p:spPr>
      </p:pic>
      <p:pic>
        <p:nvPicPr>
          <p:cNvPr id="22" name="SK-4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781" y="3367980"/>
            <a:ext cx="533400" cy="219075"/>
          </a:xfrm>
          <a:prstGeom prst="rect">
            <a:avLst/>
          </a:prstGeom>
        </p:spPr>
      </p:pic>
      <p:pic>
        <p:nvPicPr>
          <p:cNvPr id="23" name="SK-4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3653730"/>
            <a:ext cx="447675" cy="176213"/>
          </a:xfrm>
          <a:prstGeom prst="rect">
            <a:avLst/>
          </a:prstGeom>
        </p:spPr>
      </p:pic>
      <p:pic>
        <p:nvPicPr>
          <p:cNvPr id="24" name="SK-4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0625" y="3653730"/>
            <a:ext cx="981075" cy="176213"/>
          </a:xfrm>
          <a:prstGeom prst="rect">
            <a:avLst/>
          </a:prstGeom>
        </p:spPr>
      </p:pic>
      <p:pic>
        <p:nvPicPr>
          <p:cNvPr id="25" name="SK-4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8850" y="3653730"/>
            <a:ext cx="914400" cy="176213"/>
          </a:xfrm>
          <a:prstGeom prst="rect">
            <a:avLst/>
          </a:prstGeom>
        </p:spPr>
      </p:pic>
      <p:pic>
        <p:nvPicPr>
          <p:cNvPr id="26" name="SK-4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00400" y="3653730"/>
            <a:ext cx="1114425" cy="176213"/>
          </a:xfrm>
          <a:prstGeom prst="rect">
            <a:avLst/>
          </a:prstGeom>
        </p:spPr>
      </p:pic>
      <p:pic>
        <p:nvPicPr>
          <p:cNvPr id="27" name="SK-4-img-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71975" y="3653730"/>
            <a:ext cx="1314450" cy="176213"/>
          </a:xfrm>
          <a:prstGeom prst="rect">
            <a:avLst/>
          </a:prstGeom>
        </p:spPr>
      </p:pic>
      <p:pic>
        <p:nvPicPr>
          <p:cNvPr id="28" name="SK-4-img-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3868043"/>
            <a:ext cx="1514475" cy="176213"/>
          </a:xfrm>
          <a:prstGeom prst="rect">
            <a:avLst/>
          </a:prstGeom>
        </p:spPr>
      </p:pic>
      <p:pic>
        <p:nvPicPr>
          <p:cNvPr id="29" name="SK-4-img-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57425" y="3868043"/>
            <a:ext cx="1781175" cy="176213"/>
          </a:xfrm>
          <a:prstGeom prst="rect">
            <a:avLst/>
          </a:prstGeom>
        </p:spPr>
      </p:pic>
      <p:pic>
        <p:nvPicPr>
          <p:cNvPr id="30" name="SK-4-img-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5750" y="3868043"/>
            <a:ext cx="847725" cy="176213"/>
          </a:xfrm>
          <a:prstGeom prst="rect">
            <a:avLst/>
          </a:prstGeom>
        </p:spPr>
      </p:pic>
      <p:pic>
        <p:nvPicPr>
          <p:cNvPr id="31" name="SK-4-img-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5036790"/>
            <a:ext cx="6538020" cy="1668810"/>
          </a:xfrm>
          <a:prstGeom prst="rect">
            <a:avLst/>
          </a:prstGeom>
        </p:spPr>
      </p:pic>
      <p:pic>
        <p:nvPicPr>
          <p:cNvPr id="32" name="SK-4-img-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178623"/>
            <a:ext cx="154781" cy="125760"/>
          </a:xfrm>
          <a:prstGeom prst="rect">
            <a:avLst/>
          </a:prstGeom>
        </p:spPr>
      </p:pic>
      <p:pic>
        <p:nvPicPr>
          <p:cNvPr id="33" name="SK-4-img-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6781" y="5132040"/>
            <a:ext cx="762000" cy="219075"/>
          </a:xfrm>
          <a:prstGeom prst="rect">
            <a:avLst/>
          </a:prstGeom>
        </p:spPr>
      </p:pic>
      <p:pic>
        <p:nvPicPr>
          <p:cNvPr id="34" name="SK-4-img-3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5417790"/>
            <a:ext cx="447675" cy="176213"/>
          </a:xfrm>
          <a:prstGeom prst="rect">
            <a:avLst/>
          </a:prstGeom>
        </p:spPr>
      </p:pic>
      <p:pic>
        <p:nvPicPr>
          <p:cNvPr id="35" name="SK-4-img-3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0625" y="5417790"/>
            <a:ext cx="981075" cy="176213"/>
          </a:xfrm>
          <a:prstGeom prst="rect">
            <a:avLst/>
          </a:prstGeom>
        </p:spPr>
      </p:pic>
      <p:pic>
        <p:nvPicPr>
          <p:cNvPr id="36" name="SK-4-img-3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28850" y="5417790"/>
            <a:ext cx="847725" cy="176213"/>
          </a:xfrm>
          <a:prstGeom prst="rect">
            <a:avLst/>
          </a:prstGeom>
        </p:spPr>
      </p:pic>
      <p:pic>
        <p:nvPicPr>
          <p:cNvPr id="37" name="SK-4-img-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33725" y="5417790"/>
            <a:ext cx="914400" cy="176213"/>
          </a:xfrm>
          <a:prstGeom prst="rect">
            <a:avLst/>
          </a:prstGeom>
        </p:spPr>
      </p:pic>
      <p:pic>
        <p:nvPicPr>
          <p:cNvPr id="38" name="SK-4-img-37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105275" y="5417790"/>
            <a:ext cx="1247775" cy="176213"/>
          </a:xfrm>
          <a:prstGeom prst="rect">
            <a:avLst/>
          </a:prstGeom>
        </p:spPr>
      </p:pic>
      <p:pic>
        <p:nvPicPr>
          <p:cNvPr id="39" name="SK-4-img-38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410200" y="5417790"/>
            <a:ext cx="1514475" cy="176213"/>
          </a:xfrm>
          <a:prstGeom prst="rect">
            <a:avLst/>
          </a:prstGeom>
        </p:spPr>
      </p:pic>
      <p:pic>
        <p:nvPicPr>
          <p:cNvPr id="40" name="SK-4-img-3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5632103"/>
            <a:ext cx="847725" cy="176213"/>
          </a:xfrm>
          <a:prstGeom prst="rect">
            <a:avLst/>
          </a:prstGeom>
        </p:spPr>
      </p:pic>
      <p:pic>
        <p:nvPicPr>
          <p:cNvPr id="41" name="SK-4-img-40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261920" y="1508671"/>
            <a:ext cx="4358580" cy="1354634"/>
          </a:xfrm>
          <a:prstGeom prst="rect">
            <a:avLst/>
          </a:prstGeom>
        </p:spPr>
      </p:pic>
      <p:pic>
        <p:nvPicPr>
          <p:cNvPr id="42" name="SK-4-img-4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6220" y="1650504"/>
            <a:ext cx="154781" cy="125760"/>
          </a:xfrm>
          <a:prstGeom prst="rect">
            <a:avLst/>
          </a:prstGeom>
        </p:spPr>
      </p:pic>
      <p:pic>
        <p:nvPicPr>
          <p:cNvPr id="43" name="SK-4-img-42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07201" y="1603921"/>
            <a:ext cx="533400" cy="219075"/>
          </a:xfrm>
          <a:prstGeom prst="rect">
            <a:avLst/>
          </a:prstGeom>
        </p:spPr>
      </p:pic>
      <p:pic>
        <p:nvPicPr>
          <p:cNvPr id="44" name="SK-4-img-43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376220" y="1889671"/>
            <a:ext cx="447675" cy="176213"/>
          </a:xfrm>
          <a:prstGeom prst="rect">
            <a:avLst/>
          </a:prstGeom>
        </p:spPr>
      </p:pic>
      <p:pic>
        <p:nvPicPr>
          <p:cNvPr id="45" name="SK-4-img-4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81045" y="1889671"/>
            <a:ext cx="847725" cy="176213"/>
          </a:xfrm>
          <a:prstGeom prst="rect">
            <a:avLst/>
          </a:prstGeom>
        </p:spPr>
      </p:pic>
      <p:pic>
        <p:nvPicPr>
          <p:cNvPr id="46" name="SK-4-img-4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785920" y="1889671"/>
            <a:ext cx="1114425" cy="176213"/>
          </a:xfrm>
          <a:prstGeom prst="rect">
            <a:avLst/>
          </a:prstGeom>
        </p:spPr>
      </p:pic>
      <p:pic>
        <p:nvPicPr>
          <p:cNvPr id="47" name="SK-4-img-46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957495" y="1889671"/>
            <a:ext cx="714375" cy="176213"/>
          </a:xfrm>
          <a:prstGeom prst="rect">
            <a:avLst/>
          </a:prstGeom>
        </p:spPr>
      </p:pic>
      <p:pic>
        <p:nvPicPr>
          <p:cNvPr id="48" name="SK-4-img-47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376220" y="2103983"/>
            <a:ext cx="1847850" cy="176213"/>
          </a:xfrm>
          <a:prstGeom prst="rect">
            <a:avLst/>
          </a:prstGeom>
        </p:spPr>
      </p:pic>
      <p:pic>
        <p:nvPicPr>
          <p:cNvPr id="49" name="SK-4-img-48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261920" y="2958554"/>
            <a:ext cx="4358580" cy="1354634"/>
          </a:xfrm>
          <a:prstGeom prst="rect">
            <a:avLst/>
          </a:prstGeom>
        </p:spPr>
      </p:pic>
      <p:pic>
        <p:nvPicPr>
          <p:cNvPr id="50" name="SK-4-img-49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376220" y="3085207"/>
            <a:ext cx="166688" cy="137220"/>
          </a:xfrm>
          <a:prstGeom prst="rect">
            <a:avLst/>
          </a:prstGeom>
        </p:spPr>
      </p:pic>
      <p:pic>
        <p:nvPicPr>
          <p:cNvPr id="51" name="SK-4-img-50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376220" y="3330029"/>
            <a:ext cx="4129980" cy="236190"/>
          </a:xfrm>
          <a:prstGeom prst="rect">
            <a:avLst/>
          </a:prstGeom>
        </p:spPr>
      </p:pic>
      <p:pic>
        <p:nvPicPr>
          <p:cNvPr id="52" name="SK-4-img-51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76220" y="3396704"/>
            <a:ext cx="130969" cy="110728"/>
          </a:xfrm>
          <a:prstGeom prst="rect">
            <a:avLst/>
          </a:prstGeom>
        </p:spPr>
      </p:pic>
      <p:pic>
        <p:nvPicPr>
          <p:cNvPr id="53" name="SK-4-img-5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376220" y="3566220"/>
            <a:ext cx="4129980" cy="236190"/>
          </a:xfrm>
          <a:prstGeom prst="rect">
            <a:avLst/>
          </a:prstGeom>
        </p:spPr>
      </p:pic>
      <p:pic>
        <p:nvPicPr>
          <p:cNvPr id="54" name="SK-4-img-5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76220" y="3632895"/>
            <a:ext cx="130969" cy="110728"/>
          </a:xfrm>
          <a:prstGeom prst="rect">
            <a:avLst/>
          </a:prstGeom>
        </p:spPr>
      </p:pic>
      <p:pic>
        <p:nvPicPr>
          <p:cNvPr id="55" name="SK-4-img-5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376220" y="3869085"/>
            <a:ext cx="130969" cy="110728"/>
          </a:xfrm>
          <a:prstGeom prst="rect">
            <a:avLst/>
          </a:prstGeom>
        </p:spPr>
      </p:pic>
      <p:pic>
        <p:nvPicPr>
          <p:cNvPr id="56" name="SK-4-img-5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261920" y="4408438"/>
            <a:ext cx="4358580" cy="1411486"/>
          </a:xfrm>
          <a:prstGeom prst="rect">
            <a:avLst/>
          </a:prstGeom>
        </p:spPr>
      </p:pic>
      <p:pic>
        <p:nvPicPr>
          <p:cNvPr id="57" name="SK-4-img-5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76220" y="4535091"/>
            <a:ext cx="166688" cy="137220"/>
          </a:xfrm>
          <a:prstGeom prst="rect">
            <a:avLst/>
          </a:prstGeom>
        </p:spPr>
      </p:pic>
      <p:pic>
        <p:nvPicPr>
          <p:cNvPr id="58" name="SK-4-img-57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376220" y="4779913"/>
            <a:ext cx="4129980" cy="236190"/>
          </a:xfrm>
          <a:prstGeom prst="rect">
            <a:avLst/>
          </a:prstGeom>
        </p:spPr>
      </p:pic>
      <p:pic>
        <p:nvPicPr>
          <p:cNvPr id="59" name="SK-4-img-58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376220" y="4865638"/>
            <a:ext cx="57150" cy="57150"/>
          </a:xfrm>
          <a:prstGeom prst="rect">
            <a:avLst/>
          </a:prstGeom>
        </p:spPr>
      </p:pic>
      <p:pic>
        <p:nvPicPr>
          <p:cNvPr id="60" name="SK-4-img-59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376220" y="5016103"/>
            <a:ext cx="4129980" cy="236190"/>
          </a:xfrm>
          <a:prstGeom prst="rect">
            <a:avLst/>
          </a:prstGeom>
        </p:spPr>
      </p:pic>
      <p:pic>
        <p:nvPicPr>
          <p:cNvPr id="61" name="SK-4-img-60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376220" y="5101828"/>
            <a:ext cx="57150" cy="57150"/>
          </a:xfrm>
          <a:prstGeom prst="rect">
            <a:avLst/>
          </a:prstGeom>
        </p:spPr>
      </p:pic>
      <p:pic>
        <p:nvPicPr>
          <p:cNvPr id="62" name="SK-4-img-61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376220" y="5252293"/>
            <a:ext cx="4129980" cy="236190"/>
          </a:xfrm>
          <a:prstGeom prst="rect">
            <a:avLst/>
          </a:prstGeom>
        </p:spPr>
      </p:pic>
      <p:pic>
        <p:nvPicPr>
          <p:cNvPr id="63" name="SK-4-img-62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376220" y="5338018"/>
            <a:ext cx="57150" cy="57150"/>
          </a:xfrm>
          <a:prstGeom prst="rect">
            <a:avLst/>
          </a:prstGeom>
        </p:spPr>
      </p:pic>
      <p:pic>
        <p:nvPicPr>
          <p:cNvPr id="64" name="SK-4-img-63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376220" y="5574209"/>
            <a:ext cx="57150" cy="57150"/>
          </a:xfrm>
          <a:prstGeom prst="rect">
            <a:avLst/>
          </a:prstGeom>
        </p:spPr>
      </p:pic>
      <p:pic>
        <p:nvPicPr>
          <p:cNvPr id="65" name="SK-4-img-64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261920" y="5915174"/>
            <a:ext cx="4358580" cy="790575"/>
          </a:xfrm>
          <a:prstGeom prst="rect">
            <a:avLst/>
          </a:prstGeom>
        </p:spPr>
      </p:pic>
      <p:pic>
        <p:nvPicPr>
          <p:cNvPr id="66" name="SK-4-img-65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376220" y="6041827"/>
            <a:ext cx="166688" cy="137220"/>
          </a:xfrm>
          <a:prstGeom prst="rect">
            <a:avLst/>
          </a:prstGeom>
        </p:spPr>
      </p:pic>
      <p:sp>
        <p:nvSpPr>
          <p:cNvPr id="67" name="SK-4-text-6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68" name="SK-4-text-67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Logique de Données</a:t>
            </a:r>
            <a:endParaRPr lang="en-US" sz="2400" dirty="0"/>
          </a:p>
        </p:txBody>
      </p:sp>
      <p:sp>
        <p:nvSpPr>
          <p:cNvPr id="69" name="SK-4-text-68"/>
          <p:cNvSpPr/>
          <p:nvPr/>
        </p:nvSpPr>
        <p:spPr>
          <a:xfrm>
            <a:off x="762000" y="1156246"/>
            <a:ext cx="1905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059669"/>
                </a:solidFill>
              </a:rPr>
              <a:t>PK</a:t>
            </a:r>
            <a:endParaRPr lang="en-US" sz="750" dirty="0"/>
          </a:p>
        </p:txBody>
      </p:sp>
      <p:sp>
        <p:nvSpPr>
          <p:cNvPr id="70" name="SK-4-text-69"/>
          <p:cNvSpPr/>
          <p:nvPr/>
        </p:nvSpPr>
        <p:spPr>
          <a:xfrm>
            <a:off x="981075" y="1158627"/>
            <a:ext cx="158496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primaire</a:t>
            </a:r>
            <a:endParaRPr lang="en-US" sz="825" dirty="0"/>
          </a:p>
        </p:txBody>
      </p:sp>
      <p:sp>
        <p:nvSpPr>
          <p:cNvPr id="71" name="SK-4-text-70"/>
          <p:cNvSpPr/>
          <p:nvPr/>
        </p:nvSpPr>
        <p:spPr>
          <a:xfrm>
            <a:off x="1828800" y="1156246"/>
            <a:ext cx="1905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0EA5E9"/>
                </a:solidFill>
              </a:rPr>
              <a:t>FK</a:t>
            </a:r>
            <a:endParaRPr lang="en-US" sz="750" dirty="0"/>
          </a:p>
        </p:txBody>
      </p:sp>
      <p:sp>
        <p:nvSpPr>
          <p:cNvPr id="72" name="SK-4-text-71"/>
          <p:cNvSpPr/>
          <p:nvPr/>
        </p:nvSpPr>
        <p:spPr>
          <a:xfrm>
            <a:off x="2047875" y="1158627"/>
            <a:ext cx="171069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 étrangère</a:t>
            </a:r>
            <a:endParaRPr lang="en-US" sz="825" dirty="0"/>
          </a:p>
        </p:txBody>
      </p:sp>
      <p:sp>
        <p:nvSpPr>
          <p:cNvPr id="73" name="SK-4-text-72"/>
          <p:cNvSpPr/>
          <p:nvPr/>
        </p:nvSpPr>
        <p:spPr>
          <a:xfrm>
            <a:off x="2962275" y="1156246"/>
            <a:ext cx="3810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6366F1"/>
                </a:solidFill>
              </a:rPr>
              <a:t>ENUM</a:t>
            </a:r>
            <a:endParaRPr lang="en-US" sz="750" dirty="0"/>
          </a:p>
        </p:txBody>
      </p:sp>
      <p:sp>
        <p:nvSpPr>
          <p:cNvPr id="74" name="SK-4-text-73"/>
          <p:cNvSpPr/>
          <p:nvPr/>
        </p:nvSpPr>
        <p:spPr>
          <a:xfrm>
            <a:off x="3295650" y="1158627"/>
            <a:ext cx="221361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Valeurs énumérées</a:t>
            </a:r>
            <a:endParaRPr lang="en-US" sz="825" dirty="0"/>
          </a:p>
        </p:txBody>
      </p:sp>
      <p:sp>
        <p:nvSpPr>
          <p:cNvPr id="75" name="SK-4-text-74"/>
          <p:cNvSpPr/>
          <p:nvPr/>
        </p:nvSpPr>
        <p:spPr>
          <a:xfrm>
            <a:off x="4495800" y="1156246"/>
            <a:ext cx="484414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champ</a:t>
            </a:r>
            <a:endParaRPr lang="en-US" sz="750" dirty="0"/>
          </a:p>
        </p:txBody>
      </p:sp>
      <p:sp>
        <p:nvSpPr>
          <p:cNvPr id="76" name="SK-4-text-75"/>
          <p:cNvSpPr/>
          <p:nvPr/>
        </p:nvSpPr>
        <p:spPr>
          <a:xfrm>
            <a:off x="4886325" y="1158627"/>
            <a:ext cx="183642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 standard</a:t>
            </a:r>
            <a:endParaRPr lang="en-US" sz="825" dirty="0"/>
          </a:p>
        </p:txBody>
      </p:sp>
      <p:sp>
        <p:nvSpPr>
          <p:cNvPr id="77" name="SK-4-text-76"/>
          <p:cNvSpPr/>
          <p:nvPr/>
        </p:nvSpPr>
        <p:spPr>
          <a:xfrm>
            <a:off x="992981" y="1603921"/>
            <a:ext cx="94742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clients</a:t>
            </a:r>
            <a:endParaRPr lang="en-US" sz="1050" dirty="0"/>
          </a:p>
        </p:txBody>
      </p:sp>
      <p:sp>
        <p:nvSpPr>
          <p:cNvPr id="78" name="SK-4-text-77"/>
          <p:cNvSpPr/>
          <p:nvPr/>
        </p:nvSpPr>
        <p:spPr>
          <a:xfrm>
            <a:off x="1678781" y="1627733"/>
            <a:ext cx="32308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Référentiel des clients</a:t>
            </a:r>
            <a:endParaRPr lang="en-US" sz="900" dirty="0"/>
          </a:p>
        </p:txBody>
      </p:sp>
      <p:sp>
        <p:nvSpPr>
          <p:cNvPr id="79" name="SK-4-text-78"/>
          <p:cNvSpPr/>
          <p:nvPr/>
        </p:nvSpPr>
        <p:spPr>
          <a:xfrm>
            <a:off x="742950" y="1889671"/>
            <a:ext cx="54434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80" name="SK-4-text-79"/>
          <p:cNvSpPr/>
          <p:nvPr/>
        </p:nvSpPr>
        <p:spPr>
          <a:xfrm>
            <a:off x="1247775" y="1889671"/>
            <a:ext cx="2120326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nom VARCHAR(500)</a:t>
            </a:r>
            <a:endParaRPr lang="en-US" sz="825" dirty="0"/>
          </a:p>
        </p:txBody>
      </p:sp>
      <p:sp>
        <p:nvSpPr>
          <p:cNvPr id="81" name="SK-4-text-80"/>
          <p:cNvSpPr/>
          <p:nvPr/>
        </p:nvSpPr>
        <p:spPr>
          <a:xfrm>
            <a:off x="2486025" y="1889671"/>
            <a:ext cx="1919165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tel VARCHAR(20)</a:t>
            </a:r>
            <a:endParaRPr lang="en-US" sz="825" dirty="0"/>
          </a:p>
        </p:txBody>
      </p:sp>
      <p:sp>
        <p:nvSpPr>
          <p:cNvPr id="82" name="SK-4-text-81"/>
          <p:cNvSpPr/>
          <p:nvPr/>
        </p:nvSpPr>
        <p:spPr>
          <a:xfrm>
            <a:off x="3657600" y="1889671"/>
            <a:ext cx="2372139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email VARCHAR(255)</a:t>
            </a:r>
            <a:endParaRPr lang="en-US" sz="825" dirty="0"/>
          </a:p>
        </p:txBody>
      </p:sp>
      <p:sp>
        <p:nvSpPr>
          <p:cNvPr id="83" name="SK-4-text-82"/>
          <p:cNvSpPr/>
          <p:nvPr/>
        </p:nvSpPr>
        <p:spPr>
          <a:xfrm>
            <a:off x="5029200" y="1889671"/>
            <a:ext cx="2623887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adresse VARCHAR(255)</a:t>
            </a:r>
            <a:endParaRPr lang="en-US" sz="825" dirty="0"/>
          </a:p>
        </p:txBody>
      </p:sp>
      <p:sp>
        <p:nvSpPr>
          <p:cNvPr id="84" name="SK-4-text-83"/>
          <p:cNvSpPr/>
          <p:nvPr/>
        </p:nvSpPr>
        <p:spPr>
          <a:xfrm>
            <a:off x="742950" y="2103983"/>
            <a:ext cx="2720065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code_postal VARCHAR(5)</a:t>
            </a:r>
            <a:endParaRPr lang="en-US" sz="825" dirty="0"/>
          </a:p>
        </p:txBody>
      </p:sp>
      <p:sp>
        <p:nvSpPr>
          <p:cNvPr id="85" name="SK-4-text-84"/>
          <p:cNvSpPr/>
          <p:nvPr/>
        </p:nvSpPr>
        <p:spPr>
          <a:xfrm>
            <a:off x="2381250" y="2103983"/>
            <a:ext cx="2372139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ville VARCHAR(255)</a:t>
            </a:r>
            <a:endParaRPr lang="en-US" sz="825" dirty="0"/>
          </a:p>
        </p:txBody>
      </p:sp>
      <p:sp>
        <p:nvSpPr>
          <p:cNvPr id="86" name="SK-4-text-85"/>
          <p:cNvSpPr/>
          <p:nvPr/>
        </p:nvSpPr>
        <p:spPr>
          <a:xfrm>
            <a:off x="992981" y="3367980"/>
            <a:ext cx="6477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devis</a:t>
            </a:r>
            <a:endParaRPr lang="en-US" sz="1050" dirty="0"/>
          </a:p>
        </p:txBody>
      </p:sp>
      <p:sp>
        <p:nvSpPr>
          <p:cNvPr id="87" name="SK-4-text-86"/>
          <p:cNvSpPr/>
          <p:nvPr/>
        </p:nvSpPr>
        <p:spPr>
          <a:xfrm>
            <a:off x="1526381" y="3391793"/>
            <a:ext cx="30937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liés aux clients</a:t>
            </a:r>
            <a:endParaRPr lang="en-US" sz="900" dirty="0"/>
          </a:p>
        </p:txBody>
      </p:sp>
      <p:sp>
        <p:nvSpPr>
          <p:cNvPr id="88" name="SK-4-text-87"/>
          <p:cNvSpPr/>
          <p:nvPr/>
        </p:nvSpPr>
        <p:spPr>
          <a:xfrm>
            <a:off x="742950" y="3653730"/>
            <a:ext cx="54434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89" name="SK-4-text-88"/>
          <p:cNvSpPr/>
          <p:nvPr/>
        </p:nvSpPr>
        <p:spPr>
          <a:xfrm>
            <a:off x="1247775" y="3653730"/>
            <a:ext cx="152026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numero UNIQUE</a:t>
            </a:r>
            <a:endParaRPr lang="en-US" sz="825" dirty="0"/>
          </a:p>
        </p:txBody>
      </p:sp>
      <p:sp>
        <p:nvSpPr>
          <p:cNvPr id="90" name="SK-4-text-89"/>
          <p:cNvSpPr/>
          <p:nvPr/>
        </p:nvSpPr>
        <p:spPr>
          <a:xfrm>
            <a:off x="2286000" y="3653730"/>
            <a:ext cx="1396365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FK client_id</a:t>
            </a:r>
            <a:endParaRPr lang="en-US" sz="825" dirty="0"/>
          </a:p>
        </p:txBody>
      </p:sp>
      <p:sp>
        <p:nvSpPr>
          <p:cNvPr id="91" name="SK-4-text-90"/>
          <p:cNvSpPr/>
          <p:nvPr/>
        </p:nvSpPr>
        <p:spPr>
          <a:xfrm>
            <a:off x="3257550" y="3653730"/>
            <a:ext cx="1768719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date_devis DATE</a:t>
            </a:r>
            <a:endParaRPr lang="en-US" sz="825" dirty="0"/>
          </a:p>
        </p:txBody>
      </p:sp>
      <p:sp>
        <p:nvSpPr>
          <p:cNvPr id="92" name="SK-4-text-91"/>
          <p:cNvSpPr/>
          <p:nvPr/>
        </p:nvSpPr>
        <p:spPr>
          <a:xfrm>
            <a:off x="4429125" y="3653730"/>
            <a:ext cx="2142545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date_echeance DATE</a:t>
            </a:r>
            <a:endParaRPr lang="en-US" sz="825" dirty="0"/>
          </a:p>
        </p:txBody>
      </p:sp>
      <p:sp>
        <p:nvSpPr>
          <p:cNvPr id="93" name="SK-4-text-92"/>
          <p:cNvSpPr/>
          <p:nvPr/>
        </p:nvSpPr>
        <p:spPr>
          <a:xfrm>
            <a:off x="742950" y="3868043"/>
            <a:ext cx="2749742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montant DECIMAL(10,2)</a:t>
            </a:r>
            <a:endParaRPr lang="en-US" sz="825" dirty="0"/>
          </a:p>
        </p:txBody>
      </p:sp>
      <p:sp>
        <p:nvSpPr>
          <p:cNvPr id="94" name="SK-4-text-93"/>
          <p:cNvSpPr/>
          <p:nvPr/>
        </p:nvSpPr>
        <p:spPr>
          <a:xfrm>
            <a:off x="2314575" y="3868043"/>
            <a:ext cx="301774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frais_deplacement DECIMAL</a:t>
            </a:r>
            <a:endParaRPr lang="en-US" sz="825" dirty="0"/>
          </a:p>
        </p:txBody>
      </p:sp>
      <p:sp>
        <p:nvSpPr>
          <p:cNvPr id="95" name="SK-4-text-94"/>
          <p:cNvSpPr/>
          <p:nvPr/>
        </p:nvSpPr>
        <p:spPr>
          <a:xfrm>
            <a:off x="4152900" y="3868043"/>
            <a:ext cx="127275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366F1"/>
                </a:solidFill>
              </a:rPr>
              <a:t>statut ENUM</a:t>
            </a:r>
            <a:endParaRPr lang="en-US" sz="825" dirty="0"/>
          </a:p>
        </p:txBody>
      </p:sp>
      <p:sp>
        <p:nvSpPr>
          <p:cNvPr id="96" name="SK-4-text-95"/>
          <p:cNvSpPr/>
          <p:nvPr/>
        </p:nvSpPr>
        <p:spPr>
          <a:xfrm>
            <a:off x="992981" y="5132040"/>
            <a:ext cx="1100328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factures</a:t>
            </a:r>
            <a:endParaRPr lang="en-US" sz="1050" dirty="0"/>
          </a:p>
        </p:txBody>
      </p:sp>
      <p:sp>
        <p:nvSpPr>
          <p:cNvPr id="97" name="SK-4-text-96"/>
          <p:cNvSpPr/>
          <p:nvPr/>
        </p:nvSpPr>
        <p:spPr>
          <a:xfrm>
            <a:off x="1754981" y="5155853"/>
            <a:ext cx="47396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Factures générées depuis les devis</a:t>
            </a:r>
            <a:endParaRPr lang="en-US" sz="900" dirty="0"/>
          </a:p>
        </p:txBody>
      </p:sp>
      <p:sp>
        <p:nvSpPr>
          <p:cNvPr id="98" name="SK-4-text-97"/>
          <p:cNvSpPr/>
          <p:nvPr/>
        </p:nvSpPr>
        <p:spPr>
          <a:xfrm>
            <a:off x="742950" y="5417790"/>
            <a:ext cx="54434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99" name="SK-4-text-98"/>
          <p:cNvSpPr/>
          <p:nvPr/>
        </p:nvSpPr>
        <p:spPr>
          <a:xfrm>
            <a:off x="1247775" y="5417790"/>
            <a:ext cx="152026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numero UNIQUE</a:t>
            </a:r>
            <a:endParaRPr lang="en-US" sz="825" dirty="0"/>
          </a:p>
        </p:txBody>
      </p:sp>
      <p:sp>
        <p:nvSpPr>
          <p:cNvPr id="100" name="SK-4-text-99"/>
          <p:cNvSpPr/>
          <p:nvPr/>
        </p:nvSpPr>
        <p:spPr>
          <a:xfrm>
            <a:off x="2286000" y="5417790"/>
            <a:ext cx="127275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FK devis_id</a:t>
            </a:r>
            <a:endParaRPr lang="en-US" sz="825" dirty="0"/>
          </a:p>
        </p:txBody>
      </p:sp>
      <p:sp>
        <p:nvSpPr>
          <p:cNvPr id="101" name="SK-4-text-100"/>
          <p:cNvSpPr/>
          <p:nvPr/>
        </p:nvSpPr>
        <p:spPr>
          <a:xfrm>
            <a:off x="3190875" y="5417790"/>
            <a:ext cx="1396365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FK client_id</a:t>
            </a:r>
            <a:endParaRPr lang="en-US" sz="825" dirty="0"/>
          </a:p>
        </p:txBody>
      </p:sp>
      <p:sp>
        <p:nvSpPr>
          <p:cNvPr id="102" name="SK-4-text-101"/>
          <p:cNvSpPr/>
          <p:nvPr/>
        </p:nvSpPr>
        <p:spPr>
          <a:xfrm>
            <a:off x="4162425" y="5417790"/>
            <a:ext cx="2017817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date_facture DATE</a:t>
            </a:r>
            <a:endParaRPr lang="en-US" sz="825" dirty="0"/>
          </a:p>
        </p:txBody>
      </p:sp>
      <p:sp>
        <p:nvSpPr>
          <p:cNvPr id="103" name="SK-4-text-102"/>
          <p:cNvSpPr/>
          <p:nvPr/>
        </p:nvSpPr>
        <p:spPr>
          <a:xfrm>
            <a:off x="5467350" y="5417790"/>
            <a:ext cx="2749742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montant DECIMAL(10,2)</a:t>
            </a:r>
            <a:endParaRPr lang="en-US" sz="825" dirty="0"/>
          </a:p>
        </p:txBody>
      </p:sp>
      <p:sp>
        <p:nvSpPr>
          <p:cNvPr id="104" name="SK-4-text-103"/>
          <p:cNvSpPr/>
          <p:nvPr/>
        </p:nvSpPr>
        <p:spPr>
          <a:xfrm>
            <a:off x="742950" y="5632103"/>
            <a:ext cx="127275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366F1"/>
                </a:solidFill>
              </a:rPr>
              <a:t>statut ENUM</a:t>
            </a:r>
            <a:endParaRPr lang="en-US" sz="825" dirty="0"/>
          </a:p>
        </p:txBody>
      </p:sp>
      <p:sp>
        <p:nvSpPr>
          <p:cNvPr id="105" name="SK-4-text-104"/>
          <p:cNvSpPr/>
          <p:nvPr/>
        </p:nvSpPr>
        <p:spPr>
          <a:xfrm>
            <a:off x="7683401" y="1603921"/>
            <a:ext cx="6477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</a:rPr>
              <a:t>users</a:t>
            </a:r>
            <a:endParaRPr lang="en-US" sz="1050" dirty="0"/>
          </a:p>
        </p:txBody>
      </p:sp>
      <p:sp>
        <p:nvSpPr>
          <p:cNvPr id="106" name="SK-4-text-105"/>
          <p:cNvSpPr/>
          <p:nvPr/>
        </p:nvSpPr>
        <p:spPr>
          <a:xfrm>
            <a:off x="8216801" y="1627733"/>
            <a:ext cx="36423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Authentification sécurisée</a:t>
            </a:r>
            <a:endParaRPr lang="en-US" sz="900" dirty="0"/>
          </a:p>
        </p:txBody>
      </p:sp>
      <p:sp>
        <p:nvSpPr>
          <p:cNvPr id="107" name="SK-4-text-106"/>
          <p:cNvSpPr/>
          <p:nvPr/>
        </p:nvSpPr>
        <p:spPr>
          <a:xfrm>
            <a:off x="7433370" y="1889671"/>
            <a:ext cx="54434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59669"/>
                </a:solidFill>
              </a:rPr>
              <a:t>PK id</a:t>
            </a:r>
            <a:endParaRPr lang="en-US" sz="825" dirty="0"/>
          </a:p>
        </p:txBody>
      </p:sp>
      <p:sp>
        <p:nvSpPr>
          <p:cNvPr id="108" name="SK-4-text-107"/>
          <p:cNvSpPr/>
          <p:nvPr/>
        </p:nvSpPr>
        <p:spPr>
          <a:xfrm>
            <a:off x="7938195" y="1889671"/>
            <a:ext cx="1272754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mail UNIQUE</a:t>
            </a:r>
            <a:endParaRPr lang="en-US" sz="825" dirty="0"/>
          </a:p>
        </p:txBody>
      </p:sp>
      <p:sp>
        <p:nvSpPr>
          <p:cNvPr id="109" name="SK-4-text-108"/>
          <p:cNvSpPr/>
          <p:nvPr/>
        </p:nvSpPr>
        <p:spPr>
          <a:xfrm>
            <a:off x="8843070" y="1889671"/>
            <a:ext cx="1768719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username UNIQUE</a:t>
            </a:r>
            <a:endParaRPr lang="en-US" sz="825" dirty="0"/>
          </a:p>
        </p:txBody>
      </p:sp>
      <p:sp>
        <p:nvSpPr>
          <p:cNvPr id="110" name="SK-4-text-109"/>
          <p:cNvSpPr/>
          <p:nvPr/>
        </p:nvSpPr>
        <p:spPr>
          <a:xfrm>
            <a:off x="10014645" y="1889671"/>
            <a:ext cx="1026719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366F1"/>
                </a:solidFill>
              </a:rPr>
              <a:t>role ENUM</a:t>
            </a:r>
            <a:endParaRPr lang="en-US" sz="825" dirty="0"/>
          </a:p>
        </p:txBody>
      </p:sp>
      <p:sp>
        <p:nvSpPr>
          <p:cNvPr id="111" name="SK-4-text-110"/>
          <p:cNvSpPr/>
          <p:nvPr/>
        </p:nvSpPr>
        <p:spPr>
          <a:xfrm>
            <a:off x="7433370" y="2103983"/>
            <a:ext cx="3378881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</a:rPr>
              <a:t>password_hash VARCHAR(255)</a:t>
            </a:r>
            <a:endParaRPr lang="en-US" sz="825" dirty="0"/>
          </a:p>
        </p:txBody>
      </p:sp>
      <p:sp>
        <p:nvSpPr>
          <p:cNvPr id="112" name="SK-4-text-111"/>
          <p:cNvSpPr/>
          <p:nvPr/>
        </p:nvSpPr>
        <p:spPr>
          <a:xfrm>
            <a:off x="7619107" y="3053804"/>
            <a:ext cx="37566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Suppressions en cascade</a:t>
            </a:r>
            <a:endParaRPr lang="en-US" sz="1050" dirty="0"/>
          </a:p>
        </p:txBody>
      </p:sp>
      <p:sp>
        <p:nvSpPr>
          <p:cNvPr id="113" name="SK-4-text-112"/>
          <p:cNvSpPr/>
          <p:nvPr/>
        </p:nvSpPr>
        <p:spPr>
          <a:xfrm>
            <a:off x="7573863" y="3368129"/>
            <a:ext cx="4618137" cy="159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 d'un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suppression de ses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factures</a:t>
            </a:r>
            <a:endParaRPr lang="en-US" sz="900" dirty="0"/>
          </a:p>
        </p:txBody>
      </p:sp>
      <p:sp>
        <p:nvSpPr>
          <p:cNvPr id="114" name="SK-4-text-113"/>
          <p:cNvSpPr/>
          <p:nvPr/>
        </p:nvSpPr>
        <p:spPr>
          <a:xfrm>
            <a:off x="7573863" y="3604320"/>
            <a:ext cx="4618137" cy="159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 d'une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suppression des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paiements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liés</a:t>
            </a:r>
            <a:endParaRPr lang="en-US" sz="900" dirty="0"/>
          </a:p>
        </p:txBody>
      </p:sp>
      <p:sp>
        <p:nvSpPr>
          <p:cNvPr id="115" name="SK-4-text-114"/>
          <p:cNvSpPr/>
          <p:nvPr/>
        </p:nvSpPr>
        <p:spPr>
          <a:xfrm>
            <a:off x="7573863" y="3840510"/>
            <a:ext cx="4618137" cy="159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DELETE CASCADE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toutes les FK critiques</a:t>
            </a:r>
            <a:endParaRPr lang="en-US" sz="900" dirty="0"/>
          </a:p>
        </p:txBody>
      </p:sp>
      <p:sp>
        <p:nvSpPr>
          <p:cNvPr id="116" name="SK-4-text-115"/>
          <p:cNvSpPr/>
          <p:nvPr/>
        </p:nvSpPr>
        <p:spPr>
          <a:xfrm>
            <a:off x="7619107" y="4503688"/>
            <a:ext cx="37566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Contraintes d'intégrité</a:t>
            </a:r>
            <a:endParaRPr lang="en-US" sz="1050" dirty="0"/>
          </a:p>
        </p:txBody>
      </p:sp>
      <p:sp>
        <p:nvSpPr>
          <p:cNvPr id="117" name="SK-4-text-116"/>
          <p:cNvSpPr/>
          <p:nvPr/>
        </p:nvSpPr>
        <p:spPr>
          <a:xfrm>
            <a:off x="7500045" y="4818013"/>
            <a:ext cx="4691955" cy="159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Clés étrangères : </a:t>
            </a:r>
            <a:r>
              <a:rPr lang="en-US" sz="825" dirty="0">
                <a:solidFill>
                  <a:srgbClr val="0EA5E9"/>
                </a:solidFill>
              </a:rPr>
              <a:t>client_id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825" dirty="0">
                <a:solidFill>
                  <a:srgbClr val="0EA5E9"/>
                </a:solidFill>
              </a:rPr>
              <a:t>devis_id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825" dirty="0">
                <a:solidFill>
                  <a:srgbClr val="0EA5E9"/>
                </a:solidFill>
              </a:rPr>
              <a:t>facture_id</a:t>
            </a:r>
            <a:endParaRPr lang="en-US" sz="900" dirty="0"/>
          </a:p>
        </p:txBody>
      </p:sp>
      <p:sp>
        <p:nvSpPr>
          <p:cNvPr id="118" name="SK-4-text-117"/>
          <p:cNvSpPr/>
          <p:nvPr/>
        </p:nvSpPr>
        <p:spPr>
          <a:xfrm>
            <a:off x="7500045" y="5054203"/>
            <a:ext cx="4691955" cy="159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Numéros uniques : </a:t>
            </a:r>
            <a:r>
              <a:rPr lang="en-US" sz="825" dirty="0">
                <a:solidFill>
                  <a:srgbClr val="0EA5E9"/>
                </a:solidFill>
              </a:rPr>
              <a:t>UNIQUE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</a:t>
            </a:r>
            <a:r>
              <a:rPr lang="en-US" sz="825" dirty="0">
                <a:solidFill>
                  <a:srgbClr val="0EA5E9"/>
                </a:solidFill>
              </a:rPr>
              <a:t>numero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(devis, factures)</a:t>
            </a:r>
            <a:endParaRPr lang="en-US" sz="900" dirty="0"/>
          </a:p>
        </p:txBody>
      </p:sp>
      <p:sp>
        <p:nvSpPr>
          <p:cNvPr id="119" name="SK-4-text-118"/>
          <p:cNvSpPr/>
          <p:nvPr/>
        </p:nvSpPr>
        <p:spPr>
          <a:xfrm>
            <a:off x="7500045" y="5290393"/>
            <a:ext cx="4691955" cy="159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Statuts contrôlés via </a:t>
            </a:r>
            <a:r>
              <a:rPr lang="en-US" sz="825" dirty="0">
                <a:solidFill>
                  <a:srgbClr val="0EA5E9"/>
                </a:solidFill>
              </a:rPr>
              <a:t>ENUM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(en_attente, accepte, refuse, payee...)</a:t>
            </a:r>
            <a:endParaRPr lang="en-US" sz="900" dirty="0"/>
          </a:p>
        </p:txBody>
      </p:sp>
      <p:sp>
        <p:nvSpPr>
          <p:cNvPr id="120" name="SK-4-text-119"/>
          <p:cNvSpPr/>
          <p:nvPr/>
        </p:nvSpPr>
        <p:spPr>
          <a:xfrm>
            <a:off x="7500045" y="5526584"/>
            <a:ext cx="4691955" cy="1599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Montants en </a:t>
            </a:r>
            <a:r>
              <a:rPr lang="en-US" sz="825" dirty="0">
                <a:solidFill>
                  <a:srgbClr val="0EA5E9"/>
                </a:solidFill>
              </a:rPr>
              <a:t>DECIMAL(10,2)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la précision financière</a:t>
            </a:r>
            <a:endParaRPr lang="en-US" sz="900" dirty="0"/>
          </a:p>
        </p:txBody>
      </p:sp>
      <p:sp>
        <p:nvSpPr>
          <p:cNvPr id="121" name="SK-4-text-120"/>
          <p:cNvSpPr/>
          <p:nvPr/>
        </p:nvSpPr>
        <p:spPr>
          <a:xfrm>
            <a:off x="7619107" y="6010424"/>
            <a:ext cx="3276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Sécurité des données</a:t>
            </a:r>
            <a:endParaRPr lang="en-US" sz="1050" dirty="0"/>
          </a:p>
        </p:txBody>
      </p:sp>
      <p:sp>
        <p:nvSpPr>
          <p:cNvPr id="122" name="SK-4-text-121"/>
          <p:cNvSpPr/>
          <p:nvPr/>
        </p:nvSpPr>
        <p:spPr>
          <a:xfrm>
            <a:off x="7376220" y="6267599"/>
            <a:ext cx="41299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 de passe stockés en </a:t>
            </a:r>
            <a:r>
              <a:rPr lang="en-US" sz="825" dirty="0">
                <a:solidFill>
                  <a:srgbClr val="059669"/>
                </a:solidFill>
              </a:rPr>
              <a:t>hash bcrypt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jamais en clair.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Requêtes paramétrées via </a:t>
            </a:r>
            <a:r>
              <a:rPr lang="en-US" sz="825" dirty="0">
                <a:solidFill>
                  <a:srgbClr val="059669"/>
                </a:solidFill>
              </a:rPr>
              <a:t>Sequelize ORM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contre les injections SQL.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0" y="1441996"/>
            <a:ext cx="19050" cy="4844504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1852017"/>
            <a:ext cx="304800" cy="3048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2438" y="1909167"/>
            <a:ext cx="238125" cy="1905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2366367"/>
            <a:ext cx="38100" cy="38100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2652117"/>
            <a:ext cx="38100" cy="3810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2937867"/>
            <a:ext cx="38100" cy="3810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1852017"/>
            <a:ext cx="304800" cy="3048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588" y="1909167"/>
            <a:ext cx="238125" cy="1905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0" y="2366367"/>
            <a:ext cx="38100" cy="381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0" y="2766417"/>
            <a:ext cx="36909" cy="3810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0" y="3166467"/>
            <a:ext cx="38100" cy="38100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757017"/>
            <a:ext cx="304800" cy="304800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2438" y="3814167"/>
            <a:ext cx="238125" cy="190500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4271367"/>
            <a:ext cx="38100" cy="38100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4557117"/>
            <a:ext cx="38100" cy="38100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4842867"/>
            <a:ext cx="38100" cy="38100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3757017"/>
            <a:ext cx="304800" cy="304800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9588" y="3814167"/>
            <a:ext cx="238125" cy="190500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0" y="4252317"/>
            <a:ext cx="590550" cy="247650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0" y="4252317"/>
            <a:ext cx="590550" cy="247650"/>
          </a:xfrm>
          <a:prstGeom prst="rect">
            <a:avLst/>
          </a:prstGeom>
        </p:spPr>
      </p:pic>
      <p:pic>
        <p:nvPicPr>
          <p:cNvPr id="25" name="SK-5-img-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750" y="4252317"/>
            <a:ext cx="390525" cy="247650"/>
          </a:xfrm>
          <a:prstGeom prst="rect">
            <a:avLst/>
          </a:prstGeom>
        </p:spPr>
      </p:pic>
      <p:pic>
        <p:nvPicPr>
          <p:cNvPr id="26" name="SK-5-img-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96475" y="4252317"/>
            <a:ext cx="590550" cy="247650"/>
          </a:xfrm>
          <a:prstGeom prst="rect">
            <a:avLst/>
          </a:prstGeom>
        </p:spPr>
      </p:pic>
      <p:pic>
        <p:nvPicPr>
          <p:cNvPr id="27" name="SK-5-img-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3225" y="4252317"/>
            <a:ext cx="723900" cy="247650"/>
          </a:xfrm>
          <a:prstGeom prst="rect">
            <a:avLst/>
          </a:prstGeom>
        </p:spPr>
      </p:pic>
      <p:pic>
        <p:nvPicPr>
          <p:cNvPr id="28" name="SK-5-img-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4800" y="5395317"/>
            <a:ext cx="7505700" cy="595313"/>
          </a:xfrm>
          <a:prstGeom prst="rect">
            <a:avLst/>
          </a:prstGeom>
        </p:spPr>
      </p:pic>
      <p:pic>
        <p:nvPicPr>
          <p:cNvPr id="29" name="SK-5-img-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05500" y="5621536"/>
            <a:ext cx="178594" cy="142875"/>
          </a:xfrm>
          <a:prstGeom prst="rect">
            <a:avLst/>
          </a:prstGeom>
        </p:spPr>
      </p:pic>
      <p:pic>
        <p:nvPicPr>
          <p:cNvPr id="30" name="SK-5-img-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46269" y="5621536"/>
            <a:ext cx="178594" cy="142875"/>
          </a:xfrm>
          <a:prstGeom prst="rect">
            <a:avLst/>
          </a:prstGeom>
        </p:spPr>
      </p:pic>
      <p:sp>
        <p:nvSpPr>
          <p:cNvPr id="31" name="SK-5-text-3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2" name="SK-5-text-31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Utilisées</a:t>
            </a:r>
            <a:endParaRPr lang="en-US" sz="2400" dirty="0"/>
          </a:p>
        </p:txBody>
      </p:sp>
      <p:sp>
        <p:nvSpPr>
          <p:cNvPr id="33" name="SK-5-text-32"/>
          <p:cNvSpPr/>
          <p:nvPr/>
        </p:nvSpPr>
        <p:spPr>
          <a:xfrm>
            <a:off x="571500" y="3061246"/>
            <a:ext cx="2762250" cy="12343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860"/>
              </a:lnSpc>
              <a:buNone/>
            </a:pPr>
            <a:r>
              <a:rPr lang="en-US" sz="5400" b="1" kern="0" spc="-12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 FULL</a:t>
            </a:r>
            <a:endParaRPr lang="en-US" sz="5400" dirty="0"/>
          </a:p>
          <a:p>
            <a:pPr marL="0" indent="0">
              <a:lnSpc>
                <a:spcPts val="4860"/>
              </a:lnSpc>
              <a:buNone/>
            </a:pPr>
            <a:r>
              <a:rPr lang="en-US" sz="5400" b="1" kern="0" spc="-12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5400" dirty="0"/>
          </a:p>
        </p:txBody>
      </p:sp>
      <p:sp>
        <p:nvSpPr>
          <p:cNvPr id="34" name="SK-5-text-33"/>
          <p:cNvSpPr/>
          <p:nvPr/>
        </p:nvSpPr>
        <p:spPr>
          <a:xfrm>
            <a:off x="571500" y="4409926"/>
            <a:ext cx="44062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59669"/>
                </a:solidFill>
              </a:rPr>
              <a:t>Écosystème JavaScript</a:t>
            </a:r>
            <a:endParaRPr lang="en-US" sz="1350" dirty="0"/>
          </a:p>
        </p:txBody>
      </p:sp>
      <p:sp>
        <p:nvSpPr>
          <p:cNvPr id="35" name="SK-5-text-34"/>
          <p:cNvSpPr/>
          <p:nvPr/>
        </p:nvSpPr>
        <p:spPr>
          <a:xfrm>
            <a:off x="4648200" y="1861542"/>
            <a:ext cx="4895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Back-end</a:t>
            </a:r>
            <a:endParaRPr lang="en-US" sz="1500" dirty="0"/>
          </a:p>
        </p:txBody>
      </p:sp>
      <p:sp>
        <p:nvSpPr>
          <p:cNvPr id="36" name="SK-5-text-35"/>
          <p:cNvSpPr/>
          <p:nvPr/>
        </p:nvSpPr>
        <p:spPr>
          <a:xfrm>
            <a:off x="4362450" y="2271117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Environnement d'exécution</a:t>
            </a:r>
            <a:endParaRPr lang="en-US" sz="1200" dirty="0"/>
          </a:p>
        </p:txBody>
      </p:sp>
      <p:sp>
        <p:nvSpPr>
          <p:cNvPr id="37" name="SK-5-text-36"/>
          <p:cNvSpPr/>
          <p:nvPr/>
        </p:nvSpPr>
        <p:spPr>
          <a:xfrm>
            <a:off x="4362450" y="2556867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Framework API REST</a:t>
            </a:r>
            <a:endParaRPr lang="en-US" sz="1200" dirty="0"/>
          </a:p>
        </p:txBody>
      </p:sp>
      <p:sp>
        <p:nvSpPr>
          <p:cNvPr id="38" name="SK-5-text-37"/>
          <p:cNvSpPr/>
          <p:nvPr/>
        </p:nvSpPr>
        <p:spPr>
          <a:xfrm>
            <a:off x="4362450" y="2842617"/>
            <a:ext cx="6949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Express-session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Sécurisation session</a:t>
            </a:r>
            <a:endParaRPr lang="en-US" sz="1200" dirty="0"/>
          </a:p>
        </p:txBody>
      </p:sp>
      <p:sp>
        <p:nvSpPr>
          <p:cNvPr id="39" name="SK-5-text-38"/>
          <p:cNvSpPr/>
          <p:nvPr/>
        </p:nvSpPr>
        <p:spPr>
          <a:xfrm>
            <a:off x="8515350" y="1861542"/>
            <a:ext cx="3524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40" name="SK-5-text-39"/>
          <p:cNvSpPr/>
          <p:nvPr/>
        </p:nvSpPr>
        <p:spPr>
          <a:xfrm>
            <a:off x="8229600" y="2271117"/>
            <a:ext cx="396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Système Relationnel</a:t>
            </a:r>
            <a:endParaRPr lang="en-US" sz="1200" dirty="0"/>
          </a:p>
        </p:txBody>
      </p:sp>
      <p:sp>
        <p:nvSpPr>
          <p:cNvPr id="41" name="SK-5-text-40"/>
          <p:cNvSpPr/>
          <p:nvPr/>
        </p:nvSpPr>
        <p:spPr>
          <a:xfrm>
            <a:off x="8228409" y="2556867"/>
            <a:ext cx="3409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Sequelize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ORM (Object-Relational Mapping)</a:t>
            </a:r>
            <a:endParaRPr lang="en-US" sz="1200" dirty="0"/>
          </a:p>
        </p:txBody>
      </p:sp>
      <p:sp>
        <p:nvSpPr>
          <p:cNvPr id="42" name="SK-5-text-41"/>
          <p:cNvSpPr/>
          <p:nvPr/>
        </p:nvSpPr>
        <p:spPr>
          <a:xfrm>
            <a:off x="8229600" y="3071217"/>
            <a:ext cx="396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Jointures et intégrité référentielle</a:t>
            </a:r>
            <a:endParaRPr lang="en-US" sz="1200" dirty="0"/>
          </a:p>
        </p:txBody>
      </p:sp>
      <p:sp>
        <p:nvSpPr>
          <p:cNvPr id="43" name="SK-5-text-42"/>
          <p:cNvSpPr/>
          <p:nvPr/>
        </p:nvSpPr>
        <p:spPr>
          <a:xfrm>
            <a:off x="4648200" y="3766542"/>
            <a:ext cx="4438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Front-end</a:t>
            </a:r>
            <a:endParaRPr lang="en-US" sz="1500" dirty="0"/>
          </a:p>
        </p:txBody>
      </p:sp>
      <p:sp>
        <p:nvSpPr>
          <p:cNvPr id="44" name="SK-5-text-43"/>
          <p:cNvSpPr/>
          <p:nvPr/>
        </p:nvSpPr>
        <p:spPr>
          <a:xfrm>
            <a:off x="4362450" y="4176117"/>
            <a:ext cx="6766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JavaScript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Pas de framework</a:t>
            </a:r>
            <a:endParaRPr lang="en-US" sz="1200" dirty="0"/>
          </a:p>
        </p:txBody>
      </p:sp>
      <p:sp>
        <p:nvSpPr>
          <p:cNvPr id="45" name="SK-5-text-44"/>
          <p:cNvSpPr/>
          <p:nvPr/>
        </p:nvSpPr>
        <p:spPr>
          <a:xfrm>
            <a:off x="4362450" y="4461867"/>
            <a:ext cx="554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/ CSS3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Flexbox &amp; Grid</a:t>
            </a:r>
            <a:endParaRPr lang="en-US" sz="1200" dirty="0"/>
          </a:p>
        </p:txBody>
      </p:sp>
      <p:sp>
        <p:nvSpPr>
          <p:cNvPr id="46" name="SK-5-text-45"/>
          <p:cNvSpPr/>
          <p:nvPr/>
        </p:nvSpPr>
        <p:spPr>
          <a:xfrm>
            <a:off x="4362450" y="4747617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API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Appels asynchrones</a:t>
            </a:r>
            <a:endParaRPr lang="en-US" sz="1200" dirty="0"/>
          </a:p>
        </p:txBody>
      </p:sp>
      <p:sp>
        <p:nvSpPr>
          <p:cNvPr id="47" name="SK-5-text-46"/>
          <p:cNvSpPr/>
          <p:nvPr/>
        </p:nvSpPr>
        <p:spPr>
          <a:xfrm>
            <a:off x="8515350" y="3766542"/>
            <a:ext cx="3676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&amp; Sécurité</a:t>
            </a:r>
            <a:endParaRPr lang="en-US" sz="1500" dirty="0"/>
          </a:p>
        </p:txBody>
      </p:sp>
      <p:sp>
        <p:nvSpPr>
          <p:cNvPr id="48" name="SK-5-text-47"/>
          <p:cNvSpPr/>
          <p:nvPr/>
        </p:nvSpPr>
        <p:spPr>
          <a:xfrm>
            <a:off x="8191500" y="4252317"/>
            <a:ext cx="63368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Bcrypt</a:t>
            </a:r>
            <a:endParaRPr lang="en-US" sz="900" dirty="0"/>
          </a:p>
        </p:txBody>
      </p:sp>
      <p:sp>
        <p:nvSpPr>
          <p:cNvPr id="49" name="SK-5-text-48"/>
          <p:cNvSpPr/>
          <p:nvPr/>
        </p:nvSpPr>
        <p:spPr>
          <a:xfrm>
            <a:off x="8858250" y="4252317"/>
            <a:ext cx="63368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Dotenv</a:t>
            </a:r>
            <a:endParaRPr lang="en-US" sz="900" dirty="0"/>
          </a:p>
        </p:txBody>
      </p:sp>
      <p:sp>
        <p:nvSpPr>
          <p:cNvPr id="50" name="SK-5-text-49"/>
          <p:cNvSpPr/>
          <p:nvPr/>
        </p:nvSpPr>
        <p:spPr>
          <a:xfrm>
            <a:off x="9525000" y="4252317"/>
            <a:ext cx="286958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Git</a:t>
            </a:r>
            <a:endParaRPr lang="en-US" sz="900" dirty="0"/>
          </a:p>
        </p:txBody>
      </p:sp>
      <p:sp>
        <p:nvSpPr>
          <p:cNvPr id="51" name="SK-5-text-50"/>
          <p:cNvSpPr/>
          <p:nvPr/>
        </p:nvSpPr>
        <p:spPr>
          <a:xfrm>
            <a:off x="9991725" y="4252317"/>
            <a:ext cx="63368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GitHub</a:t>
            </a:r>
            <a:endParaRPr lang="en-US" sz="900" dirty="0"/>
          </a:p>
        </p:txBody>
      </p:sp>
      <p:sp>
        <p:nvSpPr>
          <p:cNvPr id="52" name="SK-5-text-51"/>
          <p:cNvSpPr/>
          <p:nvPr/>
        </p:nvSpPr>
        <p:spPr>
          <a:xfrm>
            <a:off x="10658475" y="4252317"/>
            <a:ext cx="95209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JSON2CSV</a:t>
            </a:r>
            <a:endParaRPr lang="en-US" sz="900" dirty="0"/>
          </a:p>
        </p:txBody>
      </p:sp>
      <p:sp>
        <p:nvSpPr>
          <p:cNvPr id="53" name="SK-5-text-52"/>
          <p:cNvSpPr/>
          <p:nvPr/>
        </p:nvSpPr>
        <p:spPr>
          <a:xfrm>
            <a:off x="4305300" y="5600105"/>
            <a:ext cx="2750820" cy="1857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OUTILS SPÉCIALISÉS</a:t>
            </a:r>
            <a:endParaRPr lang="en-US" sz="975" dirty="0"/>
          </a:p>
        </p:txBody>
      </p:sp>
      <p:sp>
        <p:nvSpPr>
          <p:cNvPr id="54" name="SK-5-text-53"/>
          <p:cNvSpPr/>
          <p:nvPr/>
        </p:nvSpPr>
        <p:spPr>
          <a:xfrm>
            <a:off x="6160294" y="5585817"/>
            <a:ext cx="4457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Puppeteer (Génération PDF)</a:t>
            </a:r>
            <a:endParaRPr lang="en-US" sz="1125" dirty="0"/>
          </a:p>
        </p:txBody>
      </p:sp>
      <p:sp>
        <p:nvSpPr>
          <p:cNvPr id="55" name="SK-5-text-54"/>
          <p:cNvSpPr/>
          <p:nvPr/>
        </p:nvSpPr>
        <p:spPr>
          <a:xfrm>
            <a:off x="8501063" y="5585817"/>
            <a:ext cx="3690937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(Documentation API)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62775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62775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04775"/>
            <a:ext cx="11049000" cy="641896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803821"/>
            <a:ext cx="5687764" cy="2991743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991493"/>
            <a:ext cx="142875" cy="114300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285875"/>
            <a:ext cx="130969" cy="110728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506736"/>
            <a:ext cx="130969" cy="110728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1729532"/>
            <a:ext cx="130969" cy="110728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1952327"/>
            <a:ext cx="130969" cy="110728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175123"/>
            <a:ext cx="130969" cy="110728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397919"/>
            <a:ext cx="130969" cy="110728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2620714"/>
            <a:ext cx="130969" cy="110728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843510"/>
            <a:ext cx="130969" cy="110728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066306"/>
            <a:ext cx="130969" cy="110728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289102"/>
            <a:ext cx="130969" cy="110728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3511897"/>
            <a:ext cx="130969" cy="110728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9764" y="803821"/>
            <a:ext cx="5170736" cy="1472059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2164" y="886718"/>
            <a:ext cx="142875" cy="114300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2164" y="1060996"/>
            <a:ext cx="209550" cy="209550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8664" y="1070521"/>
            <a:ext cx="542925" cy="161925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2164" y="1289596"/>
            <a:ext cx="209550" cy="209550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2164" y="1518196"/>
            <a:ext cx="209550" cy="209550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2164" y="1746796"/>
            <a:ext cx="209550" cy="209550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2164" y="1975396"/>
            <a:ext cx="209550" cy="209550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49764" y="2323505"/>
            <a:ext cx="5170736" cy="1472059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2164" y="2406402"/>
            <a:ext cx="142875" cy="114300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2164" y="3475881"/>
            <a:ext cx="4865936" cy="133350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02164" y="3502521"/>
            <a:ext cx="119063" cy="99120"/>
          </a:xfrm>
          <a:prstGeom prst="rect">
            <a:avLst/>
          </a:prstGeom>
        </p:spPr>
      </p:pic>
      <p:sp>
        <p:nvSpPr>
          <p:cNvPr id="30" name="SK-6-text-29"/>
          <p:cNvSpPr/>
          <p:nvPr/>
        </p:nvSpPr>
        <p:spPr>
          <a:xfrm>
            <a:off x="762000" y="104775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1" name="SK-6-text-30"/>
          <p:cNvSpPr/>
          <p:nvPr/>
        </p:nvSpPr>
        <p:spPr>
          <a:xfrm>
            <a:off x="762000" y="381000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MVC et REST</a:t>
            </a:r>
            <a:endParaRPr lang="en-US" sz="2400" dirty="0"/>
          </a:p>
        </p:txBody>
      </p:sp>
      <p:sp>
        <p:nvSpPr>
          <p:cNvPr id="32" name="SK-6-text-31"/>
          <p:cNvSpPr/>
          <p:nvPr/>
        </p:nvSpPr>
        <p:spPr>
          <a:xfrm>
            <a:off x="942975" y="956221"/>
            <a:ext cx="5344864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60" dirty="0">
                <a:solidFill>
                  <a:srgbClr val="059669"/>
                </a:solidFill>
              </a:rPr>
              <a:t>STRUCTURE DU PROJET NODE.JS</a:t>
            </a:r>
            <a:endParaRPr lang="en-US" sz="900" dirty="0"/>
          </a:p>
        </p:txBody>
      </p:sp>
      <p:sp>
        <p:nvSpPr>
          <p:cNvPr id="33" name="SK-6-text-32"/>
          <p:cNvSpPr/>
          <p:nvPr/>
        </p:nvSpPr>
        <p:spPr>
          <a:xfrm>
            <a:off x="969169" y="1251496"/>
            <a:ext cx="39395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FmAbattage-Management-app/</a:t>
            </a:r>
            <a:endParaRPr lang="en-US" sz="975" dirty="0"/>
          </a:p>
        </p:txBody>
      </p:sp>
      <p:sp>
        <p:nvSpPr>
          <p:cNvPr id="34" name="SK-6-text-33"/>
          <p:cNvSpPr/>
          <p:nvPr/>
        </p:nvSpPr>
        <p:spPr>
          <a:xfrm>
            <a:off x="1102519" y="1472357"/>
            <a:ext cx="11163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EA5E9"/>
                </a:solidFill>
              </a:rPr>
              <a:t>config/</a:t>
            </a:r>
            <a:endParaRPr lang="en-US" sz="975" dirty="0"/>
          </a:p>
        </p:txBody>
      </p:sp>
      <p:sp>
        <p:nvSpPr>
          <p:cNvPr id="35" name="SK-6-text-34"/>
          <p:cNvSpPr/>
          <p:nvPr/>
        </p:nvSpPr>
        <p:spPr>
          <a:xfrm>
            <a:off x="1693069" y="1491407"/>
            <a:ext cx="271653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BDD – SSL – Sequelize</a:t>
            </a:r>
            <a:endParaRPr lang="en-US" sz="825" dirty="0"/>
          </a:p>
        </p:txBody>
      </p:sp>
      <p:sp>
        <p:nvSpPr>
          <p:cNvPr id="36" name="SK-6-text-35"/>
          <p:cNvSpPr/>
          <p:nvPr/>
        </p:nvSpPr>
        <p:spPr>
          <a:xfrm>
            <a:off x="1102519" y="1695152"/>
            <a:ext cx="1859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controllers/</a:t>
            </a:r>
            <a:endParaRPr lang="en-US" sz="975" dirty="0"/>
          </a:p>
        </p:txBody>
      </p:sp>
      <p:sp>
        <p:nvSpPr>
          <p:cNvPr id="37" name="SK-6-text-36"/>
          <p:cNvSpPr/>
          <p:nvPr/>
        </p:nvSpPr>
        <p:spPr>
          <a:xfrm>
            <a:off x="2074069" y="1714202"/>
            <a:ext cx="183642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Logique métier</a:t>
            </a:r>
            <a:endParaRPr lang="en-US" sz="825" dirty="0"/>
          </a:p>
        </p:txBody>
      </p:sp>
      <p:sp>
        <p:nvSpPr>
          <p:cNvPr id="38" name="SK-6-text-37"/>
          <p:cNvSpPr/>
          <p:nvPr/>
        </p:nvSpPr>
        <p:spPr>
          <a:xfrm>
            <a:off x="1102519" y="1917948"/>
            <a:ext cx="11163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EA5E9"/>
                </a:solidFill>
              </a:rPr>
              <a:t>models/</a:t>
            </a:r>
            <a:endParaRPr lang="en-US" sz="975" dirty="0"/>
          </a:p>
        </p:txBody>
      </p:sp>
      <p:sp>
        <p:nvSpPr>
          <p:cNvPr id="39" name="SK-6-text-38"/>
          <p:cNvSpPr/>
          <p:nvPr/>
        </p:nvSpPr>
        <p:spPr>
          <a:xfrm>
            <a:off x="1693069" y="1936998"/>
            <a:ext cx="447675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Sequelize – Client, Devis, Facture…</a:t>
            </a:r>
            <a:endParaRPr lang="en-US" sz="825" dirty="0"/>
          </a:p>
        </p:txBody>
      </p:sp>
      <p:sp>
        <p:nvSpPr>
          <p:cNvPr id="40" name="SK-6-text-39"/>
          <p:cNvSpPr/>
          <p:nvPr/>
        </p:nvSpPr>
        <p:spPr>
          <a:xfrm>
            <a:off x="1102519" y="2140744"/>
            <a:ext cx="11163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routes/</a:t>
            </a:r>
            <a:endParaRPr lang="en-US" sz="975" dirty="0"/>
          </a:p>
        </p:txBody>
      </p:sp>
      <p:sp>
        <p:nvSpPr>
          <p:cNvPr id="41" name="SK-6-text-40"/>
          <p:cNvSpPr/>
          <p:nvPr/>
        </p:nvSpPr>
        <p:spPr>
          <a:xfrm>
            <a:off x="1693069" y="2159794"/>
            <a:ext cx="233934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API REST endpoints</a:t>
            </a:r>
            <a:endParaRPr lang="en-US" sz="825" dirty="0"/>
          </a:p>
        </p:txBody>
      </p:sp>
      <p:sp>
        <p:nvSpPr>
          <p:cNvPr id="42" name="SK-6-text-41"/>
          <p:cNvSpPr/>
          <p:nvPr/>
        </p:nvSpPr>
        <p:spPr>
          <a:xfrm>
            <a:off x="1102519" y="2363539"/>
            <a:ext cx="1859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A78BFA"/>
                </a:solidFill>
              </a:rPr>
              <a:t>middlewares/</a:t>
            </a:r>
            <a:endParaRPr lang="en-US" sz="975" dirty="0"/>
          </a:p>
        </p:txBody>
      </p:sp>
      <p:sp>
        <p:nvSpPr>
          <p:cNvPr id="43" name="SK-6-text-42"/>
          <p:cNvSpPr/>
          <p:nvPr/>
        </p:nvSpPr>
        <p:spPr>
          <a:xfrm>
            <a:off x="2074069" y="2382589"/>
            <a:ext cx="359664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Auth – Protection des routes</a:t>
            </a:r>
            <a:endParaRPr lang="en-US" sz="825" dirty="0"/>
          </a:p>
        </p:txBody>
      </p:sp>
      <p:sp>
        <p:nvSpPr>
          <p:cNvPr id="44" name="SK-6-text-43"/>
          <p:cNvSpPr/>
          <p:nvPr/>
        </p:nvSpPr>
        <p:spPr>
          <a:xfrm>
            <a:off x="1102519" y="2586335"/>
            <a:ext cx="15621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EA5E9"/>
                </a:solidFill>
              </a:rPr>
              <a:t>templates/</a:t>
            </a:r>
            <a:endParaRPr lang="en-US" sz="975" dirty="0"/>
          </a:p>
        </p:txBody>
      </p:sp>
      <p:sp>
        <p:nvSpPr>
          <p:cNvPr id="45" name="SK-6-text-44"/>
          <p:cNvSpPr/>
          <p:nvPr/>
        </p:nvSpPr>
        <p:spPr>
          <a:xfrm>
            <a:off x="1921669" y="2605385"/>
            <a:ext cx="284226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HTML → PDF (Puppeteer)</a:t>
            </a:r>
            <a:endParaRPr lang="en-US" sz="825" dirty="0"/>
          </a:p>
        </p:txBody>
      </p:sp>
      <p:sp>
        <p:nvSpPr>
          <p:cNvPr id="46" name="SK-6-text-45"/>
          <p:cNvSpPr/>
          <p:nvPr/>
        </p:nvSpPr>
        <p:spPr>
          <a:xfrm>
            <a:off x="1102519" y="2809131"/>
            <a:ext cx="14135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59669"/>
                </a:solidFill>
              </a:rPr>
              <a:t>services/</a:t>
            </a:r>
            <a:endParaRPr lang="en-US" sz="975" dirty="0"/>
          </a:p>
        </p:txBody>
      </p:sp>
      <p:sp>
        <p:nvSpPr>
          <p:cNvPr id="47" name="SK-6-text-46"/>
          <p:cNvSpPr/>
          <p:nvPr/>
        </p:nvSpPr>
        <p:spPr>
          <a:xfrm>
            <a:off x="1845469" y="2828181"/>
            <a:ext cx="133350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Export CSV</a:t>
            </a:r>
            <a:endParaRPr lang="en-US" sz="825" dirty="0"/>
          </a:p>
        </p:txBody>
      </p:sp>
      <p:sp>
        <p:nvSpPr>
          <p:cNvPr id="48" name="SK-6-text-47"/>
          <p:cNvSpPr/>
          <p:nvPr/>
        </p:nvSpPr>
        <p:spPr>
          <a:xfrm>
            <a:off x="1102519" y="3031927"/>
            <a:ext cx="9677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A78BFA"/>
                </a:solidFill>
              </a:rPr>
              <a:t>front/</a:t>
            </a:r>
            <a:endParaRPr lang="en-US" sz="975" dirty="0"/>
          </a:p>
        </p:txBody>
      </p:sp>
      <p:sp>
        <p:nvSpPr>
          <p:cNvPr id="49" name="SK-6-text-48"/>
          <p:cNvSpPr/>
          <p:nvPr/>
        </p:nvSpPr>
        <p:spPr>
          <a:xfrm>
            <a:off x="1616869" y="3050977"/>
            <a:ext cx="271653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Interface HTML/CSS/JS</a:t>
            </a:r>
            <a:endParaRPr lang="en-US" sz="825" dirty="0"/>
          </a:p>
        </p:txBody>
      </p:sp>
      <p:sp>
        <p:nvSpPr>
          <p:cNvPr id="50" name="SK-6-text-49"/>
          <p:cNvSpPr/>
          <p:nvPr/>
        </p:nvSpPr>
        <p:spPr>
          <a:xfrm>
            <a:off x="1102519" y="3254722"/>
            <a:ext cx="9677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</a:rPr>
              <a:t>app.js</a:t>
            </a:r>
            <a:endParaRPr lang="en-US" sz="975" dirty="0"/>
          </a:p>
        </p:txBody>
      </p:sp>
      <p:sp>
        <p:nvSpPr>
          <p:cNvPr id="51" name="SK-6-text-50"/>
          <p:cNvSpPr/>
          <p:nvPr/>
        </p:nvSpPr>
        <p:spPr>
          <a:xfrm>
            <a:off x="1616869" y="3273772"/>
            <a:ext cx="183642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Config Express</a:t>
            </a:r>
            <a:endParaRPr lang="en-US" sz="825" dirty="0"/>
          </a:p>
        </p:txBody>
      </p:sp>
      <p:sp>
        <p:nvSpPr>
          <p:cNvPr id="52" name="SK-6-text-51"/>
          <p:cNvSpPr/>
          <p:nvPr/>
        </p:nvSpPr>
        <p:spPr>
          <a:xfrm>
            <a:off x="1102519" y="3477518"/>
            <a:ext cx="14135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</a:rPr>
              <a:t>server.js</a:t>
            </a:r>
            <a:endParaRPr lang="en-US" sz="975" dirty="0"/>
          </a:p>
        </p:txBody>
      </p:sp>
      <p:sp>
        <p:nvSpPr>
          <p:cNvPr id="53" name="SK-6-text-52"/>
          <p:cNvSpPr/>
          <p:nvPr/>
        </p:nvSpPr>
        <p:spPr>
          <a:xfrm>
            <a:off x="1845469" y="3496568"/>
            <a:ext cx="259080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</a:rPr>
              <a:t>Démarrage du serveur</a:t>
            </a:r>
            <a:endParaRPr lang="en-US" sz="825" dirty="0"/>
          </a:p>
        </p:txBody>
      </p:sp>
      <p:sp>
        <p:nvSpPr>
          <p:cNvPr id="54" name="SK-6-text-53"/>
          <p:cNvSpPr/>
          <p:nvPr/>
        </p:nvSpPr>
        <p:spPr>
          <a:xfrm>
            <a:off x="6802189" y="851446"/>
            <a:ext cx="4865936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60" dirty="0">
                <a:solidFill>
                  <a:srgbClr val="0EA5E9"/>
                </a:solidFill>
              </a:rPr>
              <a:t>FLUX DE COMMUNICATION</a:t>
            </a:r>
            <a:endParaRPr lang="en-US" sz="900" dirty="0"/>
          </a:p>
        </p:txBody>
      </p:sp>
      <p:sp>
        <p:nvSpPr>
          <p:cNvPr id="55" name="SK-6-text-54"/>
          <p:cNvSpPr/>
          <p:nvPr/>
        </p:nvSpPr>
        <p:spPr>
          <a:xfrm>
            <a:off x="6683127" y="1060996"/>
            <a:ext cx="2857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56" name="SK-6-text-55"/>
          <p:cNvSpPr/>
          <p:nvPr/>
        </p:nvSpPr>
        <p:spPr>
          <a:xfrm>
            <a:off x="6906964" y="1060996"/>
            <a:ext cx="528503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envoie des requêtes HTTP via  vers l'API REST</a:t>
            </a:r>
            <a:endParaRPr lang="en-US" sz="825" dirty="0"/>
          </a:p>
        </p:txBody>
      </p:sp>
      <p:sp>
        <p:nvSpPr>
          <p:cNvPr id="57" name="SK-6-text-56"/>
          <p:cNvSpPr/>
          <p:nvPr/>
        </p:nvSpPr>
        <p:spPr>
          <a:xfrm>
            <a:off x="6683127" y="1289596"/>
            <a:ext cx="2857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58" name="SK-6-text-57"/>
          <p:cNvSpPr/>
          <p:nvPr/>
        </p:nvSpPr>
        <p:spPr>
          <a:xfrm>
            <a:off x="6906964" y="1289596"/>
            <a:ext cx="528503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Express</a:t>
            </a: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délèguent le traitement aux contrôleurs</a:t>
            </a:r>
            <a:endParaRPr lang="en-US" sz="825" dirty="0"/>
          </a:p>
        </p:txBody>
      </p:sp>
      <p:sp>
        <p:nvSpPr>
          <p:cNvPr id="59" name="SK-6-text-58"/>
          <p:cNvSpPr/>
          <p:nvPr/>
        </p:nvSpPr>
        <p:spPr>
          <a:xfrm>
            <a:off x="6683127" y="1518196"/>
            <a:ext cx="2857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60" name="SK-6-text-59"/>
          <p:cNvSpPr/>
          <p:nvPr/>
        </p:nvSpPr>
        <p:spPr>
          <a:xfrm>
            <a:off x="6906964" y="1518196"/>
            <a:ext cx="528503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Middlewares</a:t>
            </a: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vérifient l'authentification avant chaque route sensible</a:t>
            </a:r>
            <a:endParaRPr lang="en-US" sz="825" dirty="0"/>
          </a:p>
        </p:txBody>
      </p:sp>
      <p:sp>
        <p:nvSpPr>
          <p:cNvPr id="61" name="SK-6-text-60"/>
          <p:cNvSpPr/>
          <p:nvPr/>
        </p:nvSpPr>
        <p:spPr>
          <a:xfrm>
            <a:off x="6683127" y="1746796"/>
            <a:ext cx="2857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62" name="SK-6-text-61"/>
          <p:cNvSpPr/>
          <p:nvPr/>
        </p:nvSpPr>
        <p:spPr>
          <a:xfrm>
            <a:off x="6906964" y="1746796"/>
            <a:ext cx="528503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Contrôleurs</a:t>
            </a: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utilisent les modèles Sequelize pour interagir avec MySQL</a:t>
            </a:r>
            <a:endParaRPr lang="en-US" sz="825" dirty="0"/>
          </a:p>
        </p:txBody>
      </p:sp>
      <p:sp>
        <p:nvSpPr>
          <p:cNvPr id="63" name="SK-6-text-62"/>
          <p:cNvSpPr/>
          <p:nvPr/>
        </p:nvSpPr>
        <p:spPr>
          <a:xfrm>
            <a:off x="6683127" y="1975396"/>
            <a:ext cx="2857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64" name="SK-6-text-63"/>
          <p:cNvSpPr/>
          <p:nvPr/>
        </p:nvSpPr>
        <p:spPr>
          <a:xfrm>
            <a:off x="6906964" y="1975396"/>
            <a:ext cx="528503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Réponses JSON</a:t>
            </a: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renvoyées au front-end pour mise à jour de l'interface</a:t>
            </a:r>
            <a:endParaRPr lang="en-US" sz="825" dirty="0"/>
          </a:p>
        </p:txBody>
      </p:sp>
      <p:sp>
        <p:nvSpPr>
          <p:cNvPr id="65" name="SK-6-text-64"/>
          <p:cNvSpPr/>
          <p:nvPr/>
        </p:nvSpPr>
        <p:spPr>
          <a:xfrm>
            <a:off x="6802189" y="2371130"/>
            <a:ext cx="4865936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60" dirty="0">
                <a:solidFill>
                  <a:srgbClr val="059669"/>
                </a:solidFill>
              </a:rPr>
              <a:t>API REST – EXEMPLES DE ROUTES</a:t>
            </a:r>
            <a:endParaRPr lang="en-US" sz="900" dirty="0"/>
          </a:p>
        </p:txBody>
      </p:sp>
      <p:sp>
        <p:nvSpPr>
          <p:cNvPr id="66" name="SK-6-textBg-65"/>
          <p:cNvSpPr/>
          <p:nvPr/>
        </p:nvSpPr>
        <p:spPr>
          <a:xfrm>
            <a:off x="6602164" y="2603450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K-6-text-66"/>
          <p:cNvSpPr/>
          <p:nvPr/>
        </p:nvSpPr>
        <p:spPr>
          <a:xfrm>
            <a:off x="6659314" y="2603450"/>
            <a:ext cx="128588" cy="1123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b="1" kern="0" spc="30" dirty="0">
                <a:solidFill>
                  <a:srgbClr val="15803D"/>
                </a:solidFill>
              </a:rPr>
              <a:t>GET</a:t>
            </a:r>
            <a:endParaRPr lang="en-US" sz="525" dirty="0"/>
          </a:p>
        </p:txBody>
      </p:sp>
      <p:sp>
        <p:nvSpPr>
          <p:cNvPr id="68" name="SK-6-text-67"/>
          <p:cNvSpPr/>
          <p:nvPr/>
        </p:nvSpPr>
        <p:spPr>
          <a:xfrm>
            <a:off x="6921252" y="2599730"/>
            <a:ext cx="131064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/api/clients</a:t>
            </a:r>
            <a:endParaRPr lang="en-US" sz="675" dirty="0"/>
          </a:p>
        </p:txBody>
      </p:sp>
      <p:sp>
        <p:nvSpPr>
          <p:cNvPr id="69" name="SK-6-text-68"/>
          <p:cNvSpPr/>
          <p:nvPr/>
        </p:nvSpPr>
        <p:spPr>
          <a:xfrm>
            <a:off x="7549902" y="2571155"/>
            <a:ext cx="268224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liste des clients</a:t>
            </a:r>
            <a:endParaRPr lang="en-US" sz="900" dirty="0"/>
          </a:p>
        </p:txBody>
      </p:sp>
      <p:sp>
        <p:nvSpPr>
          <p:cNvPr id="70" name="SK-6-textBg-69"/>
          <p:cNvSpPr/>
          <p:nvPr/>
        </p:nvSpPr>
        <p:spPr>
          <a:xfrm>
            <a:off x="6602164" y="2782491"/>
            <a:ext cx="285750" cy="112365"/>
          </a:xfrm>
          <a:prstGeom prst="roundRect">
            <a:avLst>
              <a:gd name="adj" fmla="val 16954"/>
            </a:avLst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K-6-text-70"/>
          <p:cNvSpPr/>
          <p:nvPr/>
        </p:nvSpPr>
        <p:spPr>
          <a:xfrm>
            <a:off x="6659314" y="2782491"/>
            <a:ext cx="192024" cy="1123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b="1" kern="0" spc="30" dirty="0">
                <a:solidFill>
                  <a:srgbClr val="1D4ED8"/>
                </a:solidFill>
              </a:rPr>
              <a:t>POST</a:t>
            </a:r>
            <a:endParaRPr lang="en-US" sz="525" dirty="0"/>
          </a:p>
        </p:txBody>
      </p:sp>
      <p:sp>
        <p:nvSpPr>
          <p:cNvPr id="72" name="SK-6-text-71"/>
          <p:cNvSpPr/>
          <p:nvPr/>
        </p:nvSpPr>
        <p:spPr>
          <a:xfrm>
            <a:off x="6964114" y="2778770"/>
            <a:ext cx="110490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/api/devis</a:t>
            </a:r>
            <a:endParaRPr lang="en-US" sz="675" dirty="0"/>
          </a:p>
        </p:txBody>
      </p:sp>
      <p:sp>
        <p:nvSpPr>
          <p:cNvPr id="73" name="SK-6-text-72"/>
          <p:cNvSpPr/>
          <p:nvPr/>
        </p:nvSpPr>
        <p:spPr>
          <a:xfrm>
            <a:off x="7497514" y="2750195"/>
            <a:ext cx="227076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créer un devis</a:t>
            </a:r>
            <a:endParaRPr lang="en-US" sz="900" dirty="0"/>
          </a:p>
        </p:txBody>
      </p:sp>
      <p:sp>
        <p:nvSpPr>
          <p:cNvPr id="74" name="SK-6-textBg-73"/>
          <p:cNvSpPr/>
          <p:nvPr/>
        </p:nvSpPr>
        <p:spPr>
          <a:xfrm>
            <a:off x="6602164" y="2961531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FEF9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K-6-text-74"/>
          <p:cNvSpPr/>
          <p:nvPr/>
        </p:nvSpPr>
        <p:spPr>
          <a:xfrm>
            <a:off x="6659314" y="2961531"/>
            <a:ext cx="128588" cy="1123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b="1" kern="0" spc="30" dirty="0">
                <a:solidFill>
                  <a:srgbClr val="A16207"/>
                </a:solidFill>
              </a:rPr>
              <a:t>PUT</a:t>
            </a:r>
            <a:endParaRPr lang="en-US" sz="525" dirty="0"/>
          </a:p>
        </p:txBody>
      </p:sp>
      <p:sp>
        <p:nvSpPr>
          <p:cNvPr id="76" name="SK-6-text-75"/>
          <p:cNvSpPr/>
          <p:nvPr/>
        </p:nvSpPr>
        <p:spPr>
          <a:xfrm>
            <a:off x="6921252" y="2957810"/>
            <a:ext cx="182499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/api/factures/:id</a:t>
            </a:r>
            <a:endParaRPr lang="en-US" sz="675" dirty="0"/>
          </a:p>
        </p:txBody>
      </p:sp>
      <p:sp>
        <p:nvSpPr>
          <p:cNvPr id="77" name="SK-6-text-76"/>
          <p:cNvSpPr/>
          <p:nvPr/>
        </p:nvSpPr>
        <p:spPr>
          <a:xfrm>
            <a:off x="7788027" y="2929235"/>
            <a:ext cx="377952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mettre à jour une facture</a:t>
            </a:r>
            <a:endParaRPr lang="en-US" sz="900" dirty="0"/>
          </a:p>
        </p:txBody>
      </p:sp>
      <p:sp>
        <p:nvSpPr>
          <p:cNvPr id="78" name="SK-6-textBg-77"/>
          <p:cNvSpPr/>
          <p:nvPr/>
        </p:nvSpPr>
        <p:spPr>
          <a:xfrm>
            <a:off x="6602164" y="3140571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SK-6-text-78"/>
          <p:cNvSpPr/>
          <p:nvPr/>
        </p:nvSpPr>
        <p:spPr>
          <a:xfrm>
            <a:off x="6659314" y="3140571"/>
            <a:ext cx="128588" cy="1123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b="1" kern="0" spc="30" dirty="0">
                <a:solidFill>
                  <a:srgbClr val="15803D"/>
                </a:solidFill>
              </a:rPr>
              <a:t>GET</a:t>
            </a:r>
            <a:endParaRPr lang="en-US" sz="525" dirty="0"/>
          </a:p>
        </p:txBody>
      </p:sp>
      <p:sp>
        <p:nvSpPr>
          <p:cNvPr id="80" name="SK-6-text-79"/>
          <p:cNvSpPr/>
          <p:nvPr/>
        </p:nvSpPr>
        <p:spPr>
          <a:xfrm>
            <a:off x="6921252" y="3136850"/>
            <a:ext cx="192786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/api/pdf/devis/:id</a:t>
            </a:r>
            <a:endParaRPr lang="en-US" sz="675" dirty="0"/>
          </a:p>
        </p:txBody>
      </p:sp>
      <p:sp>
        <p:nvSpPr>
          <p:cNvPr id="81" name="SK-6-text-80"/>
          <p:cNvSpPr/>
          <p:nvPr/>
        </p:nvSpPr>
        <p:spPr>
          <a:xfrm>
            <a:off x="7835652" y="3108275"/>
            <a:ext cx="268224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générer PDF devis</a:t>
            </a:r>
            <a:endParaRPr lang="en-US" sz="900" dirty="0"/>
          </a:p>
        </p:txBody>
      </p:sp>
      <p:sp>
        <p:nvSpPr>
          <p:cNvPr id="82" name="SK-6-textBg-81"/>
          <p:cNvSpPr/>
          <p:nvPr/>
        </p:nvSpPr>
        <p:spPr>
          <a:xfrm>
            <a:off x="6602164" y="3319611"/>
            <a:ext cx="242888" cy="112365"/>
          </a:xfrm>
          <a:prstGeom prst="roundRect">
            <a:avLst>
              <a:gd name="adj" fmla="val 16954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K-6-text-82"/>
          <p:cNvSpPr/>
          <p:nvPr/>
        </p:nvSpPr>
        <p:spPr>
          <a:xfrm>
            <a:off x="6659314" y="3319611"/>
            <a:ext cx="128588" cy="1123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b="1" kern="0" spc="30" dirty="0">
                <a:solidFill>
                  <a:srgbClr val="B91C1C"/>
                </a:solidFill>
              </a:rPr>
              <a:t>DEL</a:t>
            </a:r>
            <a:endParaRPr lang="en-US" sz="525" dirty="0"/>
          </a:p>
        </p:txBody>
      </p:sp>
      <p:sp>
        <p:nvSpPr>
          <p:cNvPr id="84" name="SK-6-text-83"/>
          <p:cNvSpPr/>
          <p:nvPr/>
        </p:nvSpPr>
        <p:spPr>
          <a:xfrm>
            <a:off x="6921252" y="3315891"/>
            <a:ext cx="172212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F172A"/>
                </a:solidFill>
              </a:rPr>
              <a:t>/api/clients/:id</a:t>
            </a:r>
            <a:endParaRPr lang="en-US" sz="675" dirty="0"/>
          </a:p>
        </p:txBody>
      </p:sp>
      <p:sp>
        <p:nvSpPr>
          <p:cNvPr id="85" name="SK-6-text-84"/>
          <p:cNvSpPr/>
          <p:nvPr/>
        </p:nvSpPr>
        <p:spPr>
          <a:xfrm>
            <a:off x="7740402" y="3287316"/>
            <a:ext cx="295656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supprimer un client</a:t>
            </a:r>
            <a:endParaRPr lang="en-US" sz="900" dirty="0"/>
          </a:p>
        </p:txBody>
      </p:sp>
      <p:sp>
        <p:nvSpPr>
          <p:cNvPr id="86" name="SK-6-text-85"/>
          <p:cNvSpPr/>
          <p:nvPr/>
        </p:nvSpPr>
        <p:spPr>
          <a:xfrm>
            <a:off x="6797427" y="3494931"/>
            <a:ext cx="89916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600" dirty="0">
                <a:solidFill>
                  <a:srgbClr val="94A3B8"/>
                </a:solidFill>
              </a:rPr>
              <a:t>Swagger :</a:t>
            </a:r>
            <a:endParaRPr lang="en-US" sz="600" dirty="0"/>
          </a:p>
        </p:txBody>
      </p:sp>
      <p:sp>
        <p:nvSpPr>
          <p:cNvPr id="87" name="SK-6-text-86"/>
          <p:cNvSpPr/>
          <p:nvPr/>
        </p:nvSpPr>
        <p:spPr>
          <a:xfrm>
            <a:off x="7302252" y="3494931"/>
            <a:ext cx="379476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600" dirty="0">
                <a:solidFill>
                  <a:srgbClr val="0EA5E9"/>
                </a:solidFill>
              </a:rPr>
              <a:t>fmabattage-management-app-1.onrender.com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51496"/>
            <a:ext cx="4328220" cy="2517577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65796"/>
            <a:ext cx="4099620" cy="333375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399133"/>
            <a:ext cx="228600" cy="190500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813471"/>
            <a:ext cx="1992660" cy="775097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2760" y="1813471"/>
            <a:ext cx="1992660" cy="775097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702868"/>
            <a:ext cx="1992660" cy="775097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2760" y="2702868"/>
            <a:ext cx="1992660" cy="775097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959572"/>
            <a:ext cx="4328220" cy="2517577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73872"/>
            <a:ext cx="4099620" cy="333375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107210"/>
            <a:ext cx="228600" cy="190500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597747"/>
            <a:ext cx="619125" cy="209550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1125" y="4597747"/>
            <a:ext cx="619125" cy="209550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76450" y="4597747"/>
            <a:ext cx="485775" cy="209550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38425" y="4597747"/>
            <a:ext cx="685800" cy="209550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0425" y="4597747"/>
            <a:ext cx="752475" cy="20955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883497"/>
            <a:ext cx="619125" cy="209550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81125" y="4883497"/>
            <a:ext cx="685800" cy="209550"/>
          </a:xfrm>
          <a:prstGeom prst="rect">
            <a:avLst/>
          </a:prstGeom>
        </p:spPr>
      </p:pic>
      <p:pic>
        <p:nvPicPr>
          <p:cNvPr id="22" name="SK-7-img-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3125" y="4883497"/>
            <a:ext cx="485775" cy="209550"/>
          </a:xfrm>
          <a:prstGeom prst="rect">
            <a:avLst/>
          </a:prstGeom>
        </p:spPr>
      </p:pic>
      <p:pic>
        <p:nvPicPr>
          <p:cNvPr id="23" name="SK-7-img-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28320" y="1251496"/>
            <a:ext cx="6492180" cy="2517577"/>
          </a:xfrm>
          <a:prstGeom prst="rect">
            <a:avLst/>
          </a:prstGeom>
        </p:spPr>
      </p:pic>
      <p:pic>
        <p:nvPicPr>
          <p:cNvPr id="24" name="SK-7-img-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42620" y="1365796"/>
            <a:ext cx="6263580" cy="333375"/>
          </a:xfrm>
          <a:prstGeom prst="rect">
            <a:avLst/>
          </a:prstGeom>
        </p:spPr>
      </p:pic>
      <p:pic>
        <p:nvPicPr>
          <p:cNvPr id="25" name="SK-7-img-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42620" y="1399133"/>
            <a:ext cx="228600" cy="190500"/>
          </a:xfrm>
          <a:prstGeom prst="rect">
            <a:avLst/>
          </a:prstGeom>
        </p:spPr>
      </p:pic>
      <p:pic>
        <p:nvPicPr>
          <p:cNvPr id="26" name="SK-7-img-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42620" y="1813471"/>
            <a:ext cx="3084165" cy="328613"/>
          </a:xfrm>
          <a:prstGeom prst="rect">
            <a:avLst/>
          </a:prstGeom>
        </p:spPr>
      </p:pic>
      <p:pic>
        <p:nvPicPr>
          <p:cNvPr id="27" name="SK-7-img-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22035" y="1813471"/>
            <a:ext cx="3084165" cy="328613"/>
          </a:xfrm>
          <a:prstGeom prst="rect">
            <a:avLst/>
          </a:prstGeom>
        </p:spPr>
      </p:pic>
      <p:pic>
        <p:nvPicPr>
          <p:cNvPr id="28" name="SK-7-img-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42620" y="2237333"/>
            <a:ext cx="3084165" cy="328613"/>
          </a:xfrm>
          <a:prstGeom prst="rect">
            <a:avLst/>
          </a:prstGeom>
        </p:spPr>
      </p:pic>
      <p:pic>
        <p:nvPicPr>
          <p:cNvPr id="29" name="SK-7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22035" y="2237333"/>
            <a:ext cx="3084165" cy="328613"/>
          </a:xfrm>
          <a:prstGeom prst="rect">
            <a:avLst/>
          </a:prstGeom>
        </p:spPr>
      </p:pic>
      <p:pic>
        <p:nvPicPr>
          <p:cNvPr id="30" name="SK-7-img-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42620" y="2661196"/>
            <a:ext cx="3084165" cy="328613"/>
          </a:xfrm>
          <a:prstGeom prst="rect">
            <a:avLst/>
          </a:prstGeom>
        </p:spPr>
      </p:pic>
      <p:pic>
        <p:nvPicPr>
          <p:cNvPr id="31" name="SK-7-img-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22035" y="2661196"/>
            <a:ext cx="3084165" cy="328613"/>
          </a:xfrm>
          <a:prstGeom prst="rect">
            <a:avLst/>
          </a:prstGeom>
        </p:spPr>
      </p:pic>
      <p:pic>
        <p:nvPicPr>
          <p:cNvPr id="32" name="SK-7-img-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28320" y="3959572"/>
            <a:ext cx="6492180" cy="2517577"/>
          </a:xfrm>
          <a:prstGeom prst="rect">
            <a:avLst/>
          </a:prstGeom>
        </p:spPr>
      </p:pic>
      <p:pic>
        <p:nvPicPr>
          <p:cNvPr id="33" name="SK-7-img-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42620" y="4073872"/>
            <a:ext cx="6263580" cy="333375"/>
          </a:xfrm>
          <a:prstGeom prst="rect">
            <a:avLst/>
          </a:prstGeom>
        </p:spPr>
      </p:pic>
      <p:pic>
        <p:nvPicPr>
          <p:cNvPr id="34" name="SK-7-img-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42620" y="4107210"/>
            <a:ext cx="228600" cy="190500"/>
          </a:xfrm>
          <a:prstGeom prst="rect">
            <a:avLst/>
          </a:prstGeom>
        </p:spPr>
      </p:pic>
      <p:pic>
        <p:nvPicPr>
          <p:cNvPr id="35" name="SK-7-img-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42620" y="4521547"/>
            <a:ext cx="800100" cy="261937"/>
          </a:xfrm>
          <a:prstGeom prst="rect">
            <a:avLst/>
          </a:prstGeom>
        </p:spPr>
      </p:pic>
      <p:pic>
        <p:nvPicPr>
          <p:cNvPr id="36" name="SK-7-img-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57020" y="4521547"/>
            <a:ext cx="704850" cy="261937"/>
          </a:xfrm>
          <a:prstGeom prst="rect">
            <a:avLst/>
          </a:prstGeom>
        </p:spPr>
      </p:pic>
      <p:pic>
        <p:nvPicPr>
          <p:cNvPr id="37" name="SK-7-img-36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76170" y="4521547"/>
            <a:ext cx="962025" cy="261937"/>
          </a:xfrm>
          <a:prstGeom prst="rect">
            <a:avLst/>
          </a:prstGeom>
        </p:spPr>
      </p:pic>
      <p:pic>
        <p:nvPicPr>
          <p:cNvPr id="38" name="SK-7-img-37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52495" y="4521547"/>
            <a:ext cx="1000125" cy="261937"/>
          </a:xfrm>
          <a:prstGeom prst="rect">
            <a:avLst/>
          </a:prstGeom>
        </p:spPr>
      </p:pic>
      <p:pic>
        <p:nvPicPr>
          <p:cNvPr id="39" name="SK-7-img-3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42620" y="4878735"/>
            <a:ext cx="6263580" cy="628650"/>
          </a:xfrm>
          <a:prstGeom prst="rect">
            <a:avLst/>
          </a:prstGeom>
        </p:spPr>
      </p:pic>
      <p:sp>
        <p:nvSpPr>
          <p:cNvPr id="40" name="SK-7-text-3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41" name="SK-7-text-40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Front-end</a:t>
            </a:r>
            <a:endParaRPr lang="en-US" sz="2400" dirty="0"/>
          </a:p>
        </p:txBody>
      </p:sp>
      <p:sp>
        <p:nvSpPr>
          <p:cNvPr id="42" name="SK-7-text-41"/>
          <p:cNvSpPr/>
          <p:nvPr/>
        </p:nvSpPr>
        <p:spPr>
          <a:xfrm>
            <a:off x="1028700" y="1365796"/>
            <a:ext cx="31718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Technique</a:t>
            </a:r>
            <a:endParaRPr lang="en-US" sz="1350" dirty="0"/>
          </a:p>
        </p:txBody>
      </p:sp>
      <p:sp>
        <p:nvSpPr>
          <p:cNvPr id="43" name="SK-7-text-42"/>
          <p:cNvSpPr/>
          <p:nvPr/>
        </p:nvSpPr>
        <p:spPr>
          <a:xfrm>
            <a:off x="781050" y="1908721"/>
            <a:ext cx="18783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Vanilla JS</a:t>
            </a:r>
            <a:endParaRPr lang="en-US" sz="1050" dirty="0"/>
          </a:p>
        </p:txBody>
      </p:sp>
      <p:sp>
        <p:nvSpPr>
          <p:cNvPr id="44" name="SK-7-text-43"/>
          <p:cNvSpPr/>
          <p:nvPr/>
        </p:nvSpPr>
        <p:spPr>
          <a:xfrm>
            <a:off x="781050" y="2146846"/>
            <a:ext cx="180216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métier sans framework lourd.</a:t>
            </a:r>
            <a:endParaRPr lang="en-US" sz="975" dirty="0"/>
          </a:p>
        </p:txBody>
      </p:sp>
      <p:sp>
        <p:nvSpPr>
          <p:cNvPr id="45" name="SK-7-text-44"/>
          <p:cNvSpPr/>
          <p:nvPr/>
        </p:nvSpPr>
        <p:spPr>
          <a:xfrm>
            <a:off x="2888010" y="1908721"/>
            <a:ext cx="18783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Fetch API</a:t>
            </a:r>
            <a:endParaRPr lang="en-US" sz="1050" dirty="0"/>
          </a:p>
        </p:txBody>
      </p:sp>
      <p:sp>
        <p:nvSpPr>
          <p:cNvPr id="46" name="SK-7-text-45"/>
          <p:cNvSpPr/>
          <p:nvPr/>
        </p:nvSpPr>
        <p:spPr>
          <a:xfrm>
            <a:off x="2888010" y="2146846"/>
            <a:ext cx="180216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Requêtes asynchrones vers l'API REST.</a:t>
            </a:r>
            <a:endParaRPr lang="en-US" sz="975" dirty="0"/>
          </a:p>
        </p:txBody>
      </p:sp>
      <p:sp>
        <p:nvSpPr>
          <p:cNvPr id="47" name="SK-7-text-46"/>
          <p:cNvSpPr/>
          <p:nvPr/>
        </p:nvSpPr>
        <p:spPr>
          <a:xfrm>
            <a:off x="781050" y="2798118"/>
            <a:ext cx="21564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CSS Grid/Flex</a:t>
            </a:r>
            <a:endParaRPr lang="en-US" sz="1050" dirty="0"/>
          </a:p>
        </p:txBody>
      </p:sp>
      <p:sp>
        <p:nvSpPr>
          <p:cNvPr id="48" name="SK-7-text-47"/>
          <p:cNvSpPr/>
          <p:nvPr/>
        </p:nvSpPr>
        <p:spPr>
          <a:xfrm>
            <a:off x="781050" y="3036243"/>
            <a:ext cx="180216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Mises en page modernes et structurées.</a:t>
            </a:r>
            <a:endParaRPr lang="en-US" sz="975" dirty="0"/>
          </a:p>
        </p:txBody>
      </p:sp>
      <p:sp>
        <p:nvSpPr>
          <p:cNvPr id="49" name="SK-7-text-48"/>
          <p:cNvSpPr/>
          <p:nvPr/>
        </p:nvSpPr>
        <p:spPr>
          <a:xfrm>
            <a:off x="2888010" y="2798118"/>
            <a:ext cx="18783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</a:rPr>
              <a:t>HTML5</a:t>
            </a:r>
            <a:endParaRPr lang="en-US" sz="1050" dirty="0"/>
          </a:p>
        </p:txBody>
      </p:sp>
      <p:sp>
        <p:nvSpPr>
          <p:cNvPr id="50" name="SK-7-text-49"/>
          <p:cNvSpPr/>
          <p:nvPr/>
        </p:nvSpPr>
        <p:spPr>
          <a:xfrm>
            <a:off x="2888010" y="3036243"/>
            <a:ext cx="180216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sémantique et accessible.</a:t>
            </a:r>
            <a:endParaRPr lang="en-US" sz="975" dirty="0"/>
          </a:p>
        </p:txBody>
      </p:sp>
      <p:sp>
        <p:nvSpPr>
          <p:cNvPr id="51" name="SK-7-text-50"/>
          <p:cNvSpPr/>
          <p:nvPr/>
        </p:nvSpPr>
        <p:spPr>
          <a:xfrm>
            <a:off x="1028700" y="4073872"/>
            <a:ext cx="35833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Métier</a:t>
            </a:r>
            <a:endParaRPr lang="en-US" sz="1350" dirty="0"/>
          </a:p>
        </p:txBody>
      </p:sp>
      <p:sp>
        <p:nvSpPr>
          <p:cNvPr id="52" name="SK-7-text-51"/>
          <p:cNvSpPr/>
          <p:nvPr/>
        </p:nvSpPr>
        <p:spPr>
          <a:xfrm>
            <a:off x="762000" y="4597747"/>
            <a:ext cx="799983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Accueil</a:t>
            </a:r>
            <a:endParaRPr lang="en-US" sz="900" dirty="0"/>
          </a:p>
        </p:txBody>
      </p:sp>
      <p:sp>
        <p:nvSpPr>
          <p:cNvPr id="53" name="SK-7-text-52"/>
          <p:cNvSpPr/>
          <p:nvPr/>
        </p:nvSpPr>
        <p:spPr>
          <a:xfrm>
            <a:off x="1457325" y="4597747"/>
            <a:ext cx="799983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Clients</a:t>
            </a:r>
            <a:endParaRPr lang="en-US" sz="900" dirty="0"/>
          </a:p>
        </p:txBody>
      </p:sp>
      <p:sp>
        <p:nvSpPr>
          <p:cNvPr id="54" name="SK-7-text-53"/>
          <p:cNvSpPr/>
          <p:nvPr/>
        </p:nvSpPr>
        <p:spPr>
          <a:xfrm>
            <a:off x="2152650" y="4597747"/>
            <a:ext cx="54684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Devis</a:t>
            </a:r>
            <a:endParaRPr lang="en-US" sz="900" dirty="0"/>
          </a:p>
        </p:txBody>
      </p:sp>
      <p:sp>
        <p:nvSpPr>
          <p:cNvPr id="55" name="SK-7-text-54"/>
          <p:cNvSpPr/>
          <p:nvPr/>
        </p:nvSpPr>
        <p:spPr>
          <a:xfrm>
            <a:off x="2714625" y="4597747"/>
            <a:ext cx="92964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Factures</a:t>
            </a:r>
            <a:endParaRPr lang="en-US" sz="900" dirty="0"/>
          </a:p>
        </p:txBody>
      </p:sp>
      <p:sp>
        <p:nvSpPr>
          <p:cNvPr id="56" name="SK-7-text-55"/>
          <p:cNvSpPr/>
          <p:nvPr/>
        </p:nvSpPr>
        <p:spPr>
          <a:xfrm>
            <a:off x="3476625" y="4597747"/>
            <a:ext cx="106062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Paiements</a:t>
            </a:r>
            <a:endParaRPr lang="en-US" sz="900" dirty="0"/>
          </a:p>
        </p:txBody>
      </p:sp>
      <p:sp>
        <p:nvSpPr>
          <p:cNvPr id="57" name="SK-7-text-56"/>
          <p:cNvSpPr/>
          <p:nvPr/>
        </p:nvSpPr>
        <p:spPr>
          <a:xfrm>
            <a:off x="762000" y="4883497"/>
            <a:ext cx="799983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Impayés</a:t>
            </a:r>
            <a:endParaRPr lang="en-US" sz="900" dirty="0"/>
          </a:p>
        </p:txBody>
      </p:sp>
      <p:sp>
        <p:nvSpPr>
          <p:cNvPr id="58" name="SK-7-text-57"/>
          <p:cNvSpPr/>
          <p:nvPr/>
        </p:nvSpPr>
        <p:spPr>
          <a:xfrm>
            <a:off x="1457325" y="4883497"/>
            <a:ext cx="92964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Dépenses</a:t>
            </a:r>
            <a:endParaRPr lang="en-US" sz="900" dirty="0"/>
          </a:p>
        </p:txBody>
      </p:sp>
      <p:sp>
        <p:nvSpPr>
          <p:cNvPr id="59" name="SK-7-text-58"/>
          <p:cNvSpPr/>
          <p:nvPr/>
        </p:nvSpPr>
        <p:spPr>
          <a:xfrm>
            <a:off x="2219325" y="4883497"/>
            <a:ext cx="54684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Stats</a:t>
            </a:r>
            <a:endParaRPr lang="en-US" sz="900" dirty="0"/>
          </a:p>
        </p:txBody>
      </p:sp>
      <p:sp>
        <p:nvSpPr>
          <p:cNvPr id="60" name="SK-7-text-59"/>
          <p:cNvSpPr/>
          <p:nvPr/>
        </p:nvSpPr>
        <p:spPr>
          <a:xfrm>
            <a:off x="5585520" y="1365796"/>
            <a:ext cx="56407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Fonctionnalités &amp; Interface</a:t>
            </a:r>
            <a:endParaRPr lang="en-US" sz="1350" dirty="0"/>
          </a:p>
        </p:txBody>
      </p:sp>
      <p:sp>
        <p:nvSpPr>
          <p:cNvPr id="61" name="SK-7-text-60"/>
          <p:cNvSpPr/>
          <p:nvPr/>
        </p:nvSpPr>
        <p:spPr>
          <a:xfrm>
            <a:off x="5337870" y="1813471"/>
            <a:ext cx="4097701" cy="328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dynamique</a:t>
            </a:r>
            <a:endParaRPr lang="en-US" sz="1125" dirty="0"/>
          </a:p>
        </p:txBody>
      </p:sp>
      <p:sp>
        <p:nvSpPr>
          <p:cNvPr id="62" name="SK-7-text-61"/>
          <p:cNvSpPr/>
          <p:nvPr/>
        </p:nvSpPr>
        <p:spPr>
          <a:xfrm>
            <a:off x="8517285" y="1813471"/>
            <a:ext cx="3674715" cy="328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statuts (couleurs)</a:t>
            </a:r>
            <a:endParaRPr lang="en-US" sz="1125" dirty="0"/>
          </a:p>
        </p:txBody>
      </p:sp>
      <p:sp>
        <p:nvSpPr>
          <p:cNvPr id="63" name="SK-7-text-62"/>
          <p:cNvSpPr/>
          <p:nvPr/>
        </p:nvSpPr>
        <p:spPr>
          <a:xfrm>
            <a:off x="5337870" y="2237333"/>
            <a:ext cx="4419421" cy="328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Formulaires avec validation</a:t>
            </a:r>
            <a:endParaRPr lang="en-US" sz="1125" dirty="0"/>
          </a:p>
        </p:txBody>
      </p:sp>
      <p:sp>
        <p:nvSpPr>
          <p:cNvPr id="64" name="SK-7-text-63"/>
          <p:cNvSpPr/>
          <p:nvPr/>
        </p:nvSpPr>
        <p:spPr>
          <a:xfrm>
            <a:off x="8517285" y="2237333"/>
            <a:ext cx="3674715" cy="328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de confirmation (UX)</a:t>
            </a:r>
            <a:endParaRPr lang="en-US" sz="1125" dirty="0"/>
          </a:p>
        </p:txBody>
      </p:sp>
      <p:sp>
        <p:nvSpPr>
          <p:cNvPr id="65" name="SK-7-text-64"/>
          <p:cNvSpPr/>
          <p:nvPr/>
        </p:nvSpPr>
        <p:spPr>
          <a:xfrm>
            <a:off x="5337870" y="2661196"/>
            <a:ext cx="4097701" cy="328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 en un clic</a:t>
            </a:r>
            <a:endParaRPr lang="en-US" sz="1125" dirty="0"/>
          </a:p>
        </p:txBody>
      </p:sp>
      <p:sp>
        <p:nvSpPr>
          <p:cNvPr id="66" name="SK-7-text-65"/>
          <p:cNvSpPr/>
          <p:nvPr/>
        </p:nvSpPr>
        <p:spPr>
          <a:xfrm>
            <a:off x="8517285" y="2661196"/>
            <a:ext cx="3615121" cy="328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Exports de données CSV</a:t>
            </a:r>
            <a:endParaRPr lang="en-US" sz="1125" dirty="0"/>
          </a:p>
        </p:txBody>
      </p:sp>
      <p:sp>
        <p:nvSpPr>
          <p:cNvPr id="67" name="SK-7-text-66"/>
          <p:cNvSpPr/>
          <p:nvPr/>
        </p:nvSpPr>
        <p:spPr>
          <a:xfrm>
            <a:off x="5585520" y="4073872"/>
            <a:ext cx="44062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Principes UX &amp; Design</a:t>
            </a:r>
            <a:endParaRPr lang="en-US" sz="1350" dirty="0"/>
          </a:p>
        </p:txBody>
      </p:sp>
      <p:sp>
        <p:nvSpPr>
          <p:cNvPr id="68" name="SK-7-text-67"/>
          <p:cNvSpPr/>
          <p:nvPr/>
        </p:nvSpPr>
        <p:spPr>
          <a:xfrm>
            <a:off x="5356920" y="4521547"/>
            <a:ext cx="1137557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Simplicité</a:t>
            </a:r>
            <a:endParaRPr lang="en-US" sz="975" dirty="0"/>
          </a:p>
        </p:txBody>
      </p:sp>
      <p:sp>
        <p:nvSpPr>
          <p:cNvPr id="69" name="SK-7-text-68"/>
          <p:cNvSpPr/>
          <p:nvPr/>
        </p:nvSpPr>
        <p:spPr>
          <a:xfrm>
            <a:off x="6271320" y="4521547"/>
            <a:ext cx="1080186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Lisibilité</a:t>
            </a:r>
            <a:endParaRPr lang="en-US" sz="975" dirty="0"/>
          </a:p>
        </p:txBody>
      </p:sp>
      <p:sp>
        <p:nvSpPr>
          <p:cNvPr id="70" name="SK-7-text-69"/>
          <p:cNvSpPr/>
          <p:nvPr/>
        </p:nvSpPr>
        <p:spPr>
          <a:xfrm>
            <a:off x="7090470" y="4521547"/>
            <a:ext cx="1322296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Bureautique</a:t>
            </a:r>
            <a:endParaRPr lang="en-US" sz="975" dirty="0"/>
          </a:p>
        </p:txBody>
      </p:sp>
      <p:sp>
        <p:nvSpPr>
          <p:cNvPr id="71" name="SK-7-text-70"/>
          <p:cNvSpPr/>
          <p:nvPr/>
        </p:nvSpPr>
        <p:spPr>
          <a:xfrm>
            <a:off x="8166795" y="4521547"/>
            <a:ext cx="1337092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75" dirty="0"/>
          </a:p>
        </p:txBody>
      </p:sp>
      <p:sp>
        <p:nvSpPr>
          <p:cNvPr id="72" name="SK-7-text-71"/>
          <p:cNvSpPr/>
          <p:nvPr/>
        </p:nvSpPr>
        <p:spPr>
          <a:xfrm>
            <a:off x="5356920" y="4993035"/>
            <a:ext cx="603498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"Le choix du JavaScript Vanilla garantit une application légère, facile à maintenir pour une micro-entreprise, tout en offrant une réactivité optimale via l'API REST."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11049000" cy="641896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27671"/>
            <a:ext cx="3127921" cy="2743646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280071"/>
            <a:ext cx="419100" cy="41910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88" y="1394371"/>
            <a:ext cx="238125" cy="19050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161133"/>
            <a:ext cx="178594" cy="152995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646908"/>
            <a:ext cx="178594" cy="164753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132683"/>
            <a:ext cx="178594" cy="164753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89921" y="1127671"/>
            <a:ext cx="3128070" cy="2743646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0421" y="1280071"/>
            <a:ext cx="419100" cy="419100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70908" y="1394371"/>
            <a:ext cx="238125" cy="190500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0421" y="2161133"/>
            <a:ext cx="178594" cy="152995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80421" y="2646908"/>
            <a:ext cx="178594" cy="142875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80421" y="2918371"/>
            <a:ext cx="178594" cy="142875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023717"/>
            <a:ext cx="3127921" cy="2529483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176117"/>
            <a:ext cx="419100" cy="419100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2488" y="4290417"/>
            <a:ext cx="238125" cy="190500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057180"/>
            <a:ext cx="178594" cy="142875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328642"/>
            <a:ext cx="178594" cy="142875"/>
          </a:xfrm>
          <a:prstGeom prst="rect">
            <a:avLst/>
          </a:prstGeom>
        </p:spPr>
      </p:pic>
      <p:pic>
        <p:nvPicPr>
          <p:cNvPr id="22" name="SK-8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814417"/>
            <a:ext cx="178594" cy="164753"/>
          </a:xfrm>
          <a:prstGeom prst="rect">
            <a:avLst/>
          </a:prstGeom>
        </p:spPr>
      </p:pic>
      <p:pic>
        <p:nvPicPr>
          <p:cNvPr id="23" name="SK-8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89921" y="4023717"/>
            <a:ext cx="3128070" cy="2529483"/>
          </a:xfrm>
          <a:prstGeom prst="rect">
            <a:avLst/>
          </a:prstGeom>
        </p:spPr>
      </p:pic>
      <p:pic>
        <p:nvPicPr>
          <p:cNvPr id="24" name="SK-8-img-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0421" y="4176117"/>
            <a:ext cx="419100" cy="419100"/>
          </a:xfrm>
          <a:prstGeom prst="rect">
            <a:avLst/>
          </a:prstGeom>
        </p:spPr>
      </p:pic>
      <p:pic>
        <p:nvPicPr>
          <p:cNvPr id="25" name="SK-8-img-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70908" y="4290417"/>
            <a:ext cx="238125" cy="190500"/>
          </a:xfrm>
          <a:prstGeom prst="rect">
            <a:avLst/>
          </a:prstGeom>
        </p:spPr>
      </p:pic>
      <p:pic>
        <p:nvPicPr>
          <p:cNvPr id="26" name="SK-8-img-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0421" y="5057180"/>
            <a:ext cx="178594" cy="152995"/>
          </a:xfrm>
          <a:prstGeom prst="rect">
            <a:avLst/>
          </a:prstGeom>
        </p:spPr>
      </p:pic>
      <p:pic>
        <p:nvPicPr>
          <p:cNvPr id="27" name="SK-8-img-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0421" y="5542955"/>
            <a:ext cx="178594" cy="152995"/>
          </a:xfrm>
          <a:prstGeom prst="rect">
            <a:avLst/>
          </a:prstGeom>
        </p:spPr>
      </p:pic>
      <p:pic>
        <p:nvPicPr>
          <p:cNvPr id="28" name="SK-8-img-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80421" y="6028730"/>
            <a:ext cx="178594" cy="142875"/>
          </a:xfrm>
          <a:prstGeom prst="rect">
            <a:avLst/>
          </a:prstGeom>
        </p:spPr>
      </p:pic>
      <p:pic>
        <p:nvPicPr>
          <p:cNvPr id="29" name="SK-8-img-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22790" y="1127671"/>
            <a:ext cx="4297710" cy="1714500"/>
          </a:xfrm>
          <a:prstGeom prst="rect">
            <a:avLst/>
          </a:prstGeom>
        </p:spPr>
      </p:pic>
      <p:pic>
        <p:nvPicPr>
          <p:cNvPr id="30" name="SK-8-img-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22790" y="1127671"/>
            <a:ext cx="4297710" cy="1714500"/>
          </a:xfrm>
          <a:prstGeom prst="rect">
            <a:avLst/>
          </a:prstGeom>
        </p:spPr>
      </p:pic>
      <p:pic>
        <p:nvPicPr>
          <p:cNvPr id="31" name="SK-8-img-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22790" y="3070771"/>
            <a:ext cx="4297710" cy="3482429"/>
          </a:xfrm>
          <a:prstGeom prst="rect">
            <a:avLst/>
          </a:prstGeom>
        </p:spPr>
      </p:pic>
      <p:pic>
        <p:nvPicPr>
          <p:cNvPr id="32" name="SK-8-img-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1390" y="3642271"/>
            <a:ext cx="3840510" cy="285750"/>
          </a:xfrm>
          <a:prstGeom prst="rect">
            <a:avLst/>
          </a:prstGeom>
        </p:spPr>
      </p:pic>
      <p:pic>
        <p:nvPicPr>
          <p:cNvPr id="33" name="SK-8-img-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1390" y="3642271"/>
            <a:ext cx="219075" cy="209550"/>
          </a:xfrm>
          <a:prstGeom prst="rect">
            <a:avLst/>
          </a:prstGeom>
        </p:spPr>
      </p:pic>
      <p:pic>
        <p:nvPicPr>
          <p:cNvPr id="34" name="SK-8-img-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1390" y="4042321"/>
            <a:ext cx="3840510" cy="285750"/>
          </a:xfrm>
          <a:prstGeom prst="rect">
            <a:avLst/>
          </a:prstGeom>
        </p:spPr>
      </p:pic>
      <p:pic>
        <p:nvPicPr>
          <p:cNvPr id="35" name="SK-8-img-3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1390" y="4042321"/>
            <a:ext cx="219075" cy="209550"/>
          </a:xfrm>
          <a:prstGeom prst="rect">
            <a:avLst/>
          </a:prstGeom>
        </p:spPr>
      </p:pic>
      <p:pic>
        <p:nvPicPr>
          <p:cNvPr id="36" name="SK-8-img-3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51390" y="4442371"/>
            <a:ext cx="3840510" cy="285750"/>
          </a:xfrm>
          <a:prstGeom prst="rect">
            <a:avLst/>
          </a:prstGeom>
        </p:spPr>
      </p:pic>
      <p:pic>
        <p:nvPicPr>
          <p:cNvPr id="37" name="SK-8-img-3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1390" y="4442371"/>
            <a:ext cx="219075" cy="209550"/>
          </a:xfrm>
          <a:prstGeom prst="rect">
            <a:avLst/>
          </a:prstGeom>
        </p:spPr>
      </p:pic>
      <p:pic>
        <p:nvPicPr>
          <p:cNvPr id="38" name="SK-8-img-3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1390" y="4842421"/>
            <a:ext cx="219075" cy="209550"/>
          </a:xfrm>
          <a:prstGeom prst="rect">
            <a:avLst/>
          </a:prstGeom>
        </p:spPr>
      </p:pic>
      <p:sp>
        <p:nvSpPr>
          <p:cNvPr id="39" name="SK-8-text-3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40" name="SK-8-text-39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Fonctionnalités Métier</a:t>
            </a:r>
            <a:endParaRPr lang="en-US" sz="2400" dirty="0"/>
          </a:p>
        </p:txBody>
      </p:sp>
      <p:sp>
        <p:nvSpPr>
          <p:cNvPr id="41" name="SK-8-text-40"/>
          <p:cNvSpPr/>
          <p:nvPr/>
        </p:nvSpPr>
        <p:spPr>
          <a:xfrm>
            <a:off x="762000" y="1794421"/>
            <a:ext cx="283740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&amp; Devis</a:t>
            </a:r>
            <a:endParaRPr lang="en-US" sz="1425" dirty="0"/>
          </a:p>
        </p:txBody>
      </p:sp>
      <p:sp>
        <p:nvSpPr>
          <p:cNvPr id="42" name="SK-8-text-41"/>
          <p:cNvSpPr/>
          <p:nvPr/>
        </p:nvSpPr>
        <p:spPr>
          <a:xfrm>
            <a:off x="1016794" y="2161133"/>
            <a:ext cx="274692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Fiches clients avec historique complet</a:t>
            </a:r>
            <a:endParaRPr lang="en-US" sz="1125" dirty="0"/>
          </a:p>
        </p:txBody>
      </p:sp>
      <p:sp>
        <p:nvSpPr>
          <p:cNvPr id="43" name="SK-8-text-42"/>
          <p:cNvSpPr/>
          <p:nvPr/>
        </p:nvSpPr>
        <p:spPr>
          <a:xfrm>
            <a:off x="1016794" y="2646908"/>
            <a:ext cx="274692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auto. (Prestations + Déplacement)</a:t>
            </a:r>
            <a:endParaRPr lang="en-US" sz="1125" dirty="0"/>
          </a:p>
        </p:txBody>
      </p:sp>
      <p:sp>
        <p:nvSpPr>
          <p:cNvPr id="44" name="SK-8-text-43"/>
          <p:cNvSpPr/>
          <p:nvPr/>
        </p:nvSpPr>
        <p:spPr>
          <a:xfrm>
            <a:off x="1016794" y="3132683"/>
            <a:ext cx="274692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statuts (En attente / Refusé)</a:t>
            </a:r>
            <a:endParaRPr lang="en-US" sz="1125" dirty="0"/>
          </a:p>
        </p:txBody>
      </p:sp>
      <p:sp>
        <p:nvSpPr>
          <p:cNvPr id="45" name="SK-8-text-44"/>
          <p:cNvSpPr/>
          <p:nvPr/>
        </p:nvSpPr>
        <p:spPr>
          <a:xfrm>
            <a:off x="4080421" y="1794421"/>
            <a:ext cx="378237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Facturation Agile</a:t>
            </a:r>
            <a:endParaRPr lang="en-US" sz="1425" dirty="0"/>
          </a:p>
        </p:txBody>
      </p:sp>
      <p:sp>
        <p:nvSpPr>
          <p:cNvPr id="46" name="SK-8-text-45"/>
          <p:cNvSpPr/>
          <p:nvPr/>
        </p:nvSpPr>
        <p:spPr>
          <a:xfrm>
            <a:off x="4335214" y="2161133"/>
            <a:ext cx="274707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1-clic Devis vers Facture</a:t>
            </a:r>
            <a:endParaRPr lang="en-US" sz="1125" dirty="0"/>
          </a:p>
        </p:txBody>
      </p:sp>
      <p:sp>
        <p:nvSpPr>
          <p:cNvPr id="47" name="SK-8-text-46"/>
          <p:cNvSpPr/>
          <p:nvPr/>
        </p:nvSpPr>
        <p:spPr>
          <a:xfrm>
            <a:off x="4335214" y="2646908"/>
            <a:ext cx="53149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Numérotation séquentielle auto.</a:t>
            </a:r>
            <a:endParaRPr lang="en-US" sz="1125" dirty="0"/>
          </a:p>
        </p:txBody>
      </p:sp>
      <p:sp>
        <p:nvSpPr>
          <p:cNvPr id="48" name="SK-8-text-47"/>
          <p:cNvSpPr/>
          <p:nvPr/>
        </p:nvSpPr>
        <p:spPr>
          <a:xfrm>
            <a:off x="4335214" y="2918371"/>
            <a:ext cx="6172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du reste à payer en temps réel</a:t>
            </a:r>
            <a:endParaRPr lang="en-US" sz="1125" dirty="0"/>
          </a:p>
        </p:txBody>
      </p:sp>
      <p:sp>
        <p:nvSpPr>
          <p:cNvPr id="49" name="SK-8-text-48"/>
          <p:cNvSpPr/>
          <p:nvPr/>
        </p:nvSpPr>
        <p:spPr>
          <a:xfrm>
            <a:off x="762000" y="4690467"/>
            <a:ext cx="356520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&amp; Relances</a:t>
            </a:r>
            <a:endParaRPr lang="en-US" sz="1425" dirty="0"/>
          </a:p>
        </p:txBody>
      </p:sp>
      <p:sp>
        <p:nvSpPr>
          <p:cNvPr id="50" name="SK-8-text-49"/>
          <p:cNvSpPr/>
          <p:nvPr/>
        </p:nvSpPr>
        <p:spPr>
          <a:xfrm>
            <a:off x="1016794" y="5057180"/>
            <a:ext cx="53149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Paiements multiples par facture</a:t>
            </a:r>
            <a:endParaRPr lang="en-US" sz="1125" dirty="0"/>
          </a:p>
        </p:txBody>
      </p:sp>
      <p:sp>
        <p:nvSpPr>
          <p:cNvPr id="51" name="SK-8-text-50"/>
          <p:cNvSpPr/>
          <p:nvPr/>
        </p:nvSpPr>
        <p:spPr>
          <a:xfrm>
            <a:off x="1016794" y="5328642"/>
            <a:ext cx="274692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Relances à 3 niveaux avec pénalités</a:t>
            </a:r>
            <a:endParaRPr lang="en-US" sz="1125" dirty="0"/>
          </a:p>
        </p:txBody>
      </p:sp>
      <p:sp>
        <p:nvSpPr>
          <p:cNvPr id="52" name="SK-8-text-51"/>
          <p:cNvSpPr/>
          <p:nvPr/>
        </p:nvSpPr>
        <p:spPr>
          <a:xfrm>
            <a:off x="1016794" y="5814417"/>
            <a:ext cx="274692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Centralisation des dépenses (carburant)</a:t>
            </a:r>
            <a:endParaRPr lang="en-US" sz="1125" dirty="0"/>
          </a:p>
        </p:txBody>
      </p:sp>
      <p:sp>
        <p:nvSpPr>
          <p:cNvPr id="53" name="SK-8-text-52"/>
          <p:cNvSpPr/>
          <p:nvPr/>
        </p:nvSpPr>
        <p:spPr>
          <a:xfrm>
            <a:off x="4080421" y="4690467"/>
            <a:ext cx="356520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 &amp; Stats</a:t>
            </a:r>
            <a:endParaRPr lang="en-US" sz="1425" dirty="0"/>
          </a:p>
        </p:txBody>
      </p:sp>
      <p:sp>
        <p:nvSpPr>
          <p:cNvPr id="54" name="SK-8-text-53"/>
          <p:cNvSpPr/>
          <p:nvPr/>
        </p:nvSpPr>
        <p:spPr>
          <a:xfrm>
            <a:off x="4335214" y="5057180"/>
            <a:ext cx="274707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Statistiques de CA mensuel et annuel</a:t>
            </a:r>
            <a:endParaRPr lang="en-US" sz="1125" dirty="0"/>
          </a:p>
        </p:txBody>
      </p:sp>
      <p:sp>
        <p:nvSpPr>
          <p:cNvPr id="55" name="SK-8-text-54"/>
          <p:cNvSpPr/>
          <p:nvPr/>
        </p:nvSpPr>
        <p:spPr>
          <a:xfrm>
            <a:off x="4335214" y="5542955"/>
            <a:ext cx="274707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CSV des factures et dépenses</a:t>
            </a:r>
            <a:endParaRPr lang="en-US" sz="1125" dirty="0"/>
          </a:p>
        </p:txBody>
      </p:sp>
      <p:sp>
        <p:nvSpPr>
          <p:cNvPr id="56" name="SK-8-text-55"/>
          <p:cNvSpPr/>
          <p:nvPr/>
        </p:nvSpPr>
        <p:spPr>
          <a:xfrm>
            <a:off x="4335214" y="6028730"/>
            <a:ext cx="46291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des impayés</a:t>
            </a:r>
            <a:endParaRPr lang="en-US" sz="1125" dirty="0"/>
          </a:p>
        </p:txBody>
      </p:sp>
      <p:sp>
        <p:nvSpPr>
          <p:cNvPr id="57" name="SK-8-text-56"/>
          <p:cNvSpPr/>
          <p:nvPr/>
        </p:nvSpPr>
        <p:spPr>
          <a:xfrm>
            <a:off x="7551390" y="3299371"/>
            <a:ext cx="39167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kern="0" spc="3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DE FLUX RÉEL</a:t>
            </a:r>
            <a:endParaRPr lang="en-US" sz="1200" dirty="0"/>
          </a:p>
        </p:txBody>
      </p:sp>
      <p:sp>
        <p:nvSpPr>
          <p:cNvPr id="58" name="SK-8-text-57"/>
          <p:cNvSpPr/>
          <p:nvPr/>
        </p:nvSpPr>
        <p:spPr>
          <a:xfrm>
            <a:off x="7627590" y="3642271"/>
            <a:ext cx="145774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1</a:t>
            </a:r>
            <a:endParaRPr lang="en-US" sz="900" dirty="0"/>
          </a:p>
        </p:txBody>
      </p:sp>
      <p:sp>
        <p:nvSpPr>
          <p:cNvPr id="59" name="SK-8-text-58"/>
          <p:cNvSpPr/>
          <p:nvPr/>
        </p:nvSpPr>
        <p:spPr>
          <a:xfrm>
            <a:off x="7884765" y="3647033"/>
            <a:ext cx="430723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</a:t>
            </a: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Martin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(Bourg-en-Bresse)</a:t>
            </a:r>
            <a:endParaRPr lang="en-US" sz="1050" dirty="0"/>
          </a:p>
        </p:txBody>
      </p:sp>
      <p:sp>
        <p:nvSpPr>
          <p:cNvPr id="60" name="SK-8-text-59"/>
          <p:cNvSpPr/>
          <p:nvPr/>
        </p:nvSpPr>
        <p:spPr>
          <a:xfrm>
            <a:off x="7627590" y="4042321"/>
            <a:ext cx="145774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  <p:sp>
        <p:nvSpPr>
          <p:cNvPr id="61" name="SK-8-text-60"/>
          <p:cNvSpPr/>
          <p:nvPr/>
        </p:nvSpPr>
        <p:spPr>
          <a:xfrm>
            <a:off x="7884765" y="4047083"/>
            <a:ext cx="430723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</a:t>
            </a: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D-2026-020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(345 €)</a:t>
            </a:r>
            <a:endParaRPr lang="en-US" sz="1050" dirty="0"/>
          </a:p>
        </p:txBody>
      </p:sp>
      <p:sp>
        <p:nvSpPr>
          <p:cNvPr id="62" name="SK-8-text-61"/>
          <p:cNvSpPr/>
          <p:nvPr/>
        </p:nvSpPr>
        <p:spPr>
          <a:xfrm>
            <a:off x="7627590" y="4442371"/>
            <a:ext cx="145774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SK-8-text-62"/>
          <p:cNvSpPr/>
          <p:nvPr/>
        </p:nvSpPr>
        <p:spPr>
          <a:xfrm>
            <a:off x="7884765" y="4447133"/>
            <a:ext cx="39166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Facturation &amp; PDF généré</a:t>
            </a:r>
            <a:endParaRPr lang="en-US" sz="1050" dirty="0"/>
          </a:p>
        </p:txBody>
      </p:sp>
      <p:sp>
        <p:nvSpPr>
          <p:cNvPr id="64" name="SK-8-text-63"/>
          <p:cNvSpPr/>
          <p:nvPr/>
        </p:nvSpPr>
        <p:spPr>
          <a:xfrm>
            <a:off x="7627590" y="4842421"/>
            <a:ext cx="145774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SK-8-text-64"/>
          <p:cNvSpPr/>
          <p:nvPr/>
        </p:nvSpPr>
        <p:spPr>
          <a:xfrm>
            <a:off x="7884765" y="4847183"/>
            <a:ext cx="430723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</a:t>
            </a: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Espèces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345 €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15/06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11049000" cy="641896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27671"/>
            <a:ext cx="4775150" cy="5425529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18171"/>
            <a:ext cx="4394150" cy="371475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359098"/>
            <a:ext cx="214313" cy="175320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842046"/>
            <a:ext cx="304800" cy="247650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56396"/>
            <a:ext cx="304800" cy="247650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870746"/>
            <a:ext cx="304800" cy="247650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385096"/>
            <a:ext cx="304800" cy="24765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848350"/>
            <a:ext cx="4394150" cy="51435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1450" y="1127671"/>
            <a:ext cx="5969050" cy="3076575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1450" y="1127671"/>
            <a:ext cx="5969050" cy="3076575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1450" y="4356646"/>
            <a:ext cx="5969050" cy="2196554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1950" y="4509046"/>
            <a:ext cx="5588050" cy="371475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41950" y="4549973"/>
            <a:ext cx="214313" cy="175320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1950" y="4975771"/>
            <a:ext cx="2736800" cy="390525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56250" y="5094833"/>
            <a:ext cx="190500" cy="152400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3051" y="4975771"/>
            <a:ext cx="2736949" cy="390525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07351" y="5094833"/>
            <a:ext cx="190500" cy="152400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1950" y="5461546"/>
            <a:ext cx="2736800" cy="390525"/>
          </a:xfrm>
          <a:prstGeom prst="rect">
            <a:avLst/>
          </a:prstGeom>
        </p:spPr>
      </p:pic>
      <p:pic>
        <p:nvPicPr>
          <p:cNvPr id="23" name="SK-9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56250" y="5580608"/>
            <a:ext cx="190500" cy="152400"/>
          </a:xfrm>
          <a:prstGeom prst="rect">
            <a:avLst/>
          </a:prstGeom>
        </p:spPr>
      </p:pic>
      <p:pic>
        <p:nvPicPr>
          <p:cNvPr id="24" name="SK-9-img-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3051" y="5461546"/>
            <a:ext cx="2736949" cy="390525"/>
          </a:xfrm>
          <a:prstGeom prst="rect">
            <a:avLst/>
          </a:prstGeom>
        </p:spPr>
      </p:pic>
      <p:pic>
        <p:nvPicPr>
          <p:cNvPr id="25" name="SK-9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07351" y="5580608"/>
            <a:ext cx="190500" cy="152400"/>
          </a:xfrm>
          <a:prstGeom prst="rect">
            <a:avLst/>
          </a:prstGeom>
        </p:spPr>
      </p:pic>
      <p:pic>
        <p:nvPicPr>
          <p:cNvPr id="26" name="SK-9-img-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41950" y="6060579"/>
            <a:ext cx="154781" cy="125760"/>
          </a:xfrm>
          <a:prstGeom prst="rect">
            <a:avLst/>
          </a:prstGeom>
        </p:spPr>
      </p:pic>
      <p:sp>
        <p:nvSpPr>
          <p:cNvPr id="27" name="SK-9-text-2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28" name="SK-9-text-27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 Automatique</a:t>
            </a:r>
            <a:endParaRPr lang="en-US" sz="2400" dirty="0"/>
          </a:p>
        </p:txBody>
      </p:sp>
      <p:sp>
        <p:nvSpPr>
          <p:cNvPr id="29" name="SK-9-text-28"/>
          <p:cNvSpPr/>
          <p:nvPr/>
        </p:nvSpPr>
        <p:spPr>
          <a:xfrm>
            <a:off x="1090613" y="1318171"/>
            <a:ext cx="58464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de production Puppeteer</a:t>
            </a:r>
            <a:endParaRPr lang="en-US" sz="1350" dirty="0"/>
          </a:p>
        </p:txBody>
      </p:sp>
      <p:sp>
        <p:nvSpPr>
          <p:cNvPr id="30" name="SK-9-text-29"/>
          <p:cNvSpPr/>
          <p:nvPr/>
        </p:nvSpPr>
        <p:spPr>
          <a:xfrm>
            <a:off x="723900" y="1842046"/>
            <a:ext cx="2286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01</a:t>
            </a:r>
            <a:endParaRPr lang="en-US" sz="900" dirty="0"/>
          </a:p>
        </p:txBody>
      </p:sp>
      <p:sp>
        <p:nvSpPr>
          <p:cNvPr id="31" name="SK-9-text-30"/>
          <p:cNvSpPr/>
          <p:nvPr/>
        </p:nvSpPr>
        <p:spPr>
          <a:xfrm>
            <a:off x="1181100" y="1842046"/>
            <a:ext cx="39750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SQL :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Récupération des données structurées via </a:t>
            </a: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Sequelize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(Client, Devis, Factures).</a:t>
            </a:r>
            <a:endParaRPr lang="en-US" sz="1125" dirty="0"/>
          </a:p>
        </p:txBody>
      </p:sp>
      <p:sp>
        <p:nvSpPr>
          <p:cNvPr id="32" name="SK-9-text-31"/>
          <p:cNvSpPr/>
          <p:nvPr/>
        </p:nvSpPr>
        <p:spPr>
          <a:xfrm>
            <a:off x="723900" y="2356396"/>
            <a:ext cx="2286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02</a:t>
            </a:r>
            <a:endParaRPr lang="en-US" sz="900" dirty="0"/>
          </a:p>
        </p:txBody>
      </p:sp>
      <p:sp>
        <p:nvSpPr>
          <p:cNvPr id="33" name="SK-9-text-32"/>
          <p:cNvSpPr/>
          <p:nvPr/>
        </p:nvSpPr>
        <p:spPr>
          <a:xfrm>
            <a:off x="1181100" y="2356396"/>
            <a:ext cx="39750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Templating HTML :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Injection dynamique des données dans des modèles HTML/CSS personnalisés.</a:t>
            </a:r>
            <a:endParaRPr lang="en-US" sz="1125" dirty="0"/>
          </a:p>
        </p:txBody>
      </p:sp>
      <p:sp>
        <p:nvSpPr>
          <p:cNvPr id="34" name="SK-9-text-33"/>
          <p:cNvSpPr/>
          <p:nvPr/>
        </p:nvSpPr>
        <p:spPr>
          <a:xfrm>
            <a:off x="723900" y="2870746"/>
            <a:ext cx="2286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03</a:t>
            </a:r>
            <a:endParaRPr lang="en-US" sz="900" dirty="0"/>
          </a:p>
        </p:txBody>
      </p:sp>
      <p:sp>
        <p:nvSpPr>
          <p:cNvPr id="35" name="SK-9-text-34"/>
          <p:cNvSpPr/>
          <p:nvPr/>
        </p:nvSpPr>
        <p:spPr>
          <a:xfrm>
            <a:off x="1181100" y="2870746"/>
            <a:ext cx="39750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Rendu Headless :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Conversion du template en PDF via un navigateur Chrome contrôlé par </a:t>
            </a: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Puppeteer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</p:txBody>
      </p:sp>
      <p:sp>
        <p:nvSpPr>
          <p:cNvPr id="36" name="SK-9-text-35"/>
          <p:cNvSpPr/>
          <p:nvPr/>
        </p:nvSpPr>
        <p:spPr>
          <a:xfrm>
            <a:off x="723900" y="3385096"/>
            <a:ext cx="2286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59669"/>
                </a:solidFill>
              </a:rPr>
              <a:t>04</a:t>
            </a:r>
            <a:endParaRPr lang="en-US" sz="900" dirty="0"/>
          </a:p>
        </p:txBody>
      </p:sp>
      <p:sp>
        <p:nvSpPr>
          <p:cNvPr id="37" name="SK-9-text-36"/>
          <p:cNvSpPr/>
          <p:nvPr/>
        </p:nvSpPr>
        <p:spPr>
          <a:xfrm>
            <a:off x="1181100" y="3385096"/>
            <a:ext cx="39750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Sortant :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Envoi du fichier binaire au client pour téléchargement immédiat.</a:t>
            </a:r>
            <a:endParaRPr lang="en-US" sz="1125" dirty="0"/>
          </a:p>
        </p:txBody>
      </p:sp>
      <p:sp>
        <p:nvSpPr>
          <p:cNvPr id="38" name="SK-9-text-37"/>
          <p:cNvSpPr/>
          <p:nvPr/>
        </p:nvSpPr>
        <p:spPr>
          <a:xfrm>
            <a:off x="762000" y="5848350"/>
            <a:ext cx="43941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Garantit une présentation uniforme et professionnelle, remplaçant les documents Word/Excel manuels.</a:t>
            </a:r>
            <a:endParaRPr lang="en-US" sz="1050" dirty="0"/>
          </a:p>
        </p:txBody>
      </p:sp>
      <p:sp>
        <p:nvSpPr>
          <p:cNvPr id="39" name="SK-9-text-38"/>
          <p:cNvSpPr/>
          <p:nvPr/>
        </p:nvSpPr>
        <p:spPr>
          <a:xfrm>
            <a:off x="6170563" y="4509046"/>
            <a:ext cx="58464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générés (API REST)</a:t>
            </a:r>
            <a:endParaRPr lang="en-US" sz="1350" dirty="0"/>
          </a:p>
        </p:txBody>
      </p:sp>
      <p:sp>
        <p:nvSpPr>
          <p:cNvPr id="40" name="SK-9-text-39"/>
          <p:cNvSpPr/>
          <p:nvPr/>
        </p:nvSpPr>
        <p:spPr>
          <a:xfrm>
            <a:off x="6261050" y="5071021"/>
            <a:ext cx="15163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Devis PDF</a:t>
            </a:r>
            <a:endParaRPr lang="en-US" sz="1050" dirty="0"/>
          </a:p>
        </p:txBody>
      </p:sp>
      <p:sp>
        <p:nvSpPr>
          <p:cNvPr id="41" name="SK-9-text-40"/>
          <p:cNvSpPr/>
          <p:nvPr/>
        </p:nvSpPr>
        <p:spPr>
          <a:xfrm>
            <a:off x="9112151" y="5071021"/>
            <a:ext cx="18364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Facture PDF</a:t>
            </a:r>
            <a:endParaRPr lang="en-US" sz="1050" dirty="0"/>
          </a:p>
        </p:txBody>
      </p:sp>
      <p:sp>
        <p:nvSpPr>
          <p:cNvPr id="42" name="SK-9-text-41"/>
          <p:cNvSpPr/>
          <p:nvPr/>
        </p:nvSpPr>
        <p:spPr>
          <a:xfrm>
            <a:off x="6261050" y="5556796"/>
            <a:ext cx="18364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 PDF</a:t>
            </a:r>
            <a:endParaRPr lang="en-US" sz="1050" dirty="0"/>
          </a:p>
        </p:txBody>
      </p:sp>
      <p:sp>
        <p:nvSpPr>
          <p:cNvPr id="43" name="SK-9-text-42"/>
          <p:cNvSpPr/>
          <p:nvPr/>
        </p:nvSpPr>
        <p:spPr>
          <a:xfrm>
            <a:off x="9112151" y="5556796"/>
            <a:ext cx="26365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 Client PDF</a:t>
            </a:r>
            <a:endParaRPr lang="en-US" sz="1050" dirty="0"/>
          </a:p>
        </p:txBody>
      </p:sp>
      <p:sp>
        <p:nvSpPr>
          <p:cNvPr id="44" name="SK-9-text-43"/>
          <p:cNvSpPr/>
          <p:nvPr/>
        </p:nvSpPr>
        <p:spPr>
          <a:xfrm>
            <a:off x="6053882" y="6023521"/>
            <a:ext cx="6138118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Inclusion automatique des mentions légales (Art. 293B CGI) et calculs de TVA.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51496"/>
            <a:ext cx="5372100" cy="1239887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403896"/>
            <a:ext cx="457200" cy="457200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8" y="1537246"/>
            <a:ext cx="238125" cy="190500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643783"/>
            <a:ext cx="5372100" cy="1239887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796183"/>
            <a:ext cx="457200" cy="457200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438" y="2929533"/>
            <a:ext cx="238125" cy="190500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036070"/>
            <a:ext cx="5372100" cy="1239887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188470"/>
            <a:ext cx="457200" cy="457200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438" y="4321820"/>
            <a:ext cx="238125" cy="190500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28357"/>
            <a:ext cx="5372100" cy="1239887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5580757"/>
            <a:ext cx="457200" cy="457200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438" y="5714107"/>
            <a:ext cx="238125" cy="190500"/>
          </a:xfrm>
          <a:prstGeom prst="rect">
            <a:avLst/>
          </a:prstGeom>
        </p:spPr>
      </p:pic>
      <p:pic>
        <p:nvPicPr>
          <p:cNvPr id="17" name="SK-10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1251496"/>
            <a:ext cx="5372100" cy="4000500"/>
          </a:xfrm>
          <a:prstGeom prst="rect">
            <a:avLst/>
          </a:prstGeom>
        </p:spPr>
      </p:pic>
      <p:pic>
        <p:nvPicPr>
          <p:cNvPr id="18" name="SK-10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1251496"/>
            <a:ext cx="5372100" cy="4000500"/>
          </a:xfrm>
          <a:prstGeom prst="rect">
            <a:avLst/>
          </a:prstGeom>
        </p:spPr>
      </p:pic>
      <p:pic>
        <p:nvPicPr>
          <p:cNvPr id="19" name="SK-10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5404396"/>
            <a:ext cx="5372100" cy="1263848"/>
          </a:xfrm>
          <a:prstGeom prst="rect">
            <a:avLst/>
          </a:prstGeom>
        </p:spPr>
      </p:pic>
      <p:pic>
        <p:nvPicPr>
          <p:cNvPr id="20" name="SK-10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588198"/>
            <a:ext cx="166688" cy="137220"/>
          </a:xfrm>
          <a:prstGeom prst="rect">
            <a:avLst/>
          </a:prstGeom>
        </p:spPr>
      </p:pic>
      <p:pic>
        <p:nvPicPr>
          <p:cNvPr id="21" name="SK-10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6320582"/>
            <a:ext cx="885825" cy="195263"/>
          </a:xfrm>
          <a:prstGeom prst="rect">
            <a:avLst/>
          </a:prstGeom>
        </p:spPr>
      </p:pic>
      <p:pic>
        <p:nvPicPr>
          <p:cNvPr id="22" name="SK-10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62825" y="6320582"/>
            <a:ext cx="1419225" cy="195263"/>
          </a:xfrm>
          <a:prstGeom prst="rect">
            <a:avLst/>
          </a:prstGeom>
        </p:spPr>
      </p:pic>
      <p:pic>
        <p:nvPicPr>
          <p:cNvPr id="23" name="SK-10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58250" y="6320582"/>
            <a:ext cx="1152525" cy="195263"/>
          </a:xfrm>
          <a:prstGeom prst="rect">
            <a:avLst/>
          </a:prstGeom>
        </p:spPr>
      </p:pic>
      <p:pic>
        <p:nvPicPr>
          <p:cNvPr id="24" name="SK-10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86975" y="6320582"/>
            <a:ext cx="752475" cy="195263"/>
          </a:xfrm>
          <a:prstGeom prst="rect">
            <a:avLst/>
          </a:prstGeom>
        </p:spPr>
      </p:pic>
      <p:sp>
        <p:nvSpPr>
          <p:cNvPr id="25" name="SK-10-text-2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26" name="SK-10-text-25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Sécurisation de l'Application</a:t>
            </a:r>
            <a:endParaRPr lang="en-US" sz="2400" dirty="0"/>
          </a:p>
        </p:txBody>
      </p:sp>
      <p:sp>
        <p:nvSpPr>
          <p:cNvPr id="27" name="SK-10-text-26"/>
          <p:cNvSpPr/>
          <p:nvPr/>
        </p:nvSpPr>
        <p:spPr>
          <a:xfrm>
            <a:off x="1333500" y="1403896"/>
            <a:ext cx="52292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Hachage des Mots de Passe</a:t>
            </a:r>
            <a:endParaRPr lang="en-US" sz="1350" dirty="0"/>
          </a:p>
        </p:txBody>
      </p:sp>
      <p:sp>
        <p:nvSpPr>
          <p:cNvPr id="28" name="SK-10-text-27"/>
          <p:cNvSpPr/>
          <p:nvPr/>
        </p:nvSpPr>
        <p:spPr>
          <a:xfrm>
            <a:off x="1333500" y="1699171"/>
            <a:ext cx="44577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de la bibliothèque </a:t>
            </a:r>
            <a:r>
              <a:rPr lang="en-US" sz="1050" dirty="0">
                <a:solidFill>
                  <a:srgbClr val="0F172A"/>
                </a:solidFill>
              </a:rPr>
              <a:t>bcrypt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avec grain de sel automatique. Aucun stockage en clair pour garantir l'intégrité des comptes.</a:t>
            </a:r>
            <a:endParaRPr lang="en-US" sz="1125" dirty="0"/>
          </a:p>
        </p:txBody>
      </p:sp>
      <p:sp>
        <p:nvSpPr>
          <p:cNvPr id="29" name="SK-10-text-28"/>
          <p:cNvSpPr/>
          <p:nvPr/>
        </p:nvSpPr>
        <p:spPr>
          <a:xfrm>
            <a:off x="1333500" y="2796183"/>
            <a:ext cx="45434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Sessions</a:t>
            </a:r>
            <a:endParaRPr lang="en-US" sz="1350" dirty="0"/>
          </a:p>
        </p:txBody>
      </p:sp>
      <p:sp>
        <p:nvSpPr>
          <p:cNvPr id="30" name="SK-10-text-29"/>
          <p:cNvSpPr/>
          <p:nvPr/>
        </p:nvSpPr>
        <p:spPr>
          <a:xfrm>
            <a:off x="1333500" y="3091458"/>
            <a:ext cx="44577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œuvre d'</a:t>
            </a:r>
            <a:r>
              <a:rPr lang="en-US" sz="1050" dirty="0">
                <a:solidFill>
                  <a:srgbClr val="0F172A"/>
                </a:solidFill>
              </a:rPr>
              <a:t>Express-session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maintenir l'état côté serveur. Destruction complète de la session lors de la déconnexion.</a:t>
            </a:r>
            <a:endParaRPr lang="en-US" sz="1125" dirty="0"/>
          </a:p>
        </p:txBody>
      </p:sp>
      <p:sp>
        <p:nvSpPr>
          <p:cNvPr id="31" name="SK-10-text-30"/>
          <p:cNvSpPr/>
          <p:nvPr/>
        </p:nvSpPr>
        <p:spPr>
          <a:xfrm>
            <a:off x="1333500" y="4188470"/>
            <a:ext cx="45434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des Routes</a:t>
            </a:r>
            <a:endParaRPr lang="en-US" sz="1350" dirty="0"/>
          </a:p>
        </p:txBody>
      </p:sp>
      <p:sp>
        <p:nvSpPr>
          <p:cNvPr id="32" name="SK-10-text-31"/>
          <p:cNvSpPr/>
          <p:nvPr/>
        </p:nvSpPr>
        <p:spPr>
          <a:xfrm>
            <a:off x="1333500" y="4483745"/>
            <a:ext cx="44577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Middlewares d'authentification systématiques sur les routes sensibles (Devis, Factures, PDF) pour restreindre l'accès aux utilisateurs connectés.</a:t>
            </a:r>
            <a:endParaRPr lang="en-US" sz="1125" dirty="0"/>
          </a:p>
        </p:txBody>
      </p:sp>
      <p:sp>
        <p:nvSpPr>
          <p:cNvPr id="33" name="SK-10-text-32"/>
          <p:cNvSpPr/>
          <p:nvPr/>
        </p:nvSpPr>
        <p:spPr>
          <a:xfrm>
            <a:off x="1333500" y="5580757"/>
            <a:ext cx="46120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Intégrité &amp; Validation</a:t>
            </a:r>
            <a:endParaRPr lang="en-US" sz="1350" dirty="0"/>
          </a:p>
        </p:txBody>
      </p:sp>
      <p:sp>
        <p:nvSpPr>
          <p:cNvPr id="34" name="SK-10-text-33"/>
          <p:cNvSpPr/>
          <p:nvPr/>
        </p:nvSpPr>
        <p:spPr>
          <a:xfrm>
            <a:off x="1333500" y="5876032"/>
            <a:ext cx="44577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Requêtes paramétrées via l'ORM </a:t>
            </a:r>
            <a:r>
              <a:rPr lang="en-US" sz="1050" dirty="0">
                <a:solidFill>
                  <a:srgbClr val="0F172A"/>
                </a:solidFill>
              </a:rPr>
              <a:t>Sequelize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contre les injections SQL et validation rigoureuse des entrées côté serveur.</a:t>
            </a:r>
            <a:endParaRPr lang="en-US" sz="1125" dirty="0"/>
          </a:p>
        </p:txBody>
      </p:sp>
      <p:sp>
        <p:nvSpPr>
          <p:cNvPr id="35" name="SK-10-text-34"/>
          <p:cNvSpPr/>
          <p:nvPr/>
        </p:nvSpPr>
        <p:spPr>
          <a:xfrm>
            <a:off x="6643688" y="5556796"/>
            <a:ext cx="50673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VEILLE &amp; RÉFÉRENCES SÉCURITÉ</a:t>
            </a:r>
            <a:endParaRPr lang="en-US" sz="1050" dirty="0"/>
          </a:p>
        </p:txBody>
      </p:sp>
      <p:sp>
        <p:nvSpPr>
          <p:cNvPr id="36" name="SK-10-text-35"/>
          <p:cNvSpPr/>
          <p:nvPr/>
        </p:nvSpPr>
        <p:spPr>
          <a:xfrm>
            <a:off x="6400800" y="5833021"/>
            <a:ext cx="50673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basée sur les recommandations </a:t>
            </a: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</a:t>
            </a: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les meilleures pratiques de l'écosystème Node.js/Express.</a:t>
            </a:r>
            <a:endParaRPr lang="en-US" sz="1050" dirty="0"/>
          </a:p>
        </p:txBody>
      </p:sp>
      <p:sp>
        <p:nvSpPr>
          <p:cNvPr id="37" name="SK-10-text-36"/>
          <p:cNvSpPr/>
          <p:nvPr/>
        </p:nvSpPr>
        <p:spPr>
          <a:xfrm>
            <a:off x="6477000" y="6320582"/>
            <a:ext cx="1221289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Salted Hash</a:t>
            </a:r>
            <a:endParaRPr lang="en-US" sz="825" dirty="0"/>
          </a:p>
        </p:txBody>
      </p:sp>
      <p:sp>
        <p:nvSpPr>
          <p:cNvPr id="38" name="SK-10-text-37"/>
          <p:cNvSpPr/>
          <p:nvPr/>
        </p:nvSpPr>
        <p:spPr>
          <a:xfrm>
            <a:off x="7439025" y="6320582"/>
            <a:ext cx="2208547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SQL Injection Proof</a:t>
            </a:r>
            <a:endParaRPr lang="en-US" sz="825" dirty="0"/>
          </a:p>
        </p:txBody>
      </p:sp>
      <p:sp>
        <p:nvSpPr>
          <p:cNvPr id="39" name="SK-10-text-38"/>
          <p:cNvSpPr/>
          <p:nvPr/>
        </p:nvSpPr>
        <p:spPr>
          <a:xfrm>
            <a:off x="8934450" y="6320582"/>
            <a:ext cx="1712768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Auth Middleware</a:t>
            </a:r>
            <a:endParaRPr lang="en-US" sz="825" dirty="0"/>
          </a:p>
        </p:txBody>
      </p:sp>
      <p:sp>
        <p:nvSpPr>
          <p:cNvPr id="40" name="SK-10-text-39"/>
          <p:cNvSpPr/>
          <p:nvPr/>
        </p:nvSpPr>
        <p:spPr>
          <a:xfrm>
            <a:off x="10163175" y="6320582"/>
            <a:ext cx="978591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EA5E9"/>
                </a:solidFill>
              </a:rPr>
              <a:t>HTTPS/SSL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51496"/>
            <a:ext cx="11049000" cy="3091904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51496"/>
            <a:ext cx="11049000" cy="504825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56321"/>
            <a:ext cx="2762250" cy="751284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997" y="2056507"/>
            <a:ext cx="202406" cy="163711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1756321"/>
            <a:ext cx="3314700" cy="751284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450" y="1756321"/>
            <a:ext cx="4972050" cy="751284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507605"/>
            <a:ext cx="2762250" cy="751284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997" y="2807791"/>
            <a:ext cx="202406" cy="163711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3750" y="2507605"/>
            <a:ext cx="3314700" cy="751284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2507605"/>
            <a:ext cx="4972050" cy="751284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997" y="3725614"/>
            <a:ext cx="202406" cy="163711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0850" y="3829645"/>
            <a:ext cx="419100" cy="190500"/>
          </a:xfrm>
          <a:prstGeom prst="rect">
            <a:avLst/>
          </a:prstGeom>
        </p:spPr>
      </p:pic>
      <p:pic>
        <p:nvPicPr>
          <p:cNvPr id="17" name="SK-11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572000"/>
            <a:ext cx="5410200" cy="1905000"/>
          </a:xfrm>
          <a:prstGeom prst="rect">
            <a:avLst/>
          </a:prstGeom>
        </p:spPr>
      </p:pic>
      <p:pic>
        <p:nvPicPr>
          <p:cNvPr id="18" name="SK-11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762500"/>
            <a:ext cx="2328863" cy="333375"/>
          </a:xfrm>
          <a:prstGeom prst="rect">
            <a:avLst/>
          </a:prstGeom>
        </p:spPr>
      </p:pic>
      <p:pic>
        <p:nvPicPr>
          <p:cNvPr id="19" name="SK-11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4803428"/>
            <a:ext cx="214313" cy="175320"/>
          </a:xfrm>
          <a:prstGeom prst="rect">
            <a:avLst/>
          </a:prstGeom>
        </p:spPr>
      </p:pic>
      <p:pic>
        <p:nvPicPr>
          <p:cNvPr id="20" name="SK-11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210175"/>
            <a:ext cx="178594" cy="208359"/>
          </a:xfrm>
          <a:prstGeom prst="rect">
            <a:avLst/>
          </a:prstGeom>
        </p:spPr>
      </p:pic>
      <p:pic>
        <p:nvPicPr>
          <p:cNvPr id="21" name="SK-11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000" y="5686425"/>
            <a:ext cx="178594" cy="156270"/>
          </a:xfrm>
          <a:prstGeom prst="rect">
            <a:avLst/>
          </a:prstGeom>
        </p:spPr>
      </p:pic>
      <p:pic>
        <p:nvPicPr>
          <p:cNvPr id="22" name="SK-11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6162675"/>
            <a:ext cx="178594" cy="156270"/>
          </a:xfrm>
          <a:prstGeom prst="rect">
            <a:avLst/>
          </a:prstGeom>
        </p:spPr>
      </p:pic>
      <p:pic>
        <p:nvPicPr>
          <p:cNvPr id="23" name="SK-11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21644" y="6172200"/>
            <a:ext cx="876300" cy="190500"/>
          </a:xfrm>
          <a:prstGeom prst="rect">
            <a:avLst/>
          </a:prstGeom>
        </p:spPr>
      </p:pic>
      <p:pic>
        <p:nvPicPr>
          <p:cNvPr id="24" name="SK-11-img-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4572000"/>
            <a:ext cx="5410200" cy="1905000"/>
          </a:xfrm>
          <a:prstGeom prst="rect">
            <a:avLst/>
          </a:prstGeom>
        </p:spPr>
      </p:pic>
      <p:pic>
        <p:nvPicPr>
          <p:cNvPr id="25" name="SK-11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762500"/>
            <a:ext cx="2157413" cy="333375"/>
          </a:xfrm>
          <a:prstGeom prst="rect">
            <a:avLst/>
          </a:prstGeom>
        </p:spPr>
      </p:pic>
      <p:pic>
        <p:nvPicPr>
          <p:cNvPr id="26" name="SK-11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803428"/>
            <a:ext cx="214313" cy="175320"/>
          </a:xfrm>
          <a:prstGeom prst="rect">
            <a:avLst/>
          </a:prstGeom>
        </p:spPr>
      </p:pic>
      <p:pic>
        <p:nvPicPr>
          <p:cNvPr id="27" name="SK-11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5210175"/>
            <a:ext cx="178594" cy="178594"/>
          </a:xfrm>
          <a:prstGeom prst="rect">
            <a:avLst/>
          </a:prstGeom>
        </p:spPr>
      </p:pic>
      <p:pic>
        <p:nvPicPr>
          <p:cNvPr id="28" name="SK-11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5686425"/>
            <a:ext cx="178594" cy="192286"/>
          </a:xfrm>
          <a:prstGeom prst="rect">
            <a:avLst/>
          </a:prstGeom>
        </p:spPr>
      </p:pic>
      <p:pic>
        <p:nvPicPr>
          <p:cNvPr id="29" name="SK-11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0800" y="6162675"/>
            <a:ext cx="178594" cy="166688"/>
          </a:xfrm>
          <a:prstGeom prst="rect">
            <a:avLst/>
          </a:prstGeom>
        </p:spPr>
      </p:pic>
      <p:sp>
        <p:nvSpPr>
          <p:cNvPr id="30" name="SK-11-text-2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1" name="SK-11-text-30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en Production</a:t>
            </a:r>
            <a:endParaRPr lang="en-US" sz="2400" dirty="0"/>
          </a:p>
        </p:txBody>
      </p:sp>
      <p:sp>
        <p:nvSpPr>
          <p:cNvPr id="32" name="SK-11-text-31"/>
          <p:cNvSpPr/>
          <p:nvPr/>
        </p:nvSpPr>
        <p:spPr>
          <a:xfrm>
            <a:off x="723900" y="1251496"/>
            <a:ext cx="253365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CLOUD</a:t>
            </a:r>
            <a:endParaRPr lang="en-US" sz="1050" dirty="0"/>
          </a:p>
        </p:txBody>
      </p:sp>
      <p:sp>
        <p:nvSpPr>
          <p:cNvPr id="33" name="SK-11-text-32"/>
          <p:cNvSpPr/>
          <p:nvPr/>
        </p:nvSpPr>
        <p:spPr>
          <a:xfrm>
            <a:off x="3486150" y="1251496"/>
            <a:ext cx="308610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RÔLE INFRASTRUCTURE</a:t>
            </a:r>
            <a:endParaRPr lang="en-US" sz="1050" dirty="0"/>
          </a:p>
        </p:txBody>
      </p:sp>
      <p:sp>
        <p:nvSpPr>
          <p:cNvPr id="34" name="SK-11-text-33"/>
          <p:cNvSpPr/>
          <p:nvPr/>
        </p:nvSpPr>
        <p:spPr>
          <a:xfrm>
            <a:off x="6800850" y="1251496"/>
            <a:ext cx="474345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DÉTAILS &amp; CONNECTIVITÉ</a:t>
            </a:r>
            <a:endParaRPr lang="en-US" sz="1050" dirty="0"/>
          </a:p>
        </p:txBody>
      </p:sp>
      <p:sp>
        <p:nvSpPr>
          <p:cNvPr id="35" name="SK-11-text-34"/>
          <p:cNvSpPr/>
          <p:nvPr/>
        </p:nvSpPr>
        <p:spPr>
          <a:xfrm>
            <a:off x="1028700" y="2010519"/>
            <a:ext cx="116586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</a:t>
            </a:r>
            <a:endParaRPr lang="en-US" sz="1275" dirty="0"/>
          </a:p>
        </p:txBody>
      </p:sp>
      <p:sp>
        <p:nvSpPr>
          <p:cNvPr id="36" name="SK-11-text-35"/>
          <p:cNvSpPr/>
          <p:nvPr/>
        </p:nvSpPr>
        <p:spPr>
          <a:xfrm>
            <a:off x="3486150" y="1756321"/>
            <a:ext cx="5374235" cy="7512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Hébergement du serveur Node.js</a:t>
            </a:r>
            <a:endParaRPr lang="en-US" sz="1275" dirty="0"/>
          </a:p>
        </p:txBody>
      </p:sp>
      <p:sp>
        <p:nvSpPr>
          <p:cNvPr id="37" name="SK-11-text-36"/>
          <p:cNvSpPr/>
          <p:nvPr/>
        </p:nvSpPr>
        <p:spPr>
          <a:xfrm>
            <a:off x="6800850" y="2048619"/>
            <a:ext cx="539115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EA5E9"/>
                </a:solidFill>
              </a:rPr>
              <a:t>https://fmabattage-management-app-1.onrender.com</a:t>
            </a:r>
            <a:endParaRPr lang="en-US" sz="1050" dirty="0"/>
          </a:p>
        </p:txBody>
      </p:sp>
      <p:sp>
        <p:nvSpPr>
          <p:cNvPr id="38" name="SK-11-text-37"/>
          <p:cNvSpPr/>
          <p:nvPr/>
        </p:nvSpPr>
        <p:spPr>
          <a:xfrm>
            <a:off x="1028700" y="2761804"/>
            <a:ext cx="9715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</a:t>
            </a:r>
            <a:endParaRPr lang="en-US" sz="1275" dirty="0"/>
          </a:p>
        </p:txBody>
      </p:sp>
      <p:sp>
        <p:nvSpPr>
          <p:cNvPr id="39" name="SK-11-text-38"/>
          <p:cNvSpPr/>
          <p:nvPr/>
        </p:nvSpPr>
        <p:spPr>
          <a:xfrm>
            <a:off x="3486150" y="2507605"/>
            <a:ext cx="4844908" cy="7512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MySQL Cloud</a:t>
            </a:r>
            <a:endParaRPr lang="en-US" sz="1275" dirty="0"/>
          </a:p>
        </p:txBody>
      </p:sp>
      <p:sp>
        <p:nvSpPr>
          <p:cNvPr id="40" name="SK-11-text-39"/>
          <p:cNvSpPr/>
          <p:nvPr/>
        </p:nvSpPr>
        <p:spPr>
          <a:xfrm>
            <a:off x="6800850" y="2507605"/>
            <a:ext cx="5391150" cy="7512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Connexion sécurisée via SSL configurée (Aiven CA Cert)</a:t>
            </a:r>
            <a:endParaRPr lang="en-US" sz="1275" dirty="0"/>
          </a:p>
        </p:txBody>
      </p:sp>
      <p:sp>
        <p:nvSpPr>
          <p:cNvPr id="41" name="SK-11-text-40"/>
          <p:cNvSpPr/>
          <p:nvPr/>
        </p:nvSpPr>
        <p:spPr>
          <a:xfrm>
            <a:off x="1028700" y="3679627"/>
            <a:ext cx="116586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275" dirty="0"/>
          </a:p>
        </p:txBody>
      </p:sp>
      <p:sp>
        <p:nvSpPr>
          <p:cNvPr id="42" name="SK-11-text-41"/>
          <p:cNvSpPr/>
          <p:nvPr/>
        </p:nvSpPr>
        <p:spPr>
          <a:xfrm>
            <a:off x="3486150" y="3258889"/>
            <a:ext cx="3962696" cy="10845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Versionnement et CI/CD</a:t>
            </a:r>
            <a:endParaRPr lang="en-US" sz="1275" dirty="0"/>
          </a:p>
        </p:txBody>
      </p:sp>
      <p:sp>
        <p:nvSpPr>
          <p:cNvPr id="43" name="SK-11-text-42"/>
          <p:cNvSpPr/>
          <p:nvPr/>
        </p:nvSpPr>
        <p:spPr>
          <a:xfrm>
            <a:off x="6800850" y="3258889"/>
            <a:ext cx="4667250" cy="10845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automatique à chaque push sur la branche </a:t>
            </a:r>
            <a:endParaRPr lang="en-US" sz="1275" dirty="0"/>
          </a:p>
        </p:txBody>
      </p:sp>
      <p:sp>
        <p:nvSpPr>
          <p:cNvPr id="44" name="SK-11-text-43"/>
          <p:cNvSpPr/>
          <p:nvPr/>
        </p:nvSpPr>
        <p:spPr>
          <a:xfrm>
            <a:off x="1071563" y="4762500"/>
            <a:ext cx="4937760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&amp; Sécurité</a:t>
            </a:r>
            <a:endParaRPr lang="en-US" sz="1350" dirty="0"/>
          </a:p>
        </p:txBody>
      </p:sp>
      <p:sp>
        <p:nvSpPr>
          <p:cNvPr id="45" name="SK-11-text-44"/>
          <p:cNvSpPr/>
          <p:nvPr/>
        </p:nvSpPr>
        <p:spPr>
          <a:xfrm>
            <a:off x="1035844" y="5210175"/>
            <a:ext cx="4755356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d'environnement sécurisées (SSL, DB_HOST, DB_USER, DB_PWD) hors code source.</a:t>
            </a:r>
            <a:endParaRPr lang="en-US" sz="1125" dirty="0"/>
          </a:p>
        </p:txBody>
      </p:sp>
      <p:sp>
        <p:nvSpPr>
          <p:cNvPr id="46" name="SK-11-text-45"/>
          <p:cNvSpPr/>
          <p:nvPr/>
        </p:nvSpPr>
        <p:spPr>
          <a:xfrm>
            <a:off x="1035844" y="5686425"/>
            <a:ext cx="4755356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SSL obligatoire pour la communication entre le serveur Render et la base Aiven.</a:t>
            </a:r>
            <a:endParaRPr lang="en-US" sz="1125" dirty="0"/>
          </a:p>
        </p:txBody>
      </p:sp>
      <p:sp>
        <p:nvSpPr>
          <p:cNvPr id="47" name="SK-11-text-46"/>
          <p:cNvSpPr/>
          <p:nvPr/>
        </p:nvSpPr>
        <p:spPr>
          <a:xfrm>
            <a:off x="1035844" y="6162675"/>
            <a:ext cx="4755356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de  pour protéger les données sensibles et certificats.</a:t>
            </a:r>
            <a:endParaRPr lang="en-US" sz="1125" dirty="0"/>
          </a:p>
        </p:txBody>
      </p:sp>
      <p:sp>
        <p:nvSpPr>
          <p:cNvPr id="48" name="SK-11-text-47"/>
          <p:cNvSpPr/>
          <p:nvPr/>
        </p:nvSpPr>
        <p:spPr>
          <a:xfrm>
            <a:off x="6710363" y="4762500"/>
            <a:ext cx="4732020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de Travail (CI/CD)</a:t>
            </a:r>
            <a:endParaRPr lang="en-US" sz="1350" dirty="0"/>
          </a:p>
        </p:txBody>
      </p:sp>
      <p:sp>
        <p:nvSpPr>
          <p:cNvPr id="49" name="SK-11-text-48"/>
          <p:cNvSpPr/>
          <p:nvPr/>
        </p:nvSpPr>
        <p:spPr>
          <a:xfrm>
            <a:off x="6674644" y="5210175"/>
            <a:ext cx="4755356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multi-branches : 116 commits totalisant le cycle de développement complet.</a:t>
            </a:r>
            <a:endParaRPr lang="en-US" sz="1125" dirty="0"/>
          </a:p>
        </p:txBody>
      </p:sp>
      <p:sp>
        <p:nvSpPr>
          <p:cNvPr id="50" name="SK-11-text-49"/>
          <p:cNvSpPr/>
          <p:nvPr/>
        </p:nvSpPr>
        <p:spPr>
          <a:xfrm>
            <a:off x="6674644" y="5686425"/>
            <a:ext cx="4755356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Render : build, migration Sequelize et redémarrage automatique en production.</a:t>
            </a:r>
            <a:endParaRPr lang="en-US" sz="1125" dirty="0"/>
          </a:p>
        </p:txBody>
      </p:sp>
      <p:sp>
        <p:nvSpPr>
          <p:cNvPr id="51" name="SK-11-text-50"/>
          <p:cNvSpPr/>
          <p:nvPr/>
        </p:nvSpPr>
        <p:spPr>
          <a:xfrm>
            <a:off x="6674644" y="6162675"/>
            <a:ext cx="4755356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en temps réel des logs via le dashboard Render pour le débogage.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51496"/>
            <a:ext cx="2647950" cy="1872407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403896"/>
            <a:ext cx="342900" cy="342900"/>
          </a:xfrm>
          <a:prstGeom prst="rect">
            <a:avLst/>
          </a:prstGeom>
        </p:spPr>
      </p:pic>
      <p:pic>
        <p:nvPicPr>
          <p:cNvPr id="7" name="SK-1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194" y="1487686"/>
            <a:ext cx="214313" cy="175320"/>
          </a:xfrm>
          <a:prstGeom prst="rect">
            <a:avLst/>
          </a:prstGeom>
        </p:spPr>
      </p:pic>
      <p:pic>
        <p:nvPicPr>
          <p:cNvPr id="8" name="SK-12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850" y="1251496"/>
            <a:ext cx="2647950" cy="1872407"/>
          </a:xfrm>
          <a:prstGeom prst="rect">
            <a:avLst/>
          </a:prstGeom>
        </p:spPr>
      </p:pic>
      <p:pic>
        <p:nvPicPr>
          <p:cNvPr id="9" name="SK-12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50" y="1403896"/>
            <a:ext cx="342900" cy="342900"/>
          </a:xfrm>
          <a:prstGeom prst="rect">
            <a:avLst/>
          </a:prstGeom>
        </p:spPr>
      </p:pic>
      <p:pic>
        <p:nvPicPr>
          <p:cNvPr id="10" name="SK-1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8544" y="1487686"/>
            <a:ext cx="214313" cy="175320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251496"/>
            <a:ext cx="2647950" cy="1872407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403896"/>
            <a:ext cx="342900" cy="342900"/>
          </a:xfrm>
          <a:prstGeom prst="rect">
            <a:avLst/>
          </a:prstGeom>
        </p:spPr>
      </p:pic>
      <p:pic>
        <p:nvPicPr>
          <p:cNvPr id="13" name="SK-12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8894" y="1487686"/>
            <a:ext cx="214313" cy="175320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550" y="1251496"/>
            <a:ext cx="2647950" cy="1872407"/>
          </a:xfrm>
          <a:prstGeom prst="rect">
            <a:avLst/>
          </a:prstGeom>
        </p:spPr>
      </p:pic>
      <p:pic>
        <p:nvPicPr>
          <p:cNvPr id="15" name="SK-12-img-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4950" y="1403896"/>
            <a:ext cx="342900" cy="342900"/>
          </a:xfrm>
          <a:prstGeom prst="rect">
            <a:avLst/>
          </a:prstGeom>
        </p:spPr>
      </p:pic>
      <p:pic>
        <p:nvPicPr>
          <p:cNvPr id="16" name="SK-12-img-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244" y="1487686"/>
            <a:ext cx="214313" cy="175320"/>
          </a:xfrm>
          <a:prstGeom prst="rect">
            <a:avLst/>
          </a:prstGeom>
        </p:spPr>
      </p:pic>
      <p:pic>
        <p:nvPicPr>
          <p:cNvPr id="17" name="SK-12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4950" y="2723852"/>
            <a:ext cx="2343150" cy="247650"/>
          </a:xfrm>
          <a:prstGeom prst="rect">
            <a:avLst/>
          </a:prstGeom>
        </p:spPr>
      </p:pic>
      <p:pic>
        <p:nvPicPr>
          <p:cNvPr id="18" name="SK-12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352502"/>
            <a:ext cx="6515100" cy="1962150"/>
          </a:xfrm>
          <a:prstGeom prst="rect">
            <a:avLst/>
          </a:prstGeom>
        </p:spPr>
      </p:pic>
      <p:pic>
        <p:nvPicPr>
          <p:cNvPr id="19" name="SK-12-img-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590627"/>
            <a:ext cx="238125" cy="190500"/>
          </a:xfrm>
          <a:prstGeom prst="rect">
            <a:avLst/>
          </a:prstGeom>
        </p:spPr>
      </p:pic>
      <p:pic>
        <p:nvPicPr>
          <p:cNvPr id="20" name="SK-12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981152"/>
            <a:ext cx="3009900" cy="404813"/>
          </a:xfrm>
          <a:prstGeom prst="rect">
            <a:avLst/>
          </a:prstGeom>
        </p:spPr>
      </p:pic>
      <p:pic>
        <p:nvPicPr>
          <p:cNvPr id="21" name="SK-12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7250" y="4107359"/>
            <a:ext cx="190500" cy="152400"/>
          </a:xfrm>
          <a:prstGeom prst="rect">
            <a:avLst/>
          </a:prstGeom>
        </p:spPr>
      </p:pic>
      <p:pic>
        <p:nvPicPr>
          <p:cNvPr id="22" name="SK-12-img-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86200" y="3981152"/>
            <a:ext cx="3009900" cy="404813"/>
          </a:xfrm>
          <a:prstGeom prst="rect">
            <a:avLst/>
          </a:prstGeom>
        </p:spPr>
      </p:pic>
      <p:pic>
        <p:nvPicPr>
          <p:cNvPr id="23" name="SK-12-img-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81450" y="4107359"/>
            <a:ext cx="190500" cy="152400"/>
          </a:xfrm>
          <a:prstGeom prst="rect">
            <a:avLst/>
          </a:prstGeom>
        </p:spPr>
      </p:pic>
      <p:pic>
        <p:nvPicPr>
          <p:cNvPr id="24" name="SK-12-img-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500265"/>
            <a:ext cx="3009900" cy="404813"/>
          </a:xfrm>
          <a:prstGeom prst="rect">
            <a:avLst/>
          </a:prstGeom>
        </p:spPr>
      </p:pic>
      <p:pic>
        <p:nvPicPr>
          <p:cNvPr id="25" name="SK-12-img-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250" y="4626471"/>
            <a:ext cx="190500" cy="152400"/>
          </a:xfrm>
          <a:prstGeom prst="rect">
            <a:avLst/>
          </a:prstGeom>
        </p:spPr>
      </p:pic>
      <p:pic>
        <p:nvPicPr>
          <p:cNvPr id="26" name="SK-12-img-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86200" y="4500265"/>
            <a:ext cx="3009900" cy="404813"/>
          </a:xfrm>
          <a:prstGeom prst="rect">
            <a:avLst/>
          </a:prstGeom>
        </p:spPr>
      </p:pic>
      <p:pic>
        <p:nvPicPr>
          <p:cNvPr id="27" name="SK-12-img-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81450" y="4626471"/>
            <a:ext cx="190500" cy="152400"/>
          </a:xfrm>
          <a:prstGeom prst="rect">
            <a:avLst/>
          </a:prstGeom>
        </p:spPr>
      </p:pic>
      <p:pic>
        <p:nvPicPr>
          <p:cNvPr id="28" name="SK-12-img-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77100" y="3352502"/>
            <a:ext cx="4343400" cy="1962150"/>
          </a:xfrm>
          <a:prstGeom prst="rect">
            <a:avLst/>
          </a:prstGeom>
        </p:spPr>
      </p:pic>
      <p:pic>
        <p:nvPicPr>
          <p:cNvPr id="29" name="SK-12-img-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67600" y="4971901"/>
            <a:ext cx="166688" cy="137220"/>
          </a:xfrm>
          <a:prstGeom prst="rect">
            <a:avLst/>
          </a:prstGeom>
        </p:spPr>
      </p:pic>
      <p:sp>
        <p:nvSpPr>
          <p:cNvPr id="30" name="SK-12-text-2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1" name="SK-12-text-30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et Jeux d'Essai</a:t>
            </a:r>
            <a:endParaRPr lang="en-US" sz="2400" dirty="0"/>
          </a:p>
        </p:txBody>
      </p:sp>
      <p:sp>
        <p:nvSpPr>
          <p:cNvPr id="32" name="SK-12-text-31"/>
          <p:cNvSpPr/>
          <p:nvPr/>
        </p:nvSpPr>
        <p:spPr>
          <a:xfrm>
            <a:off x="1162050" y="1475333"/>
            <a:ext cx="15697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01</a:t>
            </a:r>
            <a:endParaRPr lang="en-US" sz="1050" dirty="0"/>
          </a:p>
        </p:txBody>
      </p:sp>
      <p:sp>
        <p:nvSpPr>
          <p:cNvPr id="33" name="SK-12-text-32"/>
          <p:cNvSpPr/>
          <p:nvPr/>
        </p:nvSpPr>
        <p:spPr>
          <a:xfrm>
            <a:off x="723900" y="1861096"/>
            <a:ext cx="317182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 Client</a:t>
            </a:r>
            <a:endParaRPr lang="en-US" sz="1350" dirty="0"/>
          </a:p>
        </p:txBody>
      </p:sp>
      <p:sp>
        <p:nvSpPr>
          <p:cNvPr id="34" name="SK-12-text-33"/>
          <p:cNvSpPr/>
          <p:nvPr/>
        </p:nvSpPr>
        <p:spPr>
          <a:xfrm>
            <a:off x="723900" y="2198191"/>
            <a:ext cx="234315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 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Martin</a:t>
            </a:r>
            <a:endParaRPr lang="en-US" sz="1050" dirty="0"/>
          </a:p>
        </p:txBody>
      </p:sp>
      <p:sp>
        <p:nvSpPr>
          <p:cNvPr id="35" name="SK-12-text-34"/>
          <p:cNvSpPr/>
          <p:nvPr/>
        </p:nvSpPr>
        <p:spPr>
          <a:xfrm>
            <a:off x="723900" y="2441972"/>
            <a:ext cx="368046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Ville 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Bourg-en-Bresse</a:t>
            </a:r>
            <a:endParaRPr lang="en-US" sz="1050" dirty="0"/>
          </a:p>
        </p:txBody>
      </p:sp>
      <p:sp>
        <p:nvSpPr>
          <p:cNvPr id="36" name="SK-12-text-35"/>
          <p:cNvSpPr/>
          <p:nvPr/>
        </p:nvSpPr>
        <p:spPr>
          <a:xfrm>
            <a:off x="723900" y="2685752"/>
            <a:ext cx="439674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Identifiant unique attribué</a:t>
            </a:r>
            <a:endParaRPr lang="en-US" sz="1050" dirty="0"/>
          </a:p>
        </p:txBody>
      </p:sp>
      <p:sp>
        <p:nvSpPr>
          <p:cNvPr id="37" name="SK-12-text-36"/>
          <p:cNvSpPr/>
          <p:nvPr/>
        </p:nvSpPr>
        <p:spPr>
          <a:xfrm>
            <a:off x="3962400" y="1475333"/>
            <a:ext cx="15697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02</a:t>
            </a:r>
            <a:endParaRPr lang="en-US" sz="1050" dirty="0"/>
          </a:p>
        </p:txBody>
      </p:sp>
      <p:sp>
        <p:nvSpPr>
          <p:cNvPr id="38" name="SK-12-text-37"/>
          <p:cNvSpPr/>
          <p:nvPr/>
        </p:nvSpPr>
        <p:spPr>
          <a:xfrm>
            <a:off x="3524250" y="1861096"/>
            <a:ext cx="296608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Émission Devis</a:t>
            </a:r>
            <a:endParaRPr lang="en-US" sz="1350" dirty="0"/>
          </a:p>
        </p:txBody>
      </p:sp>
      <p:sp>
        <p:nvSpPr>
          <p:cNvPr id="39" name="SK-12-text-38"/>
          <p:cNvSpPr/>
          <p:nvPr/>
        </p:nvSpPr>
        <p:spPr>
          <a:xfrm>
            <a:off x="3581400" y="2198191"/>
            <a:ext cx="2346960" cy="188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D-2026-020</a:t>
            </a:r>
            <a:endParaRPr lang="en-US" sz="1050" dirty="0"/>
          </a:p>
        </p:txBody>
      </p:sp>
      <p:sp>
        <p:nvSpPr>
          <p:cNvPr id="40" name="SK-12-text-39"/>
          <p:cNvSpPr/>
          <p:nvPr/>
        </p:nvSpPr>
        <p:spPr>
          <a:xfrm>
            <a:off x="3524250" y="2443907"/>
            <a:ext cx="32766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Abattage + Nettoyage</a:t>
            </a:r>
            <a:endParaRPr lang="en-US" sz="1050" dirty="0"/>
          </a:p>
        </p:txBody>
      </p:sp>
      <p:sp>
        <p:nvSpPr>
          <p:cNvPr id="41" name="SK-12-text-40"/>
          <p:cNvSpPr/>
          <p:nvPr/>
        </p:nvSpPr>
        <p:spPr>
          <a:xfrm>
            <a:off x="3524250" y="2687687"/>
            <a:ext cx="309372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: </a:t>
            </a: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345,00 €</a:t>
            </a:r>
            <a:endParaRPr lang="en-US" sz="1050" dirty="0"/>
          </a:p>
        </p:txBody>
      </p:sp>
      <p:sp>
        <p:nvSpPr>
          <p:cNvPr id="42" name="SK-12-text-41"/>
          <p:cNvSpPr/>
          <p:nvPr/>
        </p:nvSpPr>
        <p:spPr>
          <a:xfrm>
            <a:off x="6762750" y="1475333"/>
            <a:ext cx="15697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03</a:t>
            </a:r>
            <a:endParaRPr lang="en-US" sz="1050" dirty="0"/>
          </a:p>
        </p:txBody>
      </p:sp>
      <p:sp>
        <p:nvSpPr>
          <p:cNvPr id="43" name="SK-12-text-42"/>
          <p:cNvSpPr/>
          <p:nvPr/>
        </p:nvSpPr>
        <p:spPr>
          <a:xfrm>
            <a:off x="6324600" y="1861096"/>
            <a:ext cx="242887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Facturation</a:t>
            </a:r>
            <a:endParaRPr lang="en-US" sz="1350" dirty="0"/>
          </a:p>
        </p:txBody>
      </p:sp>
      <p:sp>
        <p:nvSpPr>
          <p:cNvPr id="44" name="SK-12-text-43"/>
          <p:cNvSpPr/>
          <p:nvPr/>
        </p:nvSpPr>
        <p:spPr>
          <a:xfrm>
            <a:off x="6324600" y="2198191"/>
            <a:ext cx="359664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automatique</a:t>
            </a:r>
            <a:endParaRPr lang="en-US" sz="1050" dirty="0"/>
          </a:p>
        </p:txBody>
      </p:sp>
      <p:sp>
        <p:nvSpPr>
          <p:cNvPr id="45" name="SK-12-text-44"/>
          <p:cNvSpPr/>
          <p:nvPr/>
        </p:nvSpPr>
        <p:spPr>
          <a:xfrm>
            <a:off x="6381750" y="2441972"/>
            <a:ext cx="2346960" cy="188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0F172A"/>
                </a:solidFill>
              </a:rPr>
              <a:t>F-2026-020</a:t>
            </a:r>
            <a:endParaRPr lang="en-US" sz="1050" dirty="0"/>
          </a:p>
        </p:txBody>
      </p:sp>
      <p:sp>
        <p:nvSpPr>
          <p:cNvPr id="46" name="SK-12-text-45"/>
          <p:cNvSpPr/>
          <p:nvPr/>
        </p:nvSpPr>
        <p:spPr>
          <a:xfrm>
            <a:off x="6324600" y="2687687"/>
            <a:ext cx="304038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 : </a:t>
            </a: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attente</a:t>
            </a:r>
            <a:endParaRPr lang="en-US" sz="1050" dirty="0"/>
          </a:p>
        </p:txBody>
      </p:sp>
      <p:sp>
        <p:nvSpPr>
          <p:cNvPr id="47" name="SK-12-text-46"/>
          <p:cNvSpPr/>
          <p:nvPr/>
        </p:nvSpPr>
        <p:spPr>
          <a:xfrm>
            <a:off x="9563100" y="1475333"/>
            <a:ext cx="15697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04</a:t>
            </a:r>
            <a:endParaRPr lang="en-US" sz="1050" dirty="0"/>
          </a:p>
        </p:txBody>
      </p:sp>
      <p:sp>
        <p:nvSpPr>
          <p:cNvPr id="48" name="SK-12-text-47"/>
          <p:cNvSpPr/>
          <p:nvPr/>
        </p:nvSpPr>
        <p:spPr>
          <a:xfrm>
            <a:off x="9124950" y="1861096"/>
            <a:ext cx="242887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Règlement</a:t>
            </a:r>
            <a:endParaRPr lang="en-US" sz="1350" dirty="0"/>
          </a:p>
        </p:txBody>
      </p:sp>
      <p:sp>
        <p:nvSpPr>
          <p:cNvPr id="49" name="SK-12-text-48"/>
          <p:cNvSpPr/>
          <p:nvPr/>
        </p:nvSpPr>
        <p:spPr>
          <a:xfrm>
            <a:off x="9124950" y="2198191"/>
            <a:ext cx="306705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: 345,00 €</a:t>
            </a:r>
            <a:endParaRPr lang="en-US" sz="1050" dirty="0"/>
          </a:p>
        </p:txBody>
      </p:sp>
      <p:sp>
        <p:nvSpPr>
          <p:cNvPr id="50" name="SK-12-text-49"/>
          <p:cNvSpPr/>
          <p:nvPr/>
        </p:nvSpPr>
        <p:spPr>
          <a:xfrm>
            <a:off x="9124950" y="2441972"/>
            <a:ext cx="241935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: Espèces</a:t>
            </a:r>
            <a:endParaRPr lang="en-US" sz="1050" dirty="0"/>
          </a:p>
        </p:txBody>
      </p:sp>
      <p:sp>
        <p:nvSpPr>
          <p:cNvPr id="51" name="SK-12-text-50"/>
          <p:cNvSpPr/>
          <p:nvPr/>
        </p:nvSpPr>
        <p:spPr>
          <a:xfrm>
            <a:off x="9220200" y="2723852"/>
            <a:ext cx="22288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 : PAYÉE</a:t>
            </a:r>
            <a:endParaRPr lang="en-US" sz="900" dirty="0"/>
          </a:p>
        </p:txBody>
      </p:sp>
      <p:sp>
        <p:nvSpPr>
          <p:cNvPr id="52" name="SK-12-text-51"/>
          <p:cNvSpPr/>
          <p:nvPr/>
        </p:nvSpPr>
        <p:spPr>
          <a:xfrm>
            <a:off x="1095375" y="3543002"/>
            <a:ext cx="64008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Bilan des tests fonctionnels</a:t>
            </a:r>
            <a:endParaRPr lang="en-US" sz="1500" dirty="0"/>
          </a:p>
        </p:txBody>
      </p:sp>
      <p:sp>
        <p:nvSpPr>
          <p:cNvPr id="53" name="SK-12-text-52"/>
          <p:cNvSpPr/>
          <p:nvPr/>
        </p:nvSpPr>
        <p:spPr>
          <a:xfrm>
            <a:off x="1143000" y="4076402"/>
            <a:ext cx="4705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Calculs automatiques exacts</a:t>
            </a:r>
            <a:endParaRPr lang="en-US" sz="1125" dirty="0"/>
          </a:p>
        </p:txBody>
      </p:sp>
      <p:sp>
        <p:nvSpPr>
          <p:cNvPr id="54" name="SK-12-text-53"/>
          <p:cNvSpPr/>
          <p:nvPr/>
        </p:nvSpPr>
        <p:spPr>
          <a:xfrm>
            <a:off x="4267200" y="4076402"/>
            <a:ext cx="4191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PDFs conforme</a:t>
            </a:r>
            <a:endParaRPr lang="en-US" sz="1125" dirty="0"/>
          </a:p>
        </p:txBody>
      </p:sp>
      <p:sp>
        <p:nvSpPr>
          <p:cNvPr id="55" name="SK-12-text-54"/>
          <p:cNvSpPr/>
          <p:nvPr/>
        </p:nvSpPr>
        <p:spPr>
          <a:xfrm>
            <a:off x="1143000" y="4595515"/>
            <a:ext cx="4705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Intégrité des relations SQL</a:t>
            </a:r>
            <a:endParaRPr lang="en-US" sz="1125" dirty="0"/>
          </a:p>
        </p:txBody>
      </p:sp>
      <p:sp>
        <p:nvSpPr>
          <p:cNvPr id="56" name="SK-12-text-55"/>
          <p:cNvSpPr/>
          <p:nvPr/>
        </p:nvSpPr>
        <p:spPr>
          <a:xfrm>
            <a:off x="4267200" y="4595515"/>
            <a:ext cx="45339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métier 100% validé</a:t>
            </a:r>
            <a:endParaRPr lang="en-US" sz="1125" dirty="0"/>
          </a:p>
        </p:txBody>
      </p:sp>
      <p:sp>
        <p:nvSpPr>
          <p:cNvPr id="57" name="SK-12-text-56"/>
          <p:cNvSpPr/>
          <p:nvPr/>
        </p:nvSpPr>
        <p:spPr>
          <a:xfrm>
            <a:off x="7467600" y="3543002"/>
            <a:ext cx="47244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Ajustements &amp; Évolutions</a:t>
            </a:r>
            <a:endParaRPr lang="en-US" sz="1350" dirty="0"/>
          </a:p>
        </p:txBody>
      </p:sp>
      <p:sp>
        <p:nvSpPr>
          <p:cNvPr id="58" name="SK-12-text-57"/>
          <p:cNvSpPr/>
          <p:nvPr/>
        </p:nvSpPr>
        <p:spPr>
          <a:xfrm>
            <a:off x="7467600" y="3914477"/>
            <a:ext cx="3962400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Lors des tests, une évolution du schéma SQL a été nécessaire pour ajouter des colonnes manquantes (frais de déplacement, délais). Les relations en cascade ont été renforcées pour éviter les données orphelines.</a:t>
            </a:r>
            <a:endParaRPr lang="en-US" sz="1125" dirty="0"/>
          </a:p>
        </p:txBody>
      </p:sp>
      <p:sp>
        <p:nvSpPr>
          <p:cNvPr id="59" name="SK-12-text-58"/>
          <p:cNvSpPr/>
          <p:nvPr/>
        </p:nvSpPr>
        <p:spPr>
          <a:xfrm>
            <a:off x="7634288" y="4924127"/>
            <a:ext cx="39624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Tests via UI et Swagger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06191"/>
            <a:ext cx="285750" cy="228600"/>
          </a:xfrm>
          <a:prstGeom prst="rect">
            <a:avLst/>
          </a:prstGeom>
        </p:spPr>
      </p:pic>
      <p:pic>
        <p:nvPicPr>
          <p:cNvPr id="6" name="SK-1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20553"/>
            <a:ext cx="76200" cy="76200"/>
          </a:xfrm>
          <a:prstGeom prst="rect">
            <a:avLst/>
          </a:prstGeom>
        </p:spPr>
      </p:pic>
      <p:pic>
        <p:nvPicPr>
          <p:cNvPr id="7" name="SK-1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32870"/>
            <a:ext cx="76200" cy="76200"/>
          </a:xfrm>
          <a:prstGeom prst="rect">
            <a:avLst/>
          </a:prstGeom>
        </p:spPr>
      </p:pic>
      <p:pic>
        <p:nvPicPr>
          <p:cNvPr id="8" name="SK-1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345186"/>
            <a:ext cx="76200" cy="76200"/>
          </a:xfrm>
          <a:prstGeom prst="rect">
            <a:avLst/>
          </a:prstGeom>
        </p:spPr>
      </p:pic>
      <p:pic>
        <p:nvPicPr>
          <p:cNvPr id="9" name="SK-13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257502"/>
            <a:ext cx="76200" cy="76200"/>
          </a:xfrm>
          <a:prstGeom prst="rect">
            <a:avLst/>
          </a:prstGeom>
        </p:spPr>
      </p:pic>
      <p:pic>
        <p:nvPicPr>
          <p:cNvPr id="10" name="SK-13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1238" y="1441996"/>
            <a:ext cx="9525" cy="4844504"/>
          </a:xfrm>
          <a:prstGeom prst="rect">
            <a:avLst/>
          </a:prstGeom>
        </p:spPr>
      </p:pic>
      <p:pic>
        <p:nvPicPr>
          <p:cNvPr id="11" name="SK-13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2263" y="1906191"/>
            <a:ext cx="285750" cy="228600"/>
          </a:xfrm>
          <a:prstGeom prst="rect">
            <a:avLst/>
          </a:prstGeom>
        </p:spPr>
      </p:pic>
      <p:pic>
        <p:nvPicPr>
          <p:cNvPr id="12" name="SK-13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2263" y="2520553"/>
            <a:ext cx="76200" cy="76200"/>
          </a:xfrm>
          <a:prstGeom prst="rect">
            <a:avLst/>
          </a:prstGeom>
        </p:spPr>
      </p:pic>
      <p:pic>
        <p:nvPicPr>
          <p:cNvPr id="13" name="SK-13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2263" y="3432870"/>
            <a:ext cx="76200" cy="76200"/>
          </a:xfrm>
          <a:prstGeom prst="rect">
            <a:avLst/>
          </a:prstGeom>
        </p:spPr>
      </p:pic>
      <p:pic>
        <p:nvPicPr>
          <p:cNvPr id="14" name="SK-13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2263" y="4345186"/>
            <a:ext cx="76200" cy="76200"/>
          </a:xfrm>
          <a:prstGeom prst="rect">
            <a:avLst/>
          </a:prstGeom>
        </p:spPr>
      </p:pic>
      <p:pic>
        <p:nvPicPr>
          <p:cNvPr id="15" name="SK-13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2263" y="5257502"/>
            <a:ext cx="76200" cy="76200"/>
          </a:xfrm>
          <a:prstGeom prst="rect">
            <a:avLst/>
          </a:prstGeom>
        </p:spPr>
      </p:pic>
      <p:sp>
        <p:nvSpPr>
          <p:cNvPr id="16" name="SK-13-text-15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17" name="SK-13-text-16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Difficultés Rencontrées</a:t>
            </a:r>
            <a:endParaRPr lang="en-US" sz="2400" dirty="0"/>
          </a:p>
        </p:txBody>
      </p:sp>
      <p:sp>
        <p:nvSpPr>
          <p:cNvPr id="18" name="SK-13-text-17"/>
          <p:cNvSpPr/>
          <p:nvPr/>
        </p:nvSpPr>
        <p:spPr>
          <a:xfrm>
            <a:off x="971550" y="1863328"/>
            <a:ext cx="664273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Défis Techniques &amp; Métiers</a:t>
            </a:r>
            <a:endParaRPr lang="en-US" sz="1650" dirty="0"/>
          </a:p>
        </p:txBody>
      </p:sp>
      <p:sp>
        <p:nvSpPr>
          <p:cNvPr id="19" name="SK-13-text-18"/>
          <p:cNvSpPr/>
          <p:nvPr/>
        </p:nvSpPr>
        <p:spPr>
          <a:xfrm>
            <a:off x="762000" y="2406253"/>
            <a:ext cx="48177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Métier Complexe</a:t>
            </a:r>
            <a:endParaRPr lang="en-US" sz="1350" dirty="0"/>
          </a:p>
        </p:txBody>
      </p:sp>
      <p:sp>
        <p:nvSpPr>
          <p:cNvPr id="20" name="SK-13-text-19"/>
          <p:cNvSpPr/>
          <p:nvPr/>
        </p:nvSpPr>
        <p:spPr>
          <a:xfrm>
            <a:off x="762000" y="2701528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multi-états (Devis → Facture → Relance) et numérotation séquentielle automatisée.</a:t>
            </a:r>
            <a:endParaRPr lang="en-US" sz="1200" dirty="0"/>
          </a:p>
        </p:txBody>
      </p:sp>
      <p:sp>
        <p:nvSpPr>
          <p:cNvPr id="21" name="SK-13-text-20"/>
          <p:cNvSpPr/>
          <p:nvPr/>
        </p:nvSpPr>
        <p:spPr>
          <a:xfrm>
            <a:off x="762000" y="3318570"/>
            <a:ext cx="58464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SSL Production</a:t>
            </a:r>
            <a:endParaRPr lang="en-US" sz="1350" dirty="0"/>
          </a:p>
        </p:txBody>
      </p:sp>
      <p:sp>
        <p:nvSpPr>
          <p:cNvPr id="22" name="SK-13-text-21"/>
          <p:cNvSpPr/>
          <p:nvPr/>
        </p:nvSpPr>
        <p:spPr>
          <a:xfrm>
            <a:off x="762000" y="3613845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Difficultés de communication sécurisée entre Render (Node.js) et Aiven (MySQL Cloud).</a:t>
            </a:r>
            <a:endParaRPr lang="en-US" sz="1200" dirty="0"/>
          </a:p>
        </p:txBody>
      </p:sp>
      <p:sp>
        <p:nvSpPr>
          <p:cNvPr id="23" name="SK-13-text-22"/>
          <p:cNvSpPr/>
          <p:nvPr/>
        </p:nvSpPr>
        <p:spPr>
          <a:xfrm>
            <a:off x="762000" y="4230886"/>
            <a:ext cx="4200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Autonomie Full-Stack</a:t>
            </a:r>
            <a:endParaRPr lang="en-US" sz="1350" dirty="0"/>
          </a:p>
        </p:txBody>
      </p:sp>
      <p:sp>
        <p:nvSpPr>
          <p:cNvPr id="24" name="SK-13-text-23"/>
          <p:cNvSpPr/>
          <p:nvPr/>
        </p:nvSpPr>
        <p:spPr>
          <a:xfrm>
            <a:off x="762000" y="4526161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Responsabilité totale sur toutes les couches applicatives et priorisation des fonctionnalités.</a:t>
            </a:r>
            <a:endParaRPr lang="en-US" sz="1200" dirty="0"/>
          </a:p>
        </p:txBody>
      </p:sp>
      <p:sp>
        <p:nvSpPr>
          <p:cNvPr id="25" name="SK-13-text-24"/>
          <p:cNvSpPr/>
          <p:nvPr/>
        </p:nvSpPr>
        <p:spPr>
          <a:xfrm>
            <a:off x="762000" y="5143202"/>
            <a:ext cx="50234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 Puppeteer</a:t>
            </a:r>
            <a:endParaRPr lang="en-US" sz="1350" dirty="0"/>
          </a:p>
        </p:txBody>
      </p:sp>
      <p:sp>
        <p:nvSpPr>
          <p:cNvPr id="26" name="SK-13-text-25"/>
          <p:cNvSpPr/>
          <p:nvPr/>
        </p:nvSpPr>
        <p:spPr>
          <a:xfrm>
            <a:off x="762000" y="5438477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Ajustement précis des templates HTML et correction des méthodes de formatage de données.</a:t>
            </a:r>
            <a:endParaRPr lang="en-US" sz="1200" dirty="0"/>
          </a:p>
        </p:txBody>
      </p:sp>
      <p:sp>
        <p:nvSpPr>
          <p:cNvPr id="27" name="SK-13-text-26"/>
          <p:cNvSpPr/>
          <p:nvPr/>
        </p:nvSpPr>
        <p:spPr>
          <a:xfrm>
            <a:off x="7072313" y="1863328"/>
            <a:ext cx="5119688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Solutions &amp; Adaptations</a:t>
            </a:r>
            <a:endParaRPr lang="en-US" sz="1650" dirty="0"/>
          </a:p>
        </p:txBody>
      </p:sp>
      <p:sp>
        <p:nvSpPr>
          <p:cNvPr id="28" name="SK-13-text-27"/>
          <p:cNvSpPr/>
          <p:nvPr/>
        </p:nvSpPr>
        <p:spPr>
          <a:xfrm>
            <a:off x="6862763" y="2406253"/>
            <a:ext cx="37890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Modélisation &amp; ORM</a:t>
            </a:r>
            <a:endParaRPr lang="en-US" sz="1350" dirty="0"/>
          </a:p>
        </p:txBody>
      </p:sp>
      <p:sp>
        <p:nvSpPr>
          <p:cNvPr id="29" name="SK-13-text-28"/>
          <p:cNvSpPr/>
          <p:nvPr/>
        </p:nvSpPr>
        <p:spPr>
          <a:xfrm>
            <a:off x="6862763" y="2701528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rigoureuse de Sequelize pour gérer l'intégrité et les suppressions en cascade.</a:t>
            </a:r>
            <a:endParaRPr lang="en-US" sz="1200" dirty="0"/>
          </a:p>
        </p:txBody>
      </p:sp>
      <p:sp>
        <p:nvSpPr>
          <p:cNvPr id="30" name="SK-13-text-29"/>
          <p:cNvSpPr/>
          <p:nvPr/>
        </p:nvSpPr>
        <p:spPr>
          <a:xfrm>
            <a:off x="6862763" y="3318570"/>
            <a:ext cx="48177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 &amp; Variables d'Env</a:t>
            </a:r>
            <a:endParaRPr lang="en-US" sz="1350" dirty="0"/>
          </a:p>
        </p:txBody>
      </p:sp>
      <p:sp>
        <p:nvSpPr>
          <p:cNvPr id="31" name="SK-13-text-30"/>
          <p:cNvSpPr/>
          <p:nvPr/>
        </p:nvSpPr>
        <p:spPr>
          <a:xfrm>
            <a:off x="6862763" y="3613845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Paramétrage précis des certificats SSL et isolation des secrets via des variables d'environnement.</a:t>
            </a:r>
            <a:endParaRPr lang="en-US" sz="1200" dirty="0"/>
          </a:p>
        </p:txBody>
      </p:sp>
      <p:sp>
        <p:nvSpPr>
          <p:cNvPr id="32" name="SK-13-text-31"/>
          <p:cNvSpPr/>
          <p:nvPr/>
        </p:nvSpPr>
        <p:spPr>
          <a:xfrm>
            <a:off x="6862763" y="4230886"/>
            <a:ext cx="37890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Approche Agile MVP</a:t>
            </a:r>
            <a:endParaRPr lang="en-US" sz="1350" dirty="0"/>
          </a:p>
        </p:txBody>
      </p:sp>
      <p:sp>
        <p:nvSpPr>
          <p:cNvPr id="33" name="SK-13-text-32"/>
          <p:cNvSpPr/>
          <p:nvPr/>
        </p:nvSpPr>
        <p:spPr>
          <a:xfrm>
            <a:off x="6862763" y="4526161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Livraison continue via GitHub et focalisation sur le cycle de vente essentiel à l'utilisateur.</a:t>
            </a:r>
            <a:endParaRPr lang="en-US" sz="1200" dirty="0"/>
          </a:p>
        </p:txBody>
      </p:sp>
      <p:sp>
        <p:nvSpPr>
          <p:cNvPr id="34" name="SK-13-text-33"/>
          <p:cNvSpPr/>
          <p:nvPr/>
        </p:nvSpPr>
        <p:spPr>
          <a:xfrm>
            <a:off x="6862763" y="5143202"/>
            <a:ext cx="46120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Refactorisation Native</a:t>
            </a:r>
            <a:endParaRPr lang="en-US" sz="1350" dirty="0"/>
          </a:p>
        </p:txBody>
      </p:sp>
      <p:sp>
        <p:nvSpPr>
          <p:cNvPr id="35" name="SK-13-text-34"/>
          <p:cNvSpPr/>
          <p:nvPr/>
        </p:nvSpPr>
        <p:spPr>
          <a:xfrm>
            <a:off x="6862763" y="5438477"/>
            <a:ext cx="4757738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des scripts de rendu serveur pour garantir des documents PDF professionnels.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51496"/>
            <a:ext cx="2619375" cy="4368254"/>
          </a:xfrm>
          <a:prstGeom prst="rect">
            <a:avLst/>
          </a:prstGeom>
        </p:spPr>
      </p:pic>
      <p:pic>
        <p:nvPicPr>
          <p:cNvPr id="6" name="SK-1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80096"/>
            <a:ext cx="457200" cy="457200"/>
          </a:xfrm>
          <a:prstGeom prst="rect">
            <a:avLst/>
          </a:prstGeom>
        </p:spPr>
      </p:pic>
      <p:pic>
        <p:nvPicPr>
          <p:cNvPr id="7" name="SK-1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1594396"/>
            <a:ext cx="285750" cy="228600"/>
          </a:xfrm>
          <a:prstGeom prst="rect">
            <a:avLst/>
          </a:prstGeom>
        </p:spPr>
      </p:pic>
      <p:pic>
        <p:nvPicPr>
          <p:cNvPr id="8" name="SK-1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089696"/>
            <a:ext cx="2162175" cy="361950"/>
          </a:xfrm>
          <a:prstGeom prst="rect">
            <a:avLst/>
          </a:prstGeom>
        </p:spPr>
      </p:pic>
      <p:pic>
        <p:nvPicPr>
          <p:cNvPr id="9" name="SK-1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604046"/>
            <a:ext cx="171450" cy="228600"/>
          </a:xfrm>
          <a:prstGeom prst="rect">
            <a:avLst/>
          </a:prstGeom>
        </p:spPr>
      </p:pic>
      <p:pic>
        <p:nvPicPr>
          <p:cNvPr id="10" name="SK-1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118396"/>
            <a:ext cx="178594" cy="178594"/>
          </a:xfrm>
          <a:prstGeom prst="rect">
            <a:avLst/>
          </a:prstGeom>
        </p:spPr>
      </p:pic>
      <p:pic>
        <p:nvPicPr>
          <p:cNvPr id="11" name="SK-14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632746"/>
            <a:ext cx="171450" cy="228600"/>
          </a:xfrm>
          <a:prstGeom prst="rect">
            <a:avLst/>
          </a:prstGeom>
        </p:spPr>
      </p:pic>
      <p:pic>
        <p:nvPicPr>
          <p:cNvPr id="12" name="SK-14-img-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375" y="1251496"/>
            <a:ext cx="2619375" cy="4368254"/>
          </a:xfrm>
          <a:prstGeom prst="rect">
            <a:avLst/>
          </a:prstGeom>
        </p:spPr>
      </p:pic>
      <p:pic>
        <p:nvPicPr>
          <p:cNvPr id="13" name="SK-14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9975" y="1480096"/>
            <a:ext cx="457200" cy="457200"/>
          </a:xfrm>
          <a:prstGeom prst="rect">
            <a:avLst/>
          </a:prstGeom>
        </p:spPr>
      </p:pic>
      <p:pic>
        <p:nvPicPr>
          <p:cNvPr id="14" name="SK-14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5700" y="1594396"/>
            <a:ext cx="285750" cy="228600"/>
          </a:xfrm>
          <a:prstGeom prst="rect">
            <a:avLst/>
          </a:prstGeom>
        </p:spPr>
      </p:pic>
      <p:pic>
        <p:nvPicPr>
          <p:cNvPr id="15" name="SK-14-img-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975" y="2089696"/>
            <a:ext cx="2162175" cy="361950"/>
          </a:xfrm>
          <a:prstGeom prst="rect">
            <a:avLst/>
          </a:prstGeom>
        </p:spPr>
      </p:pic>
      <p:pic>
        <p:nvPicPr>
          <p:cNvPr id="16" name="SK-14-img-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9975" y="2604046"/>
            <a:ext cx="171450" cy="228600"/>
          </a:xfrm>
          <a:prstGeom prst="rect">
            <a:avLst/>
          </a:prstGeom>
        </p:spPr>
      </p:pic>
      <p:pic>
        <p:nvPicPr>
          <p:cNvPr id="17" name="SK-14-img-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975" y="3118396"/>
            <a:ext cx="171450" cy="228600"/>
          </a:xfrm>
          <a:prstGeom prst="rect">
            <a:avLst/>
          </a:prstGeom>
        </p:spPr>
      </p:pic>
      <p:pic>
        <p:nvPicPr>
          <p:cNvPr id="18" name="SK-14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9975" y="3832771"/>
            <a:ext cx="152400" cy="228600"/>
          </a:xfrm>
          <a:prstGeom prst="rect">
            <a:avLst/>
          </a:prstGeom>
        </p:spPr>
      </p:pic>
      <p:pic>
        <p:nvPicPr>
          <p:cNvPr id="19" name="SK-14-img-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251496"/>
            <a:ext cx="2619375" cy="4368254"/>
          </a:xfrm>
          <a:prstGeom prst="rect">
            <a:avLst/>
          </a:prstGeom>
        </p:spPr>
      </p:pic>
      <p:pic>
        <p:nvPicPr>
          <p:cNvPr id="20" name="SK-14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9850" y="1480096"/>
            <a:ext cx="457200" cy="457200"/>
          </a:xfrm>
          <a:prstGeom prst="rect">
            <a:avLst/>
          </a:prstGeom>
        </p:spPr>
      </p:pic>
      <p:pic>
        <p:nvPicPr>
          <p:cNvPr id="21" name="SK-14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05575" y="1594396"/>
            <a:ext cx="285750" cy="228600"/>
          </a:xfrm>
          <a:prstGeom prst="rect">
            <a:avLst/>
          </a:prstGeom>
        </p:spPr>
      </p:pic>
      <p:pic>
        <p:nvPicPr>
          <p:cNvPr id="22" name="SK-14-img-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2089696"/>
            <a:ext cx="2162175" cy="361950"/>
          </a:xfrm>
          <a:prstGeom prst="rect">
            <a:avLst/>
          </a:prstGeom>
        </p:spPr>
      </p:pic>
      <p:pic>
        <p:nvPicPr>
          <p:cNvPr id="23" name="SK-14-img-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2604046"/>
            <a:ext cx="178594" cy="214313"/>
          </a:xfrm>
          <a:prstGeom prst="rect">
            <a:avLst/>
          </a:prstGeom>
        </p:spPr>
      </p:pic>
      <p:pic>
        <p:nvPicPr>
          <p:cNvPr id="24" name="SK-14-img-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3118396"/>
            <a:ext cx="152400" cy="228600"/>
          </a:xfrm>
          <a:prstGeom prst="rect">
            <a:avLst/>
          </a:prstGeom>
        </p:spPr>
      </p:pic>
      <p:pic>
        <p:nvPicPr>
          <p:cNvPr id="25" name="SK-14-img-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3632746"/>
            <a:ext cx="178594" cy="214313"/>
          </a:xfrm>
          <a:prstGeom prst="rect">
            <a:avLst/>
          </a:prstGeom>
        </p:spPr>
      </p:pic>
      <p:pic>
        <p:nvPicPr>
          <p:cNvPr id="26" name="SK-14-img-2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1251496"/>
            <a:ext cx="2619375" cy="4368254"/>
          </a:xfrm>
          <a:prstGeom prst="rect">
            <a:avLst/>
          </a:prstGeom>
        </p:spPr>
      </p:pic>
      <p:pic>
        <p:nvPicPr>
          <p:cNvPr id="27" name="SK-14-img-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29725" y="1480096"/>
            <a:ext cx="457200" cy="457200"/>
          </a:xfrm>
          <a:prstGeom prst="rect">
            <a:avLst/>
          </a:prstGeom>
        </p:spPr>
      </p:pic>
      <p:pic>
        <p:nvPicPr>
          <p:cNvPr id="28" name="SK-14-img-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15450" y="1594396"/>
            <a:ext cx="285750" cy="228600"/>
          </a:xfrm>
          <a:prstGeom prst="rect">
            <a:avLst/>
          </a:prstGeom>
        </p:spPr>
      </p:pic>
      <p:pic>
        <p:nvPicPr>
          <p:cNvPr id="29" name="SK-14-img-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9725" y="2089696"/>
            <a:ext cx="2162175" cy="361950"/>
          </a:xfrm>
          <a:prstGeom prst="rect">
            <a:avLst/>
          </a:prstGeom>
        </p:spPr>
      </p:pic>
      <p:pic>
        <p:nvPicPr>
          <p:cNvPr id="30" name="SK-14-img-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9725" y="2604046"/>
            <a:ext cx="152400" cy="228600"/>
          </a:xfrm>
          <a:prstGeom prst="rect">
            <a:avLst/>
          </a:prstGeom>
        </p:spPr>
      </p:pic>
      <p:pic>
        <p:nvPicPr>
          <p:cNvPr id="31" name="SK-14-img-3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9725" y="3118396"/>
            <a:ext cx="178594" cy="214313"/>
          </a:xfrm>
          <a:prstGeom prst="rect">
            <a:avLst/>
          </a:prstGeom>
        </p:spPr>
      </p:pic>
      <p:pic>
        <p:nvPicPr>
          <p:cNvPr id="32" name="SK-14-img-3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9725" y="3632746"/>
            <a:ext cx="171450" cy="228600"/>
          </a:xfrm>
          <a:prstGeom prst="rect">
            <a:avLst/>
          </a:prstGeom>
        </p:spPr>
      </p:pic>
      <p:pic>
        <p:nvPicPr>
          <p:cNvPr id="33" name="SK-14-img-3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924550"/>
            <a:ext cx="11049000" cy="552450"/>
          </a:xfrm>
          <a:prstGeom prst="rect">
            <a:avLst/>
          </a:prstGeom>
        </p:spPr>
      </p:pic>
      <p:pic>
        <p:nvPicPr>
          <p:cNvPr id="34" name="SK-14-img-3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6076950"/>
            <a:ext cx="695325" cy="247650"/>
          </a:xfrm>
          <a:prstGeom prst="rect">
            <a:avLst/>
          </a:prstGeom>
        </p:spPr>
      </p:pic>
      <p:pic>
        <p:nvPicPr>
          <p:cNvPr id="35" name="SK-14-img-3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82013" y="6132165"/>
            <a:ext cx="166688" cy="137220"/>
          </a:xfrm>
          <a:prstGeom prst="rect">
            <a:avLst/>
          </a:prstGeom>
        </p:spPr>
      </p:pic>
      <p:sp>
        <p:nvSpPr>
          <p:cNvPr id="36" name="SK-14-text-35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37" name="SK-14-text-36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Perspectives d'Évolution</a:t>
            </a:r>
            <a:endParaRPr lang="en-US" sz="2400" dirty="0"/>
          </a:p>
        </p:txBody>
      </p:sp>
      <p:sp>
        <p:nvSpPr>
          <p:cNvPr id="38" name="SK-14-text-37"/>
          <p:cNvSpPr/>
          <p:nvPr/>
        </p:nvSpPr>
        <p:spPr>
          <a:xfrm>
            <a:off x="800100" y="2089696"/>
            <a:ext cx="352425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Qualité &amp; Tests</a:t>
            </a:r>
            <a:endParaRPr lang="en-US" sz="1500" dirty="0"/>
          </a:p>
        </p:txBody>
      </p:sp>
      <p:sp>
        <p:nvSpPr>
          <p:cNvPr id="39" name="SK-14-text-38"/>
          <p:cNvSpPr/>
          <p:nvPr/>
        </p:nvSpPr>
        <p:spPr>
          <a:xfrm>
            <a:off x="1066800" y="2604046"/>
            <a:ext cx="189547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place de </a:t>
            </a: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Jest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Supertest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l'API.</a:t>
            </a:r>
            <a:endParaRPr lang="en-US" sz="1125" dirty="0"/>
          </a:p>
        </p:txBody>
      </p:sp>
      <p:sp>
        <p:nvSpPr>
          <p:cNvPr id="40" name="SK-14-text-39"/>
          <p:cNvSpPr/>
          <p:nvPr/>
        </p:nvSpPr>
        <p:spPr>
          <a:xfrm>
            <a:off x="1073944" y="3118396"/>
            <a:ext cx="188833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unitaires avec </a:t>
            </a: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Mocha / Chai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</p:txBody>
      </p:sp>
      <p:sp>
        <p:nvSpPr>
          <p:cNvPr id="41" name="SK-14-text-40"/>
          <p:cNvSpPr/>
          <p:nvPr/>
        </p:nvSpPr>
        <p:spPr>
          <a:xfrm>
            <a:off x="1066800" y="3632746"/>
            <a:ext cx="189547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de la cohérence des exports CSV.</a:t>
            </a:r>
            <a:endParaRPr lang="en-US" sz="1125" dirty="0"/>
          </a:p>
        </p:txBody>
      </p:sp>
      <p:sp>
        <p:nvSpPr>
          <p:cNvPr id="42" name="SK-14-text-41"/>
          <p:cNvSpPr/>
          <p:nvPr/>
        </p:nvSpPr>
        <p:spPr>
          <a:xfrm>
            <a:off x="3609975" y="2089696"/>
            <a:ext cx="306705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UI</a:t>
            </a:r>
            <a:endParaRPr lang="en-US" sz="1500" dirty="0"/>
          </a:p>
        </p:txBody>
      </p:sp>
      <p:sp>
        <p:nvSpPr>
          <p:cNvPr id="43" name="SK-14-text-42"/>
          <p:cNvSpPr/>
          <p:nvPr/>
        </p:nvSpPr>
        <p:spPr>
          <a:xfrm>
            <a:off x="3876675" y="2604046"/>
            <a:ext cx="189547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</a:t>
            </a: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(Tablettes).</a:t>
            </a:r>
            <a:endParaRPr lang="en-US" sz="1125" dirty="0"/>
          </a:p>
        </p:txBody>
      </p:sp>
      <p:sp>
        <p:nvSpPr>
          <p:cNvPr id="44" name="SK-14-text-43"/>
          <p:cNvSpPr/>
          <p:nvPr/>
        </p:nvSpPr>
        <p:spPr>
          <a:xfrm>
            <a:off x="3876675" y="3118396"/>
            <a:ext cx="189547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Amélioration de l'accessibilité (normes WCAG).</a:t>
            </a:r>
            <a:endParaRPr lang="en-US" sz="1125" dirty="0"/>
          </a:p>
        </p:txBody>
      </p:sp>
      <p:sp>
        <p:nvSpPr>
          <p:cNvPr id="45" name="SK-14-text-44"/>
          <p:cNvSpPr/>
          <p:nvPr/>
        </p:nvSpPr>
        <p:spPr>
          <a:xfrm>
            <a:off x="3857625" y="3832771"/>
            <a:ext cx="191452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interactif avec graphiques dynamiques.</a:t>
            </a:r>
            <a:endParaRPr lang="en-US" sz="1125" dirty="0"/>
          </a:p>
        </p:txBody>
      </p:sp>
      <p:sp>
        <p:nvSpPr>
          <p:cNvPr id="46" name="SK-14-text-45"/>
          <p:cNvSpPr/>
          <p:nvPr/>
        </p:nvSpPr>
        <p:spPr>
          <a:xfrm>
            <a:off x="6419850" y="2089696"/>
            <a:ext cx="375285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Fonctions Métier</a:t>
            </a:r>
            <a:endParaRPr lang="en-US" sz="1500" dirty="0"/>
          </a:p>
        </p:txBody>
      </p:sp>
      <p:sp>
        <p:nvSpPr>
          <p:cNvPr id="47" name="SK-14-text-46"/>
          <p:cNvSpPr/>
          <p:nvPr/>
        </p:nvSpPr>
        <p:spPr>
          <a:xfrm>
            <a:off x="6693694" y="2604046"/>
            <a:ext cx="188833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avancée des </a:t>
            </a: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acomptes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facturés.</a:t>
            </a:r>
            <a:endParaRPr lang="en-US" sz="1125" dirty="0"/>
          </a:p>
        </p:txBody>
      </p:sp>
      <p:sp>
        <p:nvSpPr>
          <p:cNvPr id="48" name="SK-14-text-47"/>
          <p:cNvSpPr/>
          <p:nvPr/>
        </p:nvSpPr>
        <p:spPr>
          <a:xfrm>
            <a:off x="6667500" y="3118396"/>
            <a:ext cx="191452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Planification des paiements partiels automatiques.</a:t>
            </a:r>
            <a:endParaRPr lang="en-US" sz="1125" dirty="0"/>
          </a:p>
        </p:txBody>
      </p:sp>
      <p:sp>
        <p:nvSpPr>
          <p:cNvPr id="49" name="SK-14-text-48"/>
          <p:cNvSpPr/>
          <p:nvPr/>
        </p:nvSpPr>
        <p:spPr>
          <a:xfrm>
            <a:off x="6693694" y="3632746"/>
            <a:ext cx="188833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de gestion des stocks de matériel.</a:t>
            </a:r>
            <a:endParaRPr lang="en-US" sz="1125" dirty="0"/>
          </a:p>
        </p:txBody>
      </p:sp>
      <p:sp>
        <p:nvSpPr>
          <p:cNvPr id="50" name="SK-14-text-49"/>
          <p:cNvSpPr/>
          <p:nvPr/>
        </p:nvSpPr>
        <p:spPr>
          <a:xfrm>
            <a:off x="9229725" y="2089696"/>
            <a:ext cx="296227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 &amp; SEO</a:t>
            </a:r>
            <a:endParaRPr lang="en-US" sz="1500" dirty="0"/>
          </a:p>
        </p:txBody>
      </p:sp>
      <p:sp>
        <p:nvSpPr>
          <p:cNvPr id="51" name="SK-14-text-50"/>
          <p:cNvSpPr/>
          <p:nvPr/>
        </p:nvSpPr>
        <p:spPr>
          <a:xfrm>
            <a:off x="9477375" y="2604046"/>
            <a:ext cx="191452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Refactorisation pour une meilleure maintenabilité.</a:t>
            </a:r>
            <a:endParaRPr lang="en-US" sz="1125" dirty="0"/>
          </a:p>
        </p:txBody>
      </p:sp>
      <p:sp>
        <p:nvSpPr>
          <p:cNvPr id="52" name="SK-14-text-51"/>
          <p:cNvSpPr/>
          <p:nvPr/>
        </p:nvSpPr>
        <p:spPr>
          <a:xfrm>
            <a:off x="9503569" y="3118396"/>
            <a:ext cx="188833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</a:t>
            </a: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la vitrine publique.</a:t>
            </a:r>
            <a:endParaRPr lang="en-US" sz="1125" dirty="0"/>
          </a:p>
        </p:txBody>
      </p:sp>
      <p:sp>
        <p:nvSpPr>
          <p:cNvPr id="53" name="SK-14-text-52"/>
          <p:cNvSpPr/>
          <p:nvPr/>
        </p:nvSpPr>
        <p:spPr>
          <a:xfrm>
            <a:off x="9496425" y="3632746"/>
            <a:ext cx="189547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Renforcement des logs et monitoring serveur.</a:t>
            </a:r>
            <a:endParaRPr lang="en-US" sz="1125" dirty="0"/>
          </a:p>
        </p:txBody>
      </p:sp>
      <p:sp>
        <p:nvSpPr>
          <p:cNvPr id="54" name="SK-14-text-53"/>
          <p:cNvSpPr/>
          <p:nvPr/>
        </p:nvSpPr>
        <p:spPr>
          <a:xfrm>
            <a:off x="914400" y="6076950"/>
            <a:ext cx="720664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55" name="SK-14-text-54"/>
          <p:cNvSpPr/>
          <p:nvPr/>
        </p:nvSpPr>
        <p:spPr>
          <a:xfrm>
            <a:off x="1647825" y="6100763"/>
            <a:ext cx="81610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des évolutions via les </a:t>
            </a: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Issues</a:t>
            </a: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sur GitHub</a:t>
            </a:r>
            <a:endParaRPr lang="en-US" sz="1050" dirty="0"/>
          </a:p>
        </p:txBody>
      </p:sp>
      <p:sp>
        <p:nvSpPr>
          <p:cNvPr id="56" name="SK-14-text-55"/>
          <p:cNvSpPr/>
          <p:nvPr/>
        </p:nvSpPr>
        <p:spPr>
          <a:xfrm>
            <a:off x="8724900" y="6100763"/>
            <a:ext cx="3467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/LydieMnr/FmAbattage-Management-app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41896"/>
          </a:xfrm>
          <a:prstGeom prst="rect">
            <a:avLst/>
          </a:prstGeom>
        </p:spPr>
      </p:pic>
      <p:pic>
        <p:nvPicPr>
          <p:cNvPr id="5" name="SK-1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791200"/>
            <a:ext cx="12192000" cy="1066800"/>
          </a:xfrm>
          <a:prstGeom prst="rect">
            <a:avLst/>
          </a:prstGeom>
        </p:spPr>
      </p:pic>
      <p:pic>
        <p:nvPicPr>
          <p:cNvPr id="6" name="SK-1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0425" y="6096000"/>
            <a:ext cx="457200" cy="457200"/>
          </a:xfrm>
          <a:prstGeom prst="rect">
            <a:avLst/>
          </a:prstGeom>
        </p:spPr>
      </p:pic>
      <p:pic>
        <p:nvPicPr>
          <p:cNvPr id="7" name="SK-1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9963" y="6229350"/>
            <a:ext cx="238125" cy="190500"/>
          </a:xfrm>
          <a:prstGeom prst="rect">
            <a:avLst/>
          </a:prstGeom>
        </p:spPr>
      </p:pic>
      <p:pic>
        <p:nvPicPr>
          <p:cNvPr id="8" name="SK-1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825" y="6096000"/>
            <a:ext cx="457200" cy="457200"/>
          </a:xfrm>
          <a:prstGeom prst="rect">
            <a:avLst/>
          </a:prstGeom>
        </p:spPr>
      </p:pic>
      <p:pic>
        <p:nvPicPr>
          <p:cNvPr id="9" name="SK-1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5363" y="6229350"/>
            <a:ext cx="238125" cy="190500"/>
          </a:xfrm>
          <a:prstGeom prst="rect">
            <a:avLst/>
          </a:prstGeom>
        </p:spPr>
      </p:pic>
      <p:pic>
        <p:nvPicPr>
          <p:cNvPr id="10" name="SK-1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5087" y="6096000"/>
            <a:ext cx="457200" cy="457200"/>
          </a:xfrm>
          <a:prstGeom prst="rect">
            <a:avLst/>
          </a:prstGeom>
        </p:spPr>
      </p:pic>
      <p:pic>
        <p:nvPicPr>
          <p:cNvPr id="11" name="SK-1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4625" y="6229350"/>
            <a:ext cx="238125" cy="190500"/>
          </a:xfrm>
          <a:prstGeom prst="rect">
            <a:avLst/>
          </a:prstGeom>
        </p:spPr>
      </p:pic>
      <p:sp>
        <p:nvSpPr>
          <p:cNvPr id="12" name="SK-15-text-11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60" dirty="0">
                <a:solidFill>
                  <a:srgbClr val="059669"/>
                </a:solidFill>
              </a:rPr>
              <a:t>DWWM 2026 // LYDIE MEUNIER</a:t>
            </a:r>
            <a:endParaRPr lang="en-US" sz="1050" dirty="0"/>
          </a:p>
        </p:txBody>
      </p:sp>
      <p:sp>
        <p:nvSpPr>
          <p:cNvPr id="13" name="SK-15-text-12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14" name="SK-15-text-13"/>
          <p:cNvSpPr/>
          <p:nvPr/>
        </p:nvSpPr>
        <p:spPr>
          <a:xfrm>
            <a:off x="1466850" y="2201168"/>
            <a:ext cx="9258300" cy="10400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095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 technique complète aux besoins concrets d'une micro-entreprise.</a:t>
            </a:r>
            <a:endParaRPr lang="en-US" sz="3150" dirty="0"/>
          </a:p>
        </p:txBody>
      </p:sp>
      <p:sp>
        <p:nvSpPr>
          <p:cNvPr id="15" name="SK-15-text-14"/>
          <p:cNvSpPr/>
          <p:nvPr/>
        </p:nvSpPr>
        <p:spPr>
          <a:xfrm>
            <a:off x="2286000" y="3545979"/>
            <a:ext cx="7620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projet FM Abattage démontre la capacité à concevoir, développer et déployer une solution logicielle métier automatisée, sécurisée et pérenne, validant l'ensemble des compétences du titre professionnel DWWM.</a:t>
            </a:r>
            <a:endParaRPr lang="en-US" sz="1500" dirty="0"/>
          </a:p>
        </p:txBody>
      </p:sp>
      <p:sp>
        <p:nvSpPr>
          <p:cNvPr id="16" name="SK-15-text-15"/>
          <p:cNvSpPr/>
          <p:nvPr/>
        </p:nvSpPr>
        <p:spPr>
          <a:xfrm>
            <a:off x="1870025" y="6096000"/>
            <a:ext cx="25546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3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OPÉRATIONNEL</a:t>
            </a:r>
            <a:endParaRPr lang="en-US" sz="1350" dirty="0"/>
          </a:p>
        </p:txBody>
      </p:sp>
      <p:sp>
        <p:nvSpPr>
          <p:cNvPr id="17" name="SK-15-text-16"/>
          <p:cNvSpPr/>
          <p:nvPr/>
        </p:nvSpPr>
        <p:spPr>
          <a:xfrm>
            <a:off x="1870025" y="6353175"/>
            <a:ext cx="42367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Déployé sur Render / Aiven</a:t>
            </a:r>
            <a:endParaRPr lang="en-US" sz="1050" dirty="0"/>
          </a:p>
        </p:txBody>
      </p:sp>
      <p:sp>
        <p:nvSpPr>
          <p:cNvPr id="18" name="SK-15-text-17"/>
          <p:cNvSpPr/>
          <p:nvPr/>
        </p:nvSpPr>
        <p:spPr>
          <a:xfrm>
            <a:off x="5305425" y="6096000"/>
            <a:ext cx="22764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3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SÉCURISÉ</a:t>
            </a:r>
            <a:endParaRPr lang="en-US" sz="1350" dirty="0"/>
          </a:p>
        </p:txBody>
      </p:sp>
      <p:sp>
        <p:nvSpPr>
          <p:cNvPr id="19" name="SK-15-text-18"/>
          <p:cNvSpPr/>
          <p:nvPr/>
        </p:nvSpPr>
        <p:spPr>
          <a:xfrm>
            <a:off x="5305425" y="6353175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Bcrypt, Sessions &amp; SQLi protection</a:t>
            </a:r>
            <a:endParaRPr lang="en-US" sz="1050" dirty="0"/>
          </a:p>
        </p:txBody>
      </p:sp>
      <p:sp>
        <p:nvSpPr>
          <p:cNvPr id="20" name="SK-15-text-19"/>
          <p:cNvSpPr/>
          <p:nvPr/>
        </p:nvSpPr>
        <p:spPr>
          <a:xfrm>
            <a:off x="9164687" y="6096000"/>
            <a:ext cx="192405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3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ÉVOLUTIF</a:t>
            </a:r>
            <a:endParaRPr lang="en-US" sz="1350" dirty="0"/>
          </a:p>
        </p:txBody>
      </p:sp>
      <p:sp>
        <p:nvSpPr>
          <p:cNvPr id="21" name="SK-15-text-20"/>
          <p:cNvSpPr/>
          <p:nvPr/>
        </p:nvSpPr>
        <p:spPr>
          <a:xfrm>
            <a:off x="9164687" y="6353175"/>
            <a:ext cx="3027313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MVC &amp; API REST</a:t>
            </a:r>
            <a:endParaRPr lang="en-US" sz="1050" dirty="0"/>
          </a:p>
        </p:txBody>
      </p:sp>
      <p:sp>
        <p:nvSpPr>
          <p:cNvPr id="22" name="SK-15-text-21"/>
          <p:cNvSpPr/>
          <p:nvPr/>
        </p:nvSpPr>
        <p:spPr>
          <a:xfrm>
            <a:off x="7686675" y="6610350"/>
            <a:ext cx="450532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Lydie Meunier — Session 2026 — Centre Européen de Formation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2025</Words>
  <Application>Microsoft Office PowerPoint</Application>
  <PresentationFormat>Grand écran</PresentationFormat>
  <Paragraphs>421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Inter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Lydie Meunier</cp:lastModifiedBy>
  <cp:revision>1</cp:revision>
  <dcterms:created xsi:type="dcterms:W3CDTF">2026-06-17T08:58:38Z</dcterms:created>
  <dcterms:modified xsi:type="dcterms:W3CDTF">2026-06-17T12:25:48Z</dcterms:modified>
</cp:coreProperties>
</file>