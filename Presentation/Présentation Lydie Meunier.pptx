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492A71-D073-DF18-EE7C-8B1E53122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475A38-B29A-9C33-F90E-95D9FE896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36C9-71A3-AD8C-2B60-3EA3E9FAF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57D7CC-2A32-B86A-8C28-5138A8DB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B7F7E7-199C-BD1F-F2FA-D25FEC30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75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FF8C8F-C1BC-75B6-88F2-615DB8A2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BCD097-198D-E755-EA62-B7DD83DFB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04A81D-66FE-FADB-6050-AEDF512D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EB7FF6-7C8F-B479-A00B-50B541F7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4FCED5-BAD2-580E-8783-CB63D333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5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56A2B9-B9CE-D8A6-1801-55397FAE6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A05221-6A2B-E943-1A42-9626D256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E57A1D-8295-D722-F4E0-FB64197D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17BF5E-505B-CC34-1B92-D6D338C2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87931F-B072-972C-521E-18A98F72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1934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984889-58C9-FB70-E922-7BCDED73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47DA47-F11E-7EDE-5524-4351A206F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2B6C82-9ECB-C864-7413-0E51EA774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F20252-8EB0-905D-A749-E4721730D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90CC47-15EF-BE32-4323-15456455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C6FB01-897B-B1A6-0CC8-8445359F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48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14981-5E41-A483-CCDB-78A1F676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6C2316-1D59-1D2A-1AD5-813DF098A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695544-59EA-8A6A-0EE8-BF013105E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FEB5C-395D-D8F7-733F-2B23DAB64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AF0E5F-C941-8C3C-14A6-7E10E90A4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DB68F6D-D8B5-98F9-B602-78A85040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B00BF1-3075-A540-ED72-EF91749E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87CC9C-724D-E970-FBD6-E4B66D0DE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479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3FA3D-AF25-DDF0-BD8E-36E215BC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524489C-F695-AA7B-DCF8-3730B26D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C6EE00-D4BF-2493-51B0-AC1732E2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AB84C5-B84A-25FB-F973-C2E74820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072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101F39-378B-CF49-68F5-8B0809AD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82CA60F-4123-FB94-16FC-CDEF3DAE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C3053D-1D7A-7530-DB5D-714CA109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06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B6BD74-B4D9-EE90-47A6-ECF36F6F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BC93B5-CD82-23C4-6EE5-B2188470B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685951-6BE7-09BE-F92E-A09C5C850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4F615A-4550-5D1C-29F2-7B7D0BFA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0013D4-61BF-877E-31E3-D034DFD72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BD8598-8BF7-FE0F-B679-1E31BD92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201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DDCCA3-7023-989F-3C51-F86305A9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561A2DE-753E-749F-D051-108BD7C6C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0714EA-86DE-BBFA-8BE1-21D182913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CAD3C5-C1DE-DE82-BC4E-2F1937CF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99411C-A99B-18B3-9D12-0E29D64A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67F14A-0031-BEF9-F09B-B708B3D0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72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5B4C35-5938-0F8F-D309-95DC54CA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C7A7F0-F57D-3AE1-4C65-E550B2FB2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C7C972-9839-22F8-1B31-582D89C1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C92DD2-3E02-F3CC-92A9-CF22383C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F6B8F-1FDA-5CA8-9E3F-1932A345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3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92ECC2-997A-5224-1018-229649761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A44594-6788-9C64-1FF3-0ED7D37AF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3E087E-836A-6A5E-24FA-F520BDD30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ABD3DF-E03C-224B-38B9-324E88B91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C05403-7593-A607-A737-8BA46C11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93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DF2E898-92B5-8E72-4E82-A53C175C9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3DE3BF-22DA-853C-AE88-C84940FDE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F3D4A6-D864-CCD3-2C25-4BB29F695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C565D-6717-46E5-BF7D-8345B729939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8ADF88-6A77-A457-A693-B183B5C3D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C25D49-BCEF-5516-331A-9A12C48AA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87F17-012C-41E2-8DA8-103D90BE1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62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31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30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1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11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10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11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11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11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10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11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" Type="http://schemas.openxmlformats.org/officeDocument/2006/relationships/image" Target="../media/image10.png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19" Type="http://schemas.openxmlformats.org/officeDocument/2006/relationships/image" Target="../media/image135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31.pn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5" Type="http://schemas.openxmlformats.org/officeDocument/2006/relationships/image" Target="../media/image156.png"/><Relationship Id="rId2" Type="http://schemas.openxmlformats.org/officeDocument/2006/relationships/image" Target="../media/image136.png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24" Type="http://schemas.openxmlformats.org/officeDocument/2006/relationships/image" Target="../media/image155.png"/><Relationship Id="rId5" Type="http://schemas.openxmlformats.org/officeDocument/2006/relationships/image" Target="../media/image11.png"/><Relationship Id="rId15" Type="http://schemas.openxmlformats.org/officeDocument/2006/relationships/image" Target="../media/image146.png"/><Relationship Id="rId23" Type="http://schemas.openxmlformats.org/officeDocument/2006/relationships/image" Target="../media/image154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0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3" Type="http://schemas.openxmlformats.org/officeDocument/2006/relationships/image" Target="../media/image11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3" Type="http://schemas.openxmlformats.org/officeDocument/2006/relationships/image" Target="../media/image11.png"/><Relationship Id="rId21" Type="http://schemas.openxmlformats.org/officeDocument/2006/relationships/image" Target="../media/image184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" Type="http://schemas.openxmlformats.org/officeDocument/2006/relationships/image" Target="../media/image10.png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24" Type="http://schemas.openxmlformats.org/officeDocument/2006/relationships/image" Target="../media/image187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23" Type="http://schemas.openxmlformats.org/officeDocument/2006/relationships/image" Target="../media/image186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8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7" Type="http://schemas.openxmlformats.org/officeDocument/2006/relationships/image" Target="../media/image11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0.png"/><Relationship Id="rId7" Type="http://schemas.openxmlformats.org/officeDocument/2006/relationships/image" Target="../media/image19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1.png"/><Relationship Id="rId9" Type="http://schemas.openxmlformats.org/officeDocument/2006/relationships/image" Target="../media/image19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04.png"/><Relationship Id="rId18" Type="http://schemas.openxmlformats.org/officeDocument/2006/relationships/image" Target="../media/image209.png"/><Relationship Id="rId26" Type="http://schemas.openxmlformats.org/officeDocument/2006/relationships/image" Target="../media/image217.png"/><Relationship Id="rId3" Type="http://schemas.openxmlformats.org/officeDocument/2006/relationships/image" Target="../media/image31.png"/><Relationship Id="rId21" Type="http://schemas.openxmlformats.org/officeDocument/2006/relationships/image" Target="../media/image212.png"/><Relationship Id="rId7" Type="http://schemas.openxmlformats.org/officeDocument/2006/relationships/image" Target="../media/image199.png"/><Relationship Id="rId12" Type="http://schemas.openxmlformats.org/officeDocument/2006/relationships/image" Target="../media/image203.png"/><Relationship Id="rId17" Type="http://schemas.openxmlformats.org/officeDocument/2006/relationships/image" Target="../media/image208.png"/><Relationship Id="rId25" Type="http://schemas.openxmlformats.org/officeDocument/2006/relationships/image" Target="../media/image216.png"/><Relationship Id="rId2" Type="http://schemas.openxmlformats.org/officeDocument/2006/relationships/image" Target="../media/image197.png"/><Relationship Id="rId16" Type="http://schemas.openxmlformats.org/officeDocument/2006/relationships/image" Target="../media/image207.png"/><Relationship Id="rId20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8.png"/><Relationship Id="rId11" Type="http://schemas.openxmlformats.org/officeDocument/2006/relationships/image" Target="../media/image202.png"/><Relationship Id="rId24" Type="http://schemas.openxmlformats.org/officeDocument/2006/relationships/image" Target="../media/image215.png"/><Relationship Id="rId5" Type="http://schemas.openxmlformats.org/officeDocument/2006/relationships/image" Target="../media/image11.png"/><Relationship Id="rId15" Type="http://schemas.openxmlformats.org/officeDocument/2006/relationships/image" Target="../media/image206.png"/><Relationship Id="rId23" Type="http://schemas.openxmlformats.org/officeDocument/2006/relationships/image" Target="../media/image214.png"/><Relationship Id="rId10" Type="http://schemas.openxmlformats.org/officeDocument/2006/relationships/image" Target="../media/image201.png"/><Relationship Id="rId19" Type="http://schemas.openxmlformats.org/officeDocument/2006/relationships/image" Target="../media/image210.png"/><Relationship Id="rId4" Type="http://schemas.openxmlformats.org/officeDocument/2006/relationships/image" Target="../media/image10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Relationship Id="rId22" Type="http://schemas.openxmlformats.org/officeDocument/2006/relationships/image" Target="../media/image213.png"/><Relationship Id="rId27" Type="http://schemas.openxmlformats.org/officeDocument/2006/relationships/image" Target="../media/image2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image" Target="../media/image226.png"/><Relationship Id="rId3" Type="http://schemas.openxmlformats.org/officeDocument/2006/relationships/image" Target="../media/image31.png"/><Relationship Id="rId7" Type="http://schemas.openxmlformats.org/officeDocument/2006/relationships/image" Target="../media/image220.png"/><Relationship Id="rId12" Type="http://schemas.openxmlformats.org/officeDocument/2006/relationships/image" Target="../media/image225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11" Type="http://schemas.openxmlformats.org/officeDocument/2006/relationships/image" Target="../media/image224.png"/><Relationship Id="rId5" Type="http://schemas.openxmlformats.org/officeDocument/2006/relationships/image" Target="../media/image11.png"/><Relationship Id="rId10" Type="http://schemas.openxmlformats.org/officeDocument/2006/relationships/image" Target="../media/image223.png"/><Relationship Id="rId4" Type="http://schemas.openxmlformats.org/officeDocument/2006/relationships/image" Target="../media/image10.png"/><Relationship Id="rId9" Type="http://schemas.openxmlformats.org/officeDocument/2006/relationships/image" Target="../media/image2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1-img-1" descr="preencoded.png">
            <a:extLst>
              <a:ext uri="{FF2B5EF4-FFF2-40B4-BE49-F238E27FC236}">
                <a16:creationId xmlns:a16="http://schemas.microsoft.com/office/drawing/2014/main" id="{FB840A51-7986-E82B-60E7-50E8064B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SK-1-img-2" descr="preencoded.png">
            <a:extLst>
              <a:ext uri="{FF2B5EF4-FFF2-40B4-BE49-F238E27FC236}">
                <a16:creationId xmlns:a16="http://schemas.microsoft.com/office/drawing/2014/main" id="{F1E2C6A0-7679-01B4-9D59-FEAEAB1D4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9" name="SK-1-img-3" descr="preencoded.png">
            <a:extLst>
              <a:ext uri="{FF2B5EF4-FFF2-40B4-BE49-F238E27FC236}">
                <a16:creationId xmlns:a16="http://schemas.microsoft.com/office/drawing/2014/main" id="{8C3AE084-452A-390C-E073-6A3DFF350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94" y="3271242"/>
            <a:ext cx="1633686" cy="178296"/>
          </a:xfrm>
          <a:prstGeom prst="rect">
            <a:avLst/>
          </a:prstGeom>
        </p:spPr>
      </p:pic>
      <p:pic>
        <p:nvPicPr>
          <p:cNvPr id="11" name="SK-1-img-4" descr="preencoded.png">
            <a:extLst>
              <a:ext uri="{FF2B5EF4-FFF2-40B4-BE49-F238E27FC236}">
                <a16:creationId xmlns:a16="http://schemas.microsoft.com/office/drawing/2014/main" id="{8CF6E931-A090-2C0C-0FCD-ED94B035A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61" y="6544568"/>
            <a:ext cx="11216580" cy="9525"/>
          </a:xfrm>
          <a:prstGeom prst="rect">
            <a:avLst/>
          </a:prstGeom>
        </p:spPr>
      </p:pic>
      <p:pic>
        <p:nvPicPr>
          <p:cNvPr id="13" name="SK-1-img-5" descr="preencoded.png">
            <a:extLst>
              <a:ext uri="{FF2B5EF4-FFF2-40B4-BE49-F238E27FC236}">
                <a16:creationId xmlns:a16="http://schemas.microsoft.com/office/drawing/2014/main" id="{3E788BA3-4B72-FDAD-5F04-381FCDC87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0698" y="4336256"/>
            <a:ext cx="2413992" cy="9525"/>
          </a:xfrm>
          <a:prstGeom prst="rect">
            <a:avLst/>
          </a:prstGeom>
        </p:spPr>
      </p:pic>
      <p:pic>
        <p:nvPicPr>
          <p:cNvPr id="15" name="SK-1-img-6" descr="preencoded.png">
            <a:extLst>
              <a:ext uri="{FF2B5EF4-FFF2-40B4-BE49-F238E27FC236}">
                <a16:creationId xmlns:a16="http://schemas.microsoft.com/office/drawing/2014/main" id="{47E78EDD-DBA4-8BEC-DE9D-06E964AAA8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4900" y="5335488"/>
            <a:ext cx="9525" cy="301675"/>
          </a:xfrm>
          <a:prstGeom prst="rect">
            <a:avLst/>
          </a:prstGeom>
        </p:spPr>
      </p:pic>
      <p:pic>
        <p:nvPicPr>
          <p:cNvPr id="17" name="SK-1-img-7" descr="preencoded.png">
            <a:extLst>
              <a:ext uri="{FF2B5EF4-FFF2-40B4-BE49-F238E27FC236}">
                <a16:creationId xmlns:a16="http://schemas.microsoft.com/office/drawing/2014/main" id="{37867B23-5158-36BA-138E-4A5F1DED93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694" y="630882"/>
            <a:ext cx="4376886" cy="137071"/>
          </a:xfrm>
          <a:prstGeom prst="rect">
            <a:avLst/>
          </a:prstGeom>
        </p:spPr>
      </p:pic>
      <p:pic>
        <p:nvPicPr>
          <p:cNvPr id="19" name="SK-1-img-8" descr="preencoded.png">
            <a:extLst>
              <a:ext uri="{FF2B5EF4-FFF2-40B4-BE49-F238E27FC236}">
                <a16:creationId xmlns:a16="http://schemas.microsoft.com/office/drawing/2014/main" id="{8D2B25F6-FFC3-C46E-1534-C43DE38537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694" y="1680121"/>
            <a:ext cx="5778996" cy="1371600"/>
          </a:xfrm>
          <a:prstGeom prst="rect">
            <a:avLst/>
          </a:prstGeom>
        </p:spPr>
      </p:pic>
      <p:pic>
        <p:nvPicPr>
          <p:cNvPr id="21" name="SK-1-img-9" descr="preencoded.png">
            <a:extLst>
              <a:ext uri="{FF2B5EF4-FFF2-40B4-BE49-F238E27FC236}">
                <a16:creationId xmlns:a16="http://schemas.microsoft.com/office/drawing/2014/main" id="{2B497041-E6CB-3895-F7F6-AC3206378E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361" y="1152079"/>
            <a:ext cx="2852886" cy="2914650"/>
          </a:xfrm>
          <a:prstGeom prst="rect">
            <a:avLst/>
          </a:prstGeom>
        </p:spPr>
      </p:pic>
      <p:sp>
        <p:nvSpPr>
          <p:cNvPr id="23" name="SK-1-text-10">
            <a:extLst>
              <a:ext uri="{FF2B5EF4-FFF2-40B4-BE49-F238E27FC236}">
                <a16:creationId xmlns:a16="http://schemas.microsoft.com/office/drawing/2014/main" id="{A1D5D42E-6AA6-C69F-732C-333216BB5917}"/>
              </a:ext>
            </a:extLst>
          </p:cNvPr>
          <p:cNvSpPr/>
          <p:nvPr/>
        </p:nvSpPr>
        <p:spPr>
          <a:xfrm>
            <a:off x="731490" y="617190"/>
            <a:ext cx="8177212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757575"/>
                </a:solidFill>
                <a:ea typeface="Inter" pitchFamily="34" charset="-122"/>
                <a:cs typeface="Inter" pitchFamily="34" charset="-120"/>
              </a:rPr>
              <a:t>TITRE PROFESSIONNEL DWWM · SESSION 2026</a:t>
            </a:r>
            <a:endParaRPr lang="en-US" sz="1275" dirty="0"/>
          </a:p>
        </p:txBody>
      </p:sp>
      <p:sp>
        <p:nvSpPr>
          <p:cNvPr id="25" name="SK-1-text-11">
            <a:extLst>
              <a:ext uri="{FF2B5EF4-FFF2-40B4-BE49-F238E27FC236}">
                <a16:creationId xmlns:a16="http://schemas.microsoft.com/office/drawing/2014/main" id="{87B8A70C-0405-3742-1F3D-1B36C1F43C99}"/>
              </a:ext>
            </a:extLst>
          </p:cNvPr>
          <p:cNvSpPr/>
          <p:nvPr/>
        </p:nvSpPr>
        <p:spPr>
          <a:xfrm>
            <a:off x="719286" y="1645890"/>
            <a:ext cx="5681365" cy="13852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4571"/>
              </a:lnSpc>
              <a:buNone/>
            </a:pPr>
            <a:r>
              <a:rPr lang="en-US" sz="3975" b="1" dirty="0">
                <a:solidFill>
                  <a:srgbClr val="2D2E32"/>
                </a:solidFill>
                <a:ea typeface="Inter" pitchFamily="34" charset="-122"/>
                <a:cs typeface="Inter" pitchFamily="34" charset="-120"/>
              </a:rPr>
              <a:t>Projet FM Abattage</a:t>
            </a:r>
            <a:endParaRPr lang="en-US" sz="3975" dirty="0"/>
          </a:p>
          <a:p>
            <a:pPr marL="0" indent="0" algn="l">
              <a:lnSpc>
                <a:spcPts val="4571"/>
              </a:lnSpc>
              <a:buNone/>
            </a:pPr>
            <a:r>
              <a:rPr lang="en-US" sz="3975" b="1" dirty="0">
                <a:solidFill>
                  <a:srgbClr val="2D2E32"/>
                </a:solidFill>
                <a:ea typeface="Inter" pitchFamily="34" charset="-122"/>
                <a:cs typeface="Inter" pitchFamily="34" charset="-120"/>
              </a:rPr>
              <a:t>Application de Gestion</a:t>
            </a:r>
            <a:endParaRPr lang="en-US" sz="3975" dirty="0"/>
          </a:p>
        </p:txBody>
      </p:sp>
      <p:sp>
        <p:nvSpPr>
          <p:cNvPr id="27" name="SK-1-text-12">
            <a:extLst>
              <a:ext uri="{FF2B5EF4-FFF2-40B4-BE49-F238E27FC236}">
                <a16:creationId xmlns:a16="http://schemas.microsoft.com/office/drawing/2014/main" id="{5FB0CAC8-A06A-A5A3-4EFF-D542D8F0235A}"/>
              </a:ext>
            </a:extLst>
          </p:cNvPr>
          <p:cNvSpPr/>
          <p:nvPr/>
        </p:nvSpPr>
        <p:spPr>
          <a:xfrm>
            <a:off x="707082" y="3737521"/>
            <a:ext cx="5973961" cy="8914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1725" dirty="0">
                <a:solidFill>
                  <a:srgbClr val="2D2E32"/>
                </a:solidFill>
                <a:ea typeface="Inter" pitchFamily="34" charset="-122"/>
                <a:cs typeface="Inter" pitchFamily="34" charset="-120"/>
              </a:rPr>
              <a:t>Présentation du projet de développement full-stack réalisé</a:t>
            </a:r>
            <a:endParaRPr lang="en-US" sz="1725" dirty="0"/>
          </a:p>
          <a:p>
            <a:pPr marL="0" indent="0" algn="l">
              <a:lnSpc>
                <a:spcPts val="2329"/>
              </a:lnSpc>
              <a:buNone/>
            </a:pPr>
            <a:r>
              <a:rPr lang="en-US" sz="1725" dirty="0">
                <a:solidFill>
                  <a:srgbClr val="2D2E32"/>
                </a:solidFill>
                <a:ea typeface="Inter" pitchFamily="34" charset="-122"/>
                <a:cs typeface="Inter" pitchFamily="34" charset="-120"/>
              </a:rPr>
              <a:t>par Lydie Meunier pour le Titre Professionnel Développeur</a:t>
            </a:r>
            <a:endParaRPr lang="en-US" sz="1725" dirty="0"/>
          </a:p>
          <a:p>
            <a:pPr marL="0" indent="0" algn="l">
              <a:lnSpc>
                <a:spcPts val="2329"/>
              </a:lnSpc>
              <a:buNone/>
            </a:pPr>
            <a:r>
              <a:rPr lang="en-US" sz="1725" dirty="0">
                <a:solidFill>
                  <a:srgbClr val="2D2E32"/>
                </a:solidFill>
                <a:ea typeface="Inter" pitchFamily="34" charset="-122"/>
                <a:cs typeface="Inter" pitchFamily="34" charset="-120"/>
              </a:rPr>
              <a:t>Web et Web Mobile, session 2026.</a:t>
            </a:r>
            <a:endParaRPr lang="en-US" sz="1725" dirty="0"/>
          </a:p>
        </p:txBody>
      </p:sp>
      <p:sp>
        <p:nvSpPr>
          <p:cNvPr id="29" name="SK-1-text-13">
            <a:extLst>
              <a:ext uri="{FF2B5EF4-FFF2-40B4-BE49-F238E27FC236}">
                <a16:creationId xmlns:a16="http://schemas.microsoft.com/office/drawing/2014/main" id="{084EC775-C7DA-1963-B3C3-3AF535918D82}"/>
              </a:ext>
            </a:extLst>
          </p:cNvPr>
          <p:cNvSpPr/>
          <p:nvPr/>
        </p:nvSpPr>
        <p:spPr>
          <a:xfrm>
            <a:off x="719286" y="5369719"/>
            <a:ext cx="3987165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2E32"/>
                </a:solidFill>
                <a:ea typeface="Inter" pitchFamily="34" charset="-122"/>
                <a:cs typeface="Inter" pitchFamily="34" charset="-120"/>
              </a:rPr>
              <a:t>Lydie Meunier</a:t>
            </a:r>
            <a:endParaRPr lang="en-US" sz="1950" dirty="0"/>
          </a:p>
        </p:txBody>
      </p:sp>
      <p:sp>
        <p:nvSpPr>
          <p:cNvPr id="31" name="SK-1-text-14">
            <a:extLst>
              <a:ext uri="{FF2B5EF4-FFF2-40B4-BE49-F238E27FC236}">
                <a16:creationId xmlns:a16="http://schemas.microsoft.com/office/drawing/2014/main" id="{134761D8-A49E-CA6E-1B8A-190CE433CA34}"/>
              </a:ext>
            </a:extLst>
          </p:cNvPr>
          <p:cNvSpPr/>
          <p:nvPr/>
        </p:nvSpPr>
        <p:spPr>
          <a:xfrm>
            <a:off x="3121075" y="5369719"/>
            <a:ext cx="3176588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757575"/>
                </a:solidFill>
                <a:ea typeface="Inter" pitchFamily="34" charset="-122"/>
                <a:cs typeface="Inter" pitchFamily="34" charset="-120"/>
              </a:rPr>
              <a:t>Juin 2026</a:t>
            </a:r>
            <a:endParaRPr lang="en-US" sz="1725" dirty="0"/>
          </a:p>
        </p:txBody>
      </p:sp>
      <p:sp>
        <p:nvSpPr>
          <p:cNvPr id="33" name="SK-1-text-15">
            <a:extLst>
              <a:ext uri="{FF2B5EF4-FFF2-40B4-BE49-F238E27FC236}">
                <a16:creationId xmlns:a16="http://schemas.microsoft.com/office/drawing/2014/main" id="{918DC105-C2E5-E7AF-3999-B3B918B7A27A}"/>
              </a:ext>
            </a:extLst>
          </p:cNvPr>
          <p:cNvSpPr/>
          <p:nvPr/>
        </p:nvSpPr>
        <p:spPr>
          <a:xfrm>
            <a:off x="743694" y="5980063"/>
            <a:ext cx="584644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757575"/>
                </a:solidFill>
                <a:ea typeface="Inter" pitchFamily="34" charset="-122"/>
                <a:cs typeface="Inter" pitchFamily="34" charset="-120"/>
              </a:rPr>
              <a:t>Centre Européen de Formation</a:t>
            </a:r>
            <a:endParaRPr lang="en-US" sz="1350" dirty="0"/>
          </a:p>
        </p:txBody>
      </p:sp>
      <p:sp>
        <p:nvSpPr>
          <p:cNvPr id="35" name="SK-1-text-16">
            <a:extLst>
              <a:ext uri="{FF2B5EF4-FFF2-40B4-BE49-F238E27FC236}">
                <a16:creationId xmlns:a16="http://schemas.microsoft.com/office/drawing/2014/main" id="{ECB05764-383A-8731-FEA1-401383D15352}"/>
              </a:ext>
            </a:extLst>
          </p:cNvPr>
          <p:cNvSpPr/>
          <p:nvPr/>
        </p:nvSpPr>
        <p:spPr>
          <a:xfrm>
            <a:off x="8548836" y="4622155"/>
            <a:ext cx="2580084" cy="4594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FM Abattage</a:t>
            </a:r>
            <a:endParaRPr lang="en-US" sz="3000" dirty="0"/>
          </a:p>
        </p:txBody>
      </p:sp>
      <p:sp>
        <p:nvSpPr>
          <p:cNvPr id="37" name="SK-1-text-17">
            <a:extLst>
              <a:ext uri="{FF2B5EF4-FFF2-40B4-BE49-F238E27FC236}">
                <a16:creationId xmlns:a16="http://schemas.microsoft.com/office/drawing/2014/main" id="{EA947479-D2C1-6E2B-61A3-B48C14BE43FE}"/>
              </a:ext>
            </a:extLst>
          </p:cNvPr>
          <p:cNvSpPr/>
          <p:nvPr/>
        </p:nvSpPr>
        <p:spPr>
          <a:xfrm>
            <a:off x="8525917" y="5232648"/>
            <a:ext cx="2625775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Paysagisme &amp; Abattage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6679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2-img-3" descr="preencoded.png">
            <a:extLst>
              <a:ext uri="{FF2B5EF4-FFF2-40B4-BE49-F238E27FC236}">
                <a16:creationId xmlns:a16="http://schemas.microsoft.com/office/drawing/2014/main" id="{015AC746-1959-D20A-2E28-2F188A95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5" name="SK-2-img-4" descr="preencoded.png">
            <a:extLst>
              <a:ext uri="{FF2B5EF4-FFF2-40B4-BE49-F238E27FC236}">
                <a16:creationId xmlns:a16="http://schemas.microsoft.com/office/drawing/2014/main" id="{A0E5BE74-D376-6F99-B920-80D51923D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7" name="SK-2-img-5" descr="preencoded.png">
            <a:extLst>
              <a:ext uri="{FF2B5EF4-FFF2-40B4-BE49-F238E27FC236}">
                <a16:creationId xmlns:a16="http://schemas.microsoft.com/office/drawing/2014/main" id="{2564DC03-0BB4-4068-0CB9-EBB2CB154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61021"/>
            <a:ext cx="11049000" cy="257175"/>
          </a:xfrm>
          <a:prstGeom prst="rect">
            <a:avLst/>
          </a:prstGeom>
        </p:spPr>
      </p:pic>
      <p:pic>
        <p:nvPicPr>
          <p:cNvPr id="9" name="SK-2-img-6" descr="preencoded.png">
            <a:extLst>
              <a:ext uri="{FF2B5EF4-FFF2-40B4-BE49-F238E27FC236}">
                <a16:creationId xmlns:a16="http://schemas.microsoft.com/office/drawing/2014/main" id="{CD8E0716-5EF6-73AB-16FE-63F6529E1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301948"/>
            <a:ext cx="214313" cy="175320"/>
          </a:xfrm>
          <a:prstGeom prst="rect">
            <a:avLst/>
          </a:prstGeom>
        </p:spPr>
      </p:pic>
      <p:pic>
        <p:nvPicPr>
          <p:cNvPr id="11" name="SK-2-img-7" descr="preencoded.png">
            <a:extLst>
              <a:ext uri="{FF2B5EF4-FFF2-40B4-BE49-F238E27FC236}">
                <a16:creationId xmlns:a16="http://schemas.microsoft.com/office/drawing/2014/main" id="{2AD6973B-1FCB-2BB4-0ACE-BE5557A75F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58715"/>
            <a:ext cx="11049000" cy="843111"/>
          </a:xfrm>
          <a:prstGeom prst="rect">
            <a:avLst/>
          </a:prstGeom>
        </p:spPr>
      </p:pic>
      <p:pic>
        <p:nvPicPr>
          <p:cNvPr id="13" name="SK-2-img-8" descr="preencoded.png">
            <a:extLst>
              <a:ext uri="{FF2B5EF4-FFF2-40B4-BE49-F238E27FC236}">
                <a16:creationId xmlns:a16="http://schemas.microsoft.com/office/drawing/2014/main" id="{2874DB26-C0AD-7AAA-5751-D41BB94E18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996827"/>
            <a:ext cx="457200" cy="457200"/>
          </a:xfrm>
          <a:prstGeom prst="rect">
            <a:avLst/>
          </a:prstGeom>
        </p:spPr>
      </p:pic>
      <p:pic>
        <p:nvPicPr>
          <p:cNvPr id="15" name="SK-2-img-9" descr="preencoded.png">
            <a:extLst>
              <a:ext uri="{FF2B5EF4-FFF2-40B4-BE49-F238E27FC236}">
                <a16:creationId xmlns:a16="http://schemas.microsoft.com/office/drawing/2014/main" id="{473A591C-024E-525E-BB49-CB75F2ED14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1738" y="2068264"/>
            <a:ext cx="1300163" cy="314325"/>
          </a:xfrm>
          <a:prstGeom prst="rect">
            <a:avLst/>
          </a:prstGeom>
        </p:spPr>
      </p:pic>
      <p:pic>
        <p:nvPicPr>
          <p:cNvPr id="17" name="SK-2-img-10" descr="preencoded.png">
            <a:extLst>
              <a:ext uri="{FF2B5EF4-FFF2-40B4-BE49-F238E27FC236}">
                <a16:creationId xmlns:a16="http://schemas.microsoft.com/office/drawing/2014/main" id="{C5D3E483-3AA1-6623-4F54-5A213DA72A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4138" y="2158752"/>
            <a:ext cx="166688" cy="133350"/>
          </a:xfrm>
          <a:prstGeom prst="rect">
            <a:avLst/>
          </a:prstGeom>
        </p:spPr>
      </p:pic>
      <p:pic>
        <p:nvPicPr>
          <p:cNvPr id="19" name="SK-2-img-11" descr="preencoded.png">
            <a:extLst>
              <a:ext uri="{FF2B5EF4-FFF2-40B4-BE49-F238E27FC236}">
                <a16:creationId xmlns:a16="http://schemas.microsoft.com/office/drawing/2014/main" id="{8FCB2577-8DA2-9F23-3148-D9E37F1CF8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61357"/>
            <a:ext cx="11049000" cy="843111"/>
          </a:xfrm>
          <a:prstGeom prst="rect">
            <a:avLst/>
          </a:prstGeom>
        </p:spPr>
      </p:pic>
      <p:pic>
        <p:nvPicPr>
          <p:cNvPr id="21" name="SK-2-img-12" descr="preencoded.png">
            <a:extLst>
              <a:ext uri="{FF2B5EF4-FFF2-40B4-BE49-F238E27FC236}">
                <a16:creationId xmlns:a16="http://schemas.microsoft.com/office/drawing/2014/main" id="{5E7B7C1A-1141-E69E-C699-B3480ED22E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954238"/>
            <a:ext cx="457200" cy="457200"/>
          </a:xfrm>
          <a:prstGeom prst="rect">
            <a:avLst/>
          </a:prstGeom>
        </p:spPr>
      </p:pic>
      <p:pic>
        <p:nvPicPr>
          <p:cNvPr id="23" name="SK-2-img-13" descr="preencoded.png">
            <a:extLst>
              <a:ext uri="{FF2B5EF4-FFF2-40B4-BE49-F238E27FC236}">
                <a16:creationId xmlns:a16="http://schemas.microsoft.com/office/drawing/2014/main" id="{F4C24023-9D5D-E5CD-ED68-DC41BEF1FE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1263" y="3025676"/>
            <a:ext cx="1290638" cy="314325"/>
          </a:xfrm>
          <a:prstGeom prst="rect">
            <a:avLst/>
          </a:prstGeom>
        </p:spPr>
      </p:pic>
      <p:pic>
        <p:nvPicPr>
          <p:cNvPr id="25" name="SK-2-img-14" descr="preencoded.png">
            <a:extLst>
              <a:ext uri="{FF2B5EF4-FFF2-40B4-BE49-F238E27FC236}">
                <a16:creationId xmlns:a16="http://schemas.microsoft.com/office/drawing/2014/main" id="{C7B99580-9742-8177-8985-0445D232F3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3663" y="3116163"/>
            <a:ext cx="166688" cy="133350"/>
          </a:xfrm>
          <a:prstGeom prst="rect">
            <a:avLst/>
          </a:prstGeom>
        </p:spPr>
      </p:pic>
      <p:pic>
        <p:nvPicPr>
          <p:cNvPr id="27" name="SK-2-img-15" descr="preencoded.png">
            <a:extLst>
              <a:ext uri="{FF2B5EF4-FFF2-40B4-BE49-F238E27FC236}">
                <a16:creationId xmlns:a16="http://schemas.microsoft.com/office/drawing/2014/main" id="{8E246707-90BC-73C1-F68B-1C98B52F45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718768"/>
            <a:ext cx="11049000" cy="843111"/>
          </a:xfrm>
          <a:prstGeom prst="rect">
            <a:avLst/>
          </a:prstGeom>
        </p:spPr>
      </p:pic>
      <p:pic>
        <p:nvPicPr>
          <p:cNvPr id="29" name="SK-2-img-16" descr="preencoded.png">
            <a:extLst>
              <a:ext uri="{FF2B5EF4-FFF2-40B4-BE49-F238E27FC236}">
                <a16:creationId xmlns:a16="http://schemas.microsoft.com/office/drawing/2014/main" id="{BFE8F79C-8151-4D65-3FFF-6B520D7511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911650"/>
            <a:ext cx="457200" cy="457200"/>
          </a:xfrm>
          <a:prstGeom prst="rect">
            <a:avLst/>
          </a:prstGeom>
        </p:spPr>
      </p:pic>
      <p:pic>
        <p:nvPicPr>
          <p:cNvPr id="31" name="SK-2-img-17" descr="preencoded.png">
            <a:extLst>
              <a:ext uri="{FF2B5EF4-FFF2-40B4-BE49-F238E27FC236}">
                <a16:creationId xmlns:a16="http://schemas.microsoft.com/office/drawing/2014/main" id="{1D1D3B5A-1AEE-9D1F-1EA8-431A597C916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34588" y="3983087"/>
            <a:ext cx="1357313" cy="314325"/>
          </a:xfrm>
          <a:prstGeom prst="rect">
            <a:avLst/>
          </a:prstGeom>
        </p:spPr>
      </p:pic>
      <p:pic>
        <p:nvPicPr>
          <p:cNvPr id="33" name="SK-2-img-18" descr="preencoded.png">
            <a:extLst>
              <a:ext uri="{FF2B5EF4-FFF2-40B4-BE49-F238E27FC236}">
                <a16:creationId xmlns:a16="http://schemas.microsoft.com/office/drawing/2014/main" id="{73332014-538B-9C1D-6680-D737C0B885B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86988" y="4073575"/>
            <a:ext cx="166688" cy="133350"/>
          </a:xfrm>
          <a:prstGeom prst="rect">
            <a:avLst/>
          </a:prstGeom>
        </p:spPr>
      </p:pic>
      <p:pic>
        <p:nvPicPr>
          <p:cNvPr id="35" name="SK-2-img-19" descr="preencoded.png">
            <a:extLst>
              <a:ext uri="{FF2B5EF4-FFF2-40B4-BE49-F238E27FC236}">
                <a16:creationId xmlns:a16="http://schemas.microsoft.com/office/drawing/2014/main" id="{46CC1009-25E1-050C-A4C1-93A0D121849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4676180"/>
            <a:ext cx="11049000" cy="843111"/>
          </a:xfrm>
          <a:prstGeom prst="rect">
            <a:avLst/>
          </a:prstGeom>
        </p:spPr>
      </p:pic>
      <p:pic>
        <p:nvPicPr>
          <p:cNvPr id="37" name="SK-2-img-20" descr="preencoded.png">
            <a:extLst>
              <a:ext uri="{FF2B5EF4-FFF2-40B4-BE49-F238E27FC236}">
                <a16:creationId xmlns:a16="http://schemas.microsoft.com/office/drawing/2014/main" id="{8317B850-4F45-EC75-9BDA-2487F21926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869061"/>
            <a:ext cx="457200" cy="457200"/>
          </a:xfrm>
          <a:prstGeom prst="rect">
            <a:avLst/>
          </a:prstGeom>
        </p:spPr>
      </p:pic>
      <p:pic>
        <p:nvPicPr>
          <p:cNvPr id="39" name="SK-2-img-21" descr="preencoded.png">
            <a:extLst>
              <a:ext uri="{FF2B5EF4-FFF2-40B4-BE49-F238E27FC236}">
                <a16:creationId xmlns:a16="http://schemas.microsoft.com/office/drawing/2014/main" id="{98804397-03B1-4EB7-3B7D-6C8D76C86F2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39388" y="4940498"/>
            <a:ext cx="1052513" cy="314325"/>
          </a:xfrm>
          <a:prstGeom prst="rect">
            <a:avLst/>
          </a:prstGeom>
        </p:spPr>
      </p:pic>
      <p:pic>
        <p:nvPicPr>
          <p:cNvPr id="41" name="SK-2-img-22" descr="preencoded.png">
            <a:extLst>
              <a:ext uri="{FF2B5EF4-FFF2-40B4-BE49-F238E27FC236}">
                <a16:creationId xmlns:a16="http://schemas.microsoft.com/office/drawing/2014/main" id="{049D8C88-6B7B-378B-14DB-A5F09C5732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1788" y="5030986"/>
            <a:ext cx="166688" cy="133350"/>
          </a:xfrm>
          <a:prstGeom prst="rect">
            <a:avLst/>
          </a:prstGeom>
        </p:spPr>
      </p:pic>
      <p:pic>
        <p:nvPicPr>
          <p:cNvPr id="43" name="SK-2-img-23" descr="preencoded.png">
            <a:extLst>
              <a:ext uri="{FF2B5EF4-FFF2-40B4-BE49-F238E27FC236}">
                <a16:creationId xmlns:a16="http://schemas.microsoft.com/office/drawing/2014/main" id="{B57017A6-B6A1-5AA0-08A3-F8A57CD7194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5633591"/>
            <a:ext cx="11049000" cy="843111"/>
          </a:xfrm>
          <a:prstGeom prst="rect">
            <a:avLst/>
          </a:prstGeom>
        </p:spPr>
      </p:pic>
      <p:pic>
        <p:nvPicPr>
          <p:cNvPr id="45" name="SK-2-img-24" descr="preencoded.png">
            <a:extLst>
              <a:ext uri="{FF2B5EF4-FFF2-40B4-BE49-F238E27FC236}">
                <a16:creationId xmlns:a16="http://schemas.microsoft.com/office/drawing/2014/main" id="{8497FEF0-05E4-BF6D-F54B-1C9DBF6F71F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826472"/>
            <a:ext cx="457200" cy="457200"/>
          </a:xfrm>
          <a:prstGeom prst="rect">
            <a:avLst/>
          </a:prstGeom>
        </p:spPr>
      </p:pic>
      <p:pic>
        <p:nvPicPr>
          <p:cNvPr id="47" name="SK-2-img-25" descr="preencoded.png">
            <a:extLst>
              <a:ext uri="{FF2B5EF4-FFF2-40B4-BE49-F238E27FC236}">
                <a16:creationId xmlns:a16="http://schemas.microsoft.com/office/drawing/2014/main" id="{E976FF9B-31A8-6E8F-FB3A-88FA4A98285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77438" y="5897910"/>
            <a:ext cx="1414463" cy="314325"/>
          </a:xfrm>
          <a:prstGeom prst="rect">
            <a:avLst/>
          </a:prstGeom>
        </p:spPr>
      </p:pic>
      <p:pic>
        <p:nvPicPr>
          <p:cNvPr id="49" name="SK-2-img-26" descr="preencoded.png">
            <a:extLst>
              <a:ext uri="{FF2B5EF4-FFF2-40B4-BE49-F238E27FC236}">
                <a16:creationId xmlns:a16="http://schemas.microsoft.com/office/drawing/2014/main" id="{E2111159-4A86-8C8B-71E8-83A394265AF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29838" y="5988397"/>
            <a:ext cx="166688" cy="133350"/>
          </a:xfrm>
          <a:prstGeom prst="rect">
            <a:avLst/>
          </a:prstGeom>
        </p:spPr>
      </p:pic>
      <p:sp>
        <p:nvSpPr>
          <p:cNvPr id="51" name="SK-2-text-27">
            <a:extLst>
              <a:ext uri="{FF2B5EF4-FFF2-40B4-BE49-F238E27FC236}">
                <a16:creationId xmlns:a16="http://schemas.microsoft.com/office/drawing/2014/main" id="{BA580293-2A82-F94D-5F6B-67D32C462C1D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53" name="SK-2-text-28">
            <a:extLst>
              <a:ext uri="{FF2B5EF4-FFF2-40B4-BE49-F238E27FC236}">
                <a16:creationId xmlns:a16="http://schemas.microsoft.com/office/drawing/2014/main" id="{C4570B40-A904-DF4D-5E41-27E4BCA5FFB2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Sommaire</a:t>
            </a:r>
            <a:endParaRPr lang="en-US" sz="2400" dirty="0"/>
          </a:p>
        </p:txBody>
      </p:sp>
      <p:sp>
        <p:nvSpPr>
          <p:cNvPr id="55" name="SK-2-text-29">
            <a:extLst>
              <a:ext uri="{FF2B5EF4-FFF2-40B4-BE49-F238E27FC236}">
                <a16:creationId xmlns:a16="http://schemas.microsoft.com/office/drawing/2014/main" id="{E1176F72-0F9F-0138-22C2-73B198CDA78E}"/>
              </a:ext>
            </a:extLst>
          </p:cNvPr>
          <p:cNvSpPr/>
          <p:nvPr/>
        </p:nvSpPr>
        <p:spPr>
          <a:xfrm>
            <a:off x="1023938" y="1261021"/>
            <a:ext cx="94126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Plan de la </a:t>
            </a:r>
            <a:r>
              <a:rPr lang="en-US" sz="1350" b="1" dirty="0" err="1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présentation</a:t>
            </a:r>
            <a:endParaRPr lang="en-US" sz="1350" dirty="0"/>
          </a:p>
        </p:txBody>
      </p:sp>
      <p:sp>
        <p:nvSpPr>
          <p:cNvPr id="57" name="SK-2-text-30">
            <a:extLst>
              <a:ext uri="{FF2B5EF4-FFF2-40B4-BE49-F238E27FC236}">
                <a16:creationId xmlns:a16="http://schemas.microsoft.com/office/drawing/2014/main" id="{17F9534A-F4D3-04D8-E929-F188EF2A5E57}"/>
              </a:ext>
            </a:extLst>
          </p:cNvPr>
          <p:cNvSpPr/>
          <p:nvPr/>
        </p:nvSpPr>
        <p:spPr>
          <a:xfrm>
            <a:off x="990600" y="1996827"/>
            <a:ext cx="55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1</a:t>
            </a:r>
            <a:endParaRPr lang="en-US" sz="1500" dirty="0"/>
          </a:p>
        </p:txBody>
      </p:sp>
      <p:sp>
        <p:nvSpPr>
          <p:cNvPr id="59" name="SK-2-text-31">
            <a:extLst>
              <a:ext uri="{FF2B5EF4-FFF2-40B4-BE49-F238E27FC236}">
                <a16:creationId xmlns:a16="http://schemas.microsoft.com/office/drawing/2014/main" id="{94A95288-AE13-723F-1FFE-9DB31DF13917}"/>
              </a:ext>
            </a:extLst>
          </p:cNvPr>
          <p:cNvSpPr/>
          <p:nvPr/>
        </p:nvSpPr>
        <p:spPr>
          <a:xfrm>
            <a:off x="1457326" y="2024244"/>
            <a:ext cx="8710613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</a:rPr>
              <a:t>Introduction</a:t>
            </a:r>
            <a:endParaRPr lang="en-US" sz="1650" dirty="0"/>
          </a:p>
        </p:txBody>
      </p:sp>
      <p:sp>
        <p:nvSpPr>
          <p:cNvPr id="61" name="SK-2-text-33">
            <a:extLst>
              <a:ext uri="{FF2B5EF4-FFF2-40B4-BE49-F238E27FC236}">
                <a16:creationId xmlns:a16="http://schemas.microsoft.com/office/drawing/2014/main" id="{B15D3BBA-E0F9-57BE-A735-7EC75A2DDB54}"/>
              </a:ext>
            </a:extLst>
          </p:cNvPr>
          <p:cNvSpPr/>
          <p:nvPr/>
        </p:nvSpPr>
        <p:spPr>
          <a:xfrm>
            <a:off x="10487025" y="2068264"/>
            <a:ext cx="1633415" cy="3143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Slides 3 – 4</a:t>
            </a:r>
            <a:endParaRPr lang="en-US" sz="1050" dirty="0"/>
          </a:p>
        </p:txBody>
      </p:sp>
      <p:sp>
        <p:nvSpPr>
          <p:cNvPr id="63" name="SK-2-text-34">
            <a:extLst>
              <a:ext uri="{FF2B5EF4-FFF2-40B4-BE49-F238E27FC236}">
                <a16:creationId xmlns:a16="http://schemas.microsoft.com/office/drawing/2014/main" id="{ACD95B76-01FA-567E-40B2-DA5B21178C38}"/>
              </a:ext>
            </a:extLst>
          </p:cNvPr>
          <p:cNvSpPr/>
          <p:nvPr/>
        </p:nvSpPr>
        <p:spPr>
          <a:xfrm>
            <a:off x="971550" y="2954238"/>
            <a:ext cx="55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2</a:t>
            </a:r>
            <a:endParaRPr lang="en-US" sz="1500" dirty="0"/>
          </a:p>
        </p:txBody>
      </p:sp>
      <p:sp>
        <p:nvSpPr>
          <p:cNvPr id="65" name="SK-2-text-35">
            <a:extLst>
              <a:ext uri="{FF2B5EF4-FFF2-40B4-BE49-F238E27FC236}">
                <a16:creationId xmlns:a16="http://schemas.microsoft.com/office/drawing/2014/main" id="{6DE17CC6-A5DE-618C-532F-AD4DB3D7F086}"/>
              </a:ext>
            </a:extLst>
          </p:cNvPr>
          <p:cNvSpPr/>
          <p:nvPr/>
        </p:nvSpPr>
        <p:spPr>
          <a:xfrm>
            <a:off x="1485900" y="2899470"/>
            <a:ext cx="8720138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</a:rPr>
              <a:t>Conception</a:t>
            </a:r>
            <a:endParaRPr lang="en-US" sz="1650" dirty="0"/>
          </a:p>
        </p:txBody>
      </p:sp>
      <p:sp>
        <p:nvSpPr>
          <p:cNvPr id="67" name="SK-2-text-37">
            <a:extLst>
              <a:ext uri="{FF2B5EF4-FFF2-40B4-BE49-F238E27FC236}">
                <a16:creationId xmlns:a16="http://schemas.microsoft.com/office/drawing/2014/main" id="{E7C3C8D0-BDF6-93F0-6D22-3940C4E88F2B}"/>
              </a:ext>
            </a:extLst>
          </p:cNvPr>
          <p:cNvSpPr/>
          <p:nvPr/>
        </p:nvSpPr>
        <p:spPr>
          <a:xfrm>
            <a:off x="10496550" y="3025676"/>
            <a:ext cx="1629724" cy="3143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Slides 5 – 7</a:t>
            </a:r>
            <a:endParaRPr lang="en-US" sz="1050" dirty="0"/>
          </a:p>
        </p:txBody>
      </p:sp>
      <p:sp>
        <p:nvSpPr>
          <p:cNvPr id="69" name="SK-2-text-38">
            <a:extLst>
              <a:ext uri="{FF2B5EF4-FFF2-40B4-BE49-F238E27FC236}">
                <a16:creationId xmlns:a16="http://schemas.microsoft.com/office/drawing/2014/main" id="{CA0A7B58-97EB-FFB2-9254-03F2A7EDBC35}"/>
              </a:ext>
            </a:extLst>
          </p:cNvPr>
          <p:cNvSpPr/>
          <p:nvPr/>
        </p:nvSpPr>
        <p:spPr>
          <a:xfrm>
            <a:off x="971550" y="3911650"/>
            <a:ext cx="55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3</a:t>
            </a:r>
            <a:endParaRPr lang="en-US" sz="1500" dirty="0"/>
          </a:p>
        </p:txBody>
      </p:sp>
      <p:sp>
        <p:nvSpPr>
          <p:cNvPr id="71" name="SK-2-text-39">
            <a:extLst>
              <a:ext uri="{FF2B5EF4-FFF2-40B4-BE49-F238E27FC236}">
                <a16:creationId xmlns:a16="http://schemas.microsoft.com/office/drawing/2014/main" id="{9BE77851-286D-34BC-2D5F-B2FAC272E3B8}"/>
              </a:ext>
            </a:extLst>
          </p:cNvPr>
          <p:cNvSpPr/>
          <p:nvPr/>
        </p:nvSpPr>
        <p:spPr>
          <a:xfrm>
            <a:off x="1476375" y="3942607"/>
            <a:ext cx="8653463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</a:rPr>
              <a:t>Réalisation technique</a:t>
            </a:r>
            <a:endParaRPr lang="en-US" sz="1650" dirty="0"/>
          </a:p>
        </p:txBody>
      </p:sp>
      <p:sp>
        <p:nvSpPr>
          <p:cNvPr id="73" name="SK-2-text-42">
            <a:extLst>
              <a:ext uri="{FF2B5EF4-FFF2-40B4-BE49-F238E27FC236}">
                <a16:creationId xmlns:a16="http://schemas.microsoft.com/office/drawing/2014/main" id="{1BFFB556-8461-28F8-D557-6CF7CDEFDBA6}"/>
              </a:ext>
            </a:extLst>
          </p:cNvPr>
          <p:cNvSpPr/>
          <p:nvPr/>
        </p:nvSpPr>
        <p:spPr>
          <a:xfrm>
            <a:off x="962025" y="4869061"/>
            <a:ext cx="55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4</a:t>
            </a:r>
            <a:endParaRPr lang="en-US" sz="1500" dirty="0"/>
          </a:p>
        </p:txBody>
      </p:sp>
      <p:sp>
        <p:nvSpPr>
          <p:cNvPr id="75" name="SK-2-text-43">
            <a:extLst>
              <a:ext uri="{FF2B5EF4-FFF2-40B4-BE49-F238E27FC236}">
                <a16:creationId xmlns:a16="http://schemas.microsoft.com/office/drawing/2014/main" id="{167604E6-F453-9454-CC50-286B74281F36}"/>
              </a:ext>
            </a:extLst>
          </p:cNvPr>
          <p:cNvSpPr/>
          <p:nvPr/>
        </p:nvSpPr>
        <p:spPr>
          <a:xfrm>
            <a:off x="1485900" y="4898169"/>
            <a:ext cx="8958263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</a:rPr>
              <a:t>Déploiement</a:t>
            </a:r>
            <a:endParaRPr lang="en-US" sz="1650" dirty="0"/>
          </a:p>
        </p:txBody>
      </p:sp>
      <p:sp>
        <p:nvSpPr>
          <p:cNvPr id="77" name="SK-2-text-45">
            <a:extLst>
              <a:ext uri="{FF2B5EF4-FFF2-40B4-BE49-F238E27FC236}">
                <a16:creationId xmlns:a16="http://schemas.microsoft.com/office/drawing/2014/main" id="{6B6F939A-707D-91E0-A1E6-283C94A68443}"/>
              </a:ext>
            </a:extLst>
          </p:cNvPr>
          <p:cNvSpPr/>
          <p:nvPr/>
        </p:nvSpPr>
        <p:spPr>
          <a:xfrm>
            <a:off x="10734675" y="4940498"/>
            <a:ext cx="1061007" cy="3143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Slide 13</a:t>
            </a:r>
            <a:endParaRPr lang="en-US" sz="1050" dirty="0"/>
          </a:p>
        </p:txBody>
      </p:sp>
      <p:sp>
        <p:nvSpPr>
          <p:cNvPr id="79" name="SK-2-text-46">
            <a:extLst>
              <a:ext uri="{FF2B5EF4-FFF2-40B4-BE49-F238E27FC236}">
                <a16:creationId xmlns:a16="http://schemas.microsoft.com/office/drawing/2014/main" id="{2D7E093B-1CAD-5B43-444B-8C8BBACA4386}"/>
              </a:ext>
            </a:extLst>
          </p:cNvPr>
          <p:cNvSpPr/>
          <p:nvPr/>
        </p:nvSpPr>
        <p:spPr>
          <a:xfrm>
            <a:off x="971550" y="5826472"/>
            <a:ext cx="55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5</a:t>
            </a:r>
            <a:endParaRPr lang="en-US" sz="1500" dirty="0"/>
          </a:p>
        </p:txBody>
      </p:sp>
      <p:sp>
        <p:nvSpPr>
          <p:cNvPr id="81" name="SK-2-text-47">
            <a:extLst>
              <a:ext uri="{FF2B5EF4-FFF2-40B4-BE49-F238E27FC236}">
                <a16:creationId xmlns:a16="http://schemas.microsoft.com/office/drawing/2014/main" id="{90D4D5C7-D765-DD5C-0FEB-67A74CBAB9AC}"/>
              </a:ext>
            </a:extLst>
          </p:cNvPr>
          <p:cNvSpPr/>
          <p:nvPr/>
        </p:nvSpPr>
        <p:spPr>
          <a:xfrm>
            <a:off x="1485900" y="5872980"/>
            <a:ext cx="8596313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</a:rPr>
              <a:t>Bilan</a:t>
            </a:r>
            <a:endParaRPr lang="en-US" sz="1650" dirty="0"/>
          </a:p>
        </p:txBody>
      </p:sp>
      <p:sp>
        <p:nvSpPr>
          <p:cNvPr id="85" name="SK-2-text-37">
            <a:extLst>
              <a:ext uri="{FF2B5EF4-FFF2-40B4-BE49-F238E27FC236}">
                <a16:creationId xmlns:a16="http://schemas.microsoft.com/office/drawing/2014/main" id="{1EBF0787-02D5-EE32-314A-85FE8A266C3E}"/>
              </a:ext>
            </a:extLst>
          </p:cNvPr>
          <p:cNvSpPr/>
          <p:nvPr/>
        </p:nvSpPr>
        <p:spPr>
          <a:xfrm>
            <a:off x="10446103" y="3969317"/>
            <a:ext cx="1629724" cy="3143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Slides 8 – 12</a:t>
            </a:r>
            <a:endParaRPr lang="en-US" sz="1050" dirty="0"/>
          </a:p>
        </p:txBody>
      </p:sp>
      <p:sp>
        <p:nvSpPr>
          <p:cNvPr id="87" name="SK-2-text-37">
            <a:extLst>
              <a:ext uri="{FF2B5EF4-FFF2-40B4-BE49-F238E27FC236}">
                <a16:creationId xmlns:a16="http://schemas.microsoft.com/office/drawing/2014/main" id="{FF4533C5-6E17-105D-4742-C249A5FA877B}"/>
              </a:ext>
            </a:extLst>
          </p:cNvPr>
          <p:cNvSpPr/>
          <p:nvPr/>
        </p:nvSpPr>
        <p:spPr>
          <a:xfrm>
            <a:off x="10357909" y="5872981"/>
            <a:ext cx="1629724" cy="3143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Slides 14 – 16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02053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3-img-1" descr="preencoded.png">
            <a:extLst>
              <a:ext uri="{FF2B5EF4-FFF2-40B4-BE49-F238E27FC236}">
                <a16:creationId xmlns:a16="http://schemas.microsoft.com/office/drawing/2014/main" id="{4F2E5E88-FD10-FD09-539B-86A242228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4864"/>
            <a:ext cx="12192000" cy="6858000"/>
          </a:xfrm>
          <a:prstGeom prst="rect">
            <a:avLst/>
          </a:prstGeom>
        </p:spPr>
      </p:pic>
      <p:pic>
        <p:nvPicPr>
          <p:cNvPr id="5" name="SK-3-img-2" descr="preencoded.png">
            <a:extLst>
              <a:ext uri="{FF2B5EF4-FFF2-40B4-BE49-F238E27FC236}">
                <a16:creationId xmlns:a16="http://schemas.microsoft.com/office/drawing/2014/main" id="{35D7ACE5-7B6A-0ED4-E0C2-1E8A8F5B6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864"/>
            <a:ext cx="12192000" cy="6858000"/>
          </a:xfrm>
          <a:prstGeom prst="rect">
            <a:avLst/>
          </a:prstGeom>
        </p:spPr>
      </p:pic>
      <p:pic>
        <p:nvPicPr>
          <p:cNvPr id="7" name="SK-3-img-3" descr="preencoded.png">
            <a:extLst>
              <a:ext uri="{FF2B5EF4-FFF2-40B4-BE49-F238E27FC236}">
                <a16:creationId xmlns:a16="http://schemas.microsoft.com/office/drawing/2014/main" id="{1760EB2D-72FC-C8EC-8565-769DFE961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6136"/>
            <a:ext cx="1152525" cy="247650"/>
          </a:xfrm>
          <a:prstGeom prst="rect">
            <a:avLst/>
          </a:prstGeom>
        </p:spPr>
      </p:pic>
      <p:pic>
        <p:nvPicPr>
          <p:cNvPr id="9" name="SK-3-img-4" descr="preencoded.png">
            <a:extLst>
              <a:ext uri="{FF2B5EF4-FFF2-40B4-BE49-F238E27FC236}">
                <a16:creationId xmlns:a16="http://schemas.microsoft.com/office/drawing/2014/main" id="{CF16FE10-6AD9-7FF5-215D-27AB12F4C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445199"/>
            <a:ext cx="9782175" cy="9525"/>
          </a:xfrm>
          <a:prstGeom prst="rect">
            <a:avLst/>
          </a:prstGeom>
        </p:spPr>
      </p:pic>
      <p:pic>
        <p:nvPicPr>
          <p:cNvPr id="11" name="SK-3-img-5" descr="preencoded.png">
            <a:extLst>
              <a:ext uri="{FF2B5EF4-FFF2-40B4-BE49-F238E27FC236}">
                <a16:creationId xmlns:a16="http://schemas.microsoft.com/office/drawing/2014/main" id="{0D405A1B-D853-CCAC-BF8D-271CE6F24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06157"/>
            <a:ext cx="4552950" cy="5330279"/>
          </a:xfrm>
          <a:prstGeom prst="rect">
            <a:avLst/>
          </a:prstGeom>
        </p:spPr>
      </p:pic>
      <p:pic>
        <p:nvPicPr>
          <p:cNvPr id="13" name="SK-3-img-6" descr="preencoded.png">
            <a:extLst>
              <a:ext uri="{FF2B5EF4-FFF2-40B4-BE49-F238E27FC236}">
                <a16:creationId xmlns:a16="http://schemas.microsoft.com/office/drawing/2014/main" id="{F4684A3F-1DA6-88CD-4776-BBCEED66F9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58498"/>
            <a:ext cx="1419225" cy="228600"/>
          </a:xfrm>
          <a:prstGeom prst="rect">
            <a:avLst/>
          </a:prstGeom>
        </p:spPr>
      </p:pic>
      <p:pic>
        <p:nvPicPr>
          <p:cNvPr id="15" name="SK-3-img-7" descr="preencoded.png">
            <a:extLst>
              <a:ext uri="{FF2B5EF4-FFF2-40B4-BE49-F238E27FC236}">
                <a16:creationId xmlns:a16="http://schemas.microsoft.com/office/drawing/2014/main" id="{DDC6A5A6-3F67-DCC4-482D-A65FB5568D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522494"/>
            <a:ext cx="142875" cy="114300"/>
          </a:xfrm>
          <a:prstGeom prst="rect">
            <a:avLst/>
          </a:prstGeom>
        </p:spPr>
      </p:pic>
      <p:pic>
        <p:nvPicPr>
          <p:cNvPr id="17" name="SK-3-img-8" descr="preencoded.png">
            <a:extLst>
              <a:ext uri="{FF2B5EF4-FFF2-40B4-BE49-F238E27FC236}">
                <a16:creationId xmlns:a16="http://schemas.microsoft.com/office/drawing/2014/main" id="{CED90399-9339-83B4-7FAC-6A8105E878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7875" y="4458498"/>
            <a:ext cx="1114425" cy="228600"/>
          </a:xfrm>
          <a:prstGeom prst="rect">
            <a:avLst/>
          </a:prstGeom>
        </p:spPr>
      </p:pic>
      <p:pic>
        <p:nvPicPr>
          <p:cNvPr id="19" name="SK-3-img-9" descr="preencoded.png">
            <a:extLst>
              <a:ext uri="{FF2B5EF4-FFF2-40B4-BE49-F238E27FC236}">
                <a16:creationId xmlns:a16="http://schemas.microsoft.com/office/drawing/2014/main" id="{FFE8FFF6-7AD9-D492-DF10-2D8253EAEA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3600" y="4522494"/>
            <a:ext cx="142875" cy="114300"/>
          </a:xfrm>
          <a:prstGeom prst="rect">
            <a:avLst/>
          </a:prstGeom>
        </p:spPr>
      </p:pic>
      <p:pic>
        <p:nvPicPr>
          <p:cNvPr id="21" name="SK-3-img-10" descr="preencoded.png">
            <a:extLst>
              <a:ext uri="{FF2B5EF4-FFF2-40B4-BE49-F238E27FC236}">
                <a16:creationId xmlns:a16="http://schemas.microsoft.com/office/drawing/2014/main" id="{5A2D0197-0A06-76CA-EE58-49897E13AD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901857"/>
            <a:ext cx="166688" cy="137220"/>
          </a:xfrm>
          <a:prstGeom prst="rect">
            <a:avLst/>
          </a:prstGeom>
        </p:spPr>
      </p:pic>
      <p:pic>
        <p:nvPicPr>
          <p:cNvPr id="23" name="SK-3-img-11" descr="preencoded.png">
            <a:extLst>
              <a:ext uri="{FF2B5EF4-FFF2-40B4-BE49-F238E27FC236}">
                <a16:creationId xmlns:a16="http://schemas.microsoft.com/office/drawing/2014/main" id="{1AE95503-5B7C-B537-E7CA-D8E25C3222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7350" y="2234113"/>
            <a:ext cx="266700" cy="266700"/>
          </a:xfrm>
          <a:prstGeom prst="rect">
            <a:avLst/>
          </a:prstGeom>
        </p:spPr>
      </p:pic>
      <p:pic>
        <p:nvPicPr>
          <p:cNvPr id="25" name="SK-3-img-12" descr="preencoded.png">
            <a:extLst>
              <a:ext uri="{FF2B5EF4-FFF2-40B4-BE49-F238E27FC236}">
                <a16:creationId xmlns:a16="http://schemas.microsoft.com/office/drawing/2014/main" id="{8B22FDB7-6B2A-1AC1-B627-A1FC33F395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1403" y="2293049"/>
            <a:ext cx="178594" cy="148828"/>
          </a:xfrm>
          <a:prstGeom prst="rect">
            <a:avLst/>
          </a:prstGeom>
        </p:spPr>
      </p:pic>
      <p:pic>
        <p:nvPicPr>
          <p:cNvPr id="27" name="SK-3-img-13" descr="preencoded.png">
            <a:extLst>
              <a:ext uri="{FF2B5EF4-FFF2-40B4-BE49-F238E27FC236}">
                <a16:creationId xmlns:a16="http://schemas.microsoft.com/office/drawing/2014/main" id="{E3AAB1FF-F294-C1E0-9052-7DC5713FD60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05450" y="2615113"/>
            <a:ext cx="130969" cy="110728"/>
          </a:xfrm>
          <a:prstGeom prst="rect">
            <a:avLst/>
          </a:prstGeom>
        </p:spPr>
      </p:pic>
      <p:pic>
        <p:nvPicPr>
          <p:cNvPr id="29" name="SK-3-img-14" descr="preencoded.png">
            <a:extLst>
              <a:ext uri="{FF2B5EF4-FFF2-40B4-BE49-F238E27FC236}">
                <a16:creationId xmlns:a16="http://schemas.microsoft.com/office/drawing/2014/main" id="{CA5C8F3E-A86D-B7AA-8DCB-F7E8232F326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05450" y="2869906"/>
            <a:ext cx="130969" cy="110728"/>
          </a:xfrm>
          <a:prstGeom prst="rect">
            <a:avLst/>
          </a:prstGeom>
        </p:spPr>
      </p:pic>
      <p:pic>
        <p:nvPicPr>
          <p:cNvPr id="31" name="SK-3-img-15" descr="preencoded.png">
            <a:extLst>
              <a:ext uri="{FF2B5EF4-FFF2-40B4-BE49-F238E27FC236}">
                <a16:creationId xmlns:a16="http://schemas.microsoft.com/office/drawing/2014/main" id="{D9A9E662-692A-B9D4-6325-40EDC164AC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05450" y="3124700"/>
            <a:ext cx="130969" cy="110728"/>
          </a:xfrm>
          <a:prstGeom prst="rect">
            <a:avLst/>
          </a:prstGeom>
        </p:spPr>
      </p:pic>
      <p:pic>
        <p:nvPicPr>
          <p:cNvPr id="33" name="SK-3-img-16" descr="preencoded.png">
            <a:extLst>
              <a:ext uri="{FF2B5EF4-FFF2-40B4-BE49-F238E27FC236}">
                <a16:creationId xmlns:a16="http://schemas.microsoft.com/office/drawing/2014/main" id="{9C0BD228-03C0-F017-9C8B-B9F0FB02FBA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5450" y="3379494"/>
            <a:ext cx="130969" cy="110728"/>
          </a:xfrm>
          <a:prstGeom prst="rect">
            <a:avLst/>
          </a:prstGeom>
        </p:spPr>
      </p:pic>
      <p:pic>
        <p:nvPicPr>
          <p:cNvPr id="35" name="SK-3-img-17" descr="preencoded.png">
            <a:extLst>
              <a:ext uri="{FF2B5EF4-FFF2-40B4-BE49-F238E27FC236}">
                <a16:creationId xmlns:a16="http://schemas.microsoft.com/office/drawing/2014/main" id="{FC074444-555E-0726-A79D-5E432FE41F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67350" y="3739063"/>
            <a:ext cx="6153150" cy="9525"/>
          </a:xfrm>
          <a:prstGeom prst="rect">
            <a:avLst/>
          </a:prstGeom>
        </p:spPr>
      </p:pic>
      <p:pic>
        <p:nvPicPr>
          <p:cNvPr id="37" name="SK-3-img-18" descr="preencoded.png">
            <a:extLst>
              <a:ext uri="{FF2B5EF4-FFF2-40B4-BE49-F238E27FC236}">
                <a16:creationId xmlns:a16="http://schemas.microsoft.com/office/drawing/2014/main" id="{061DC8EA-2F31-9BE8-F3AE-CB297090FB7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7350" y="3939088"/>
            <a:ext cx="266700" cy="266700"/>
          </a:xfrm>
          <a:prstGeom prst="rect">
            <a:avLst/>
          </a:prstGeom>
        </p:spPr>
      </p:pic>
      <p:pic>
        <p:nvPicPr>
          <p:cNvPr id="39" name="SK-3-img-19" descr="preencoded.png">
            <a:extLst>
              <a:ext uri="{FF2B5EF4-FFF2-40B4-BE49-F238E27FC236}">
                <a16:creationId xmlns:a16="http://schemas.microsoft.com/office/drawing/2014/main" id="{EF4B464B-C88E-4437-080B-635833F3B7D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11403" y="3998024"/>
            <a:ext cx="178594" cy="148828"/>
          </a:xfrm>
          <a:prstGeom prst="rect">
            <a:avLst/>
          </a:prstGeom>
        </p:spPr>
      </p:pic>
      <p:pic>
        <p:nvPicPr>
          <p:cNvPr id="41" name="SK-3-img-20" descr="preencoded.png">
            <a:extLst>
              <a:ext uri="{FF2B5EF4-FFF2-40B4-BE49-F238E27FC236}">
                <a16:creationId xmlns:a16="http://schemas.microsoft.com/office/drawing/2014/main" id="{A91F0421-AFBE-A493-1C81-A18F44731AB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05450" y="4320088"/>
            <a:ext cx="130969" cy="110728"/>
          </a:xfrm>
          <a:prstGeom prst="rect">
            <a:avLst/>
          </a:prstGeom>
        </p:spPr>
      </p:pic>
      <p:pic>
        <p:nvPicPr>
          <p:cNvPr id="43" name="SK-3-img-21" descr="preencoded.png">
            <a:extLst>
              <a:ext uri="{FF2B5EF4-FFF2-40B4-BE49-F238E27FC236}">
                <a16:creationId xmlns:a16="http://schemas.microsoft.com/office/drawing/2014/main" id="{C7B1E2E2-2FDF-BB1F-8E56-CEC398B4DDB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05450" y="4574881"/>
            <a:ext cx="130969" cy="110728"/>
          </a:xfrm>
          <a:prstGeom prst="rect">
            <a:avLst/>
          </a:prstGeom>
        </p:spPr>
      </p:pic>
      <p:pic>
        <p:nvPicPr>
          <p:cNvPr id="45" name="SK-3-img-22" descr="preencoded.png">
            <a:extLst>
              <a:ext uri="{FF2B5EF4-FFF2-40B4-BE49-F238E27FC236}">
                <a16:creationId xmlns:a16="http://schemas.microsoft.com/office/drawing/2014/main" id="{F003F5B4-6251-75C5-F6F6-9DAB0D67F3C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05450" y="4829675"/>
            <a:ext cx="130969" cy="110728"/>
          </a:xfrm>
          <a:prstGeom prst="rect">
            <a:avLst/>
          </a:prstGeom>
        </p:spPr>
      </p:pic>
      <p:pic>
        <p:nvPicPr>
          <p:cNvPr id="47" name="SK-3-img-23" descr="preencoded.png">
            <a:extLst>
              <a:ext uri="{FF2B5EF4-FFF2-40B4-BE49-F238E27FC236}">
                <a16:creationId xmlns:a16="http://schemas.microsoft.com/office/drawing/2014/main" id="{16CA4D24-C687-3160-A2AA-431D0A86BB1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05450" y="5084469"/>
            <a:ext cx="130969" cy="110728"/>
          </a:xfrm>
          <a:prstGeom prst="rect">
            <a:avLst/>
          </a:prstGeom>
        </p:spPr>
      </p:pic>
      <p:pic>
        <p:nvPicPr>
          <p:cNvPr id="49" name="SK-3-img-24" descr="preencoded.png">
            <a:extLst>
              <a:ext uri="{FF2B5EF4-FFF2-40B4-BE49-F238E27FC236}">
                <a16:creationId xmlns:a16="http://schemas.microsoft.com/office/drawing/2014/main" id="{495A2774-6F2B-8D0E-FEA7-FAACECAB854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05450" y="5339263"/>
            <a:ext cx="130969" cy="110728"/>
          </a:xfrm>
          <a:prstGeom prst="rect">
            <a:avLst/>
          </a:prstGeom>
        </p:spPr>
      </p:pic>
      <p:sp>
        <p:nvSpPr>
          <p:cNvPr id="51" name="SK-3-text-25">
            <a:extLst>
              <a:ext uri="{FF2B5EF4-FFF2-40B4-BE49-F238E27FC236}">
                <a16:creationId xmlns:a16="http://schemas.microsoft.com/office/drawing/2014/main" id="{17AAE14B-F6ED-0045-CE37-02BD52DE624A}"/>
              </a:ext>
            </a:extLst>
          </p:cNvPr>
          <p:cNvSpPr/>
          <p:nvPr/>
        </p:nvSpPr>
        <p:spPr>
          <a:xfrm>
            <a:off x="685800" y="326136"/>
            <a:ext cx="1688869" cy="2476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53" name="SK-3-text-26">
            <a:extLst>
              <a:ext uri="{FF2B5EF4-FFF2-40B4-BE49-F238E27FC236}">
                <a16:creationId xmlns:a16="http://schemas.microsoft.com/office/drawing/2014/main" id="{D23D4859-9EA4-7152-4D06-483ACCA7FD06}"/>
              </a:ext>
            </a:extLst>
          </p:cNvPr>
          <p:cNvSpPr/>
          <p:nvPr/>
        </p:nvSpPr>
        <p:spPr>
          <a:xfrm>
            <a:off x="571500" y="649986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Présentation du projet</a:t>
            </a:r>
            <a:endParaRPr lang="en-US" sz="2400" dirty="0"/>
          </a:p>
        </p:txBody>
      </p:sp>
      <p:sp>
        <p:nvSpPr>
          <p:cNvPr id="55" name="SK-3-text-27">
            <a:extLst>
              <a:ext uri="{FF2B5EF4-FFF2-40B4-BE49-F238E27FC236}">
                <a16:creationId xmlns:a16="http://schemas.microsoft.com/office/drawing/2014/main" id="{8F9D235A-D70E-581F-778F-0D73859C9395}"/>
              </a:ext>
            </a:extLst>
          </p:cNvPr>
          <p:cNvSpPr/>
          <p:nvPr/>
        </p:nvSpPr>
        <p:spPr>
          <a:xfrm>
            <a:off x="571500" y="1713512"/>
            <a:ext cx="498729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100"/>
              </a:lnSpc>
              <a:buNone/>
            </a:pPr>
            <a:r>
              <a:rPr lang="en-US" sz="5100" b="1" kern="0" spc="-60" dirty="0">
                <a:solidFill>
                  <a:srgbClr val="166534">
                    <a:alpha val="92000"/>
                  </a:srgbClr>
                </a:solidFill>
              </a:rPr>
              <a:t>MICRO-</a:t>
            </a:r>
            <a:endParaRPr lang="en-US" sz="5100" dirty="0"/>
          </a:p>
        </p:txBody>
      </p:sp>
      <p:sp>
        <p:nvSpPr>
          <p:cNvPr id="57" name="SK-3-text-28">
            <a:extLst>
              <a:ext uri="{FF2B5EF4-FFF2-40B4-BE49-F238E27FC236}">
                <a16:creationId xmlns:a16="http://schemas.microsoft.com/office/drawing/2014/main" id="{C24EB753-9209-B173-0723-CDFEA399820F}"/>
              </a:ext>
            </a:extLst>
          </p:cNvPr>
          <p:cNvSpPr/>
          <p:nvPr/>
        </p:nvSpPr>
        <p:spPr>
          <a:xfrm>
            <a:off x="571500" y="2361212"/>
            <a:ext cx="809625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100"/>
              </a:lnSpc>
              <a:buNone/>
            </a:pPr>
            <a:r>
              <a:rPr lang="en-US" sz="5100" b="1" kern="0" spc="-60" dirty="0">
                <a:solidFill>
                  <a:srgbClr val="166534">
                    <a:alpha val="92000"/>
                  </a:srgbClr>
                </a:solidFill>
              </a:rPr>
              <a:t>ENTREPRISE</a:t>
            </a:r>
            <a:endParaRPr lang="en-US" sz="5100" dirty="0"/>
          </a:p>
        </p:txBody>
      </p:sp>
      <p:sp>
        <p:nvSpPr>
          <p:cNvPr id="59" name="SK-3-text-29">
            <a:extLst>
              <a:ext uri="{FF2B5EF4-FFF2-40B4-BE49-F238E27FC236}">
                <a16:creationId xmlns:a16="http://schemas.microsoft.com/office/drawing/2014/main" id="{F6D8A88A-05D7-E26B-71AC-6719900A57D1}"/>
              </a:ext>
            </a:extLst>
          </p:cNvPr>
          <p:cNvSpPr/>
          <p:nvPr/>
        </p:nvSpPr>
        <p:spPr>
          <a:xfrm>
            <a:off x="571500" y="3047012"/>
            <a:ext cx="431482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kern="0" spc="60" dirty="0">
                <a:solidFill>
                  <a:srgbClr val="166534">
                    <a:alpha val="55000"/>
                  </a:srgbClr>
                </a:solidFill>
              </a:rPr>
              <a:t>PAYSAGISME</a:t>
            </a:r>
            <a:endParaRPr lang="en-US" sz="1650" dirty="0"/>
          </a:p>
        </p:txBody>
      </p:sp>
      <p:sp>
        <p:nvSpPr>
          <p:cNvPr id="61" name="SK-3-text-30">
            <a:extLst>
              <a:ext uri="{FF2B5EF4-FFF2-40B4-BE49-F238E27FC236}">
                <a16:creationId xmlns:a16="http://schemas.microsoft.com/office/drawing/2014/main" id="{C2479ED5-827C-8389-5F61-CB0852355C90}"/>
              </a:ext>
            </a:extLst>
          </p:cNvPr>
          <p:cNvSpPr/>
          <p:nvPr/>
        </p:nvSpPr>
        <p:spPr>
          <a:xfrm>
            <a:off x="571500" y="3551837"/>
            <a:ext cx="43053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</a:rPr>
              <a:t>FM Abattage</a:t>
            </a:r>
            <a:endParaRPr lang="en-US" sz="1500" dirty="0"/>
          </a:p>
        </p:txBody>
      </p:sp>
      <p:sp>
        <p:nvSpPr>
          <p:cNvPr id="63" name="SK-3-text-31">
            <a:extLst>
              <a:ext uri="{FF2B5EF4-FFF2-40B4-BE49-F238E27FC236}">
                <a16:creationId xmlns:a16="http://schemas.microsoft.com/office/drawing/2014/main" id="{3DD688F5-5BC5-723C-323D-A5E4279A7134}"/>
              </a:ext>
            </a:extLst>
          </p:cNvPr>
          <p:cNvSpPr/>
          <p:nvPr/>
        </p:nvSpPr>
        <p:spPr>
          <a:xfrm>
            <a:off x="571500" y="3894737"/>
            <a:ext cx="42100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Abattage d'arbres · Tonte · Déchets verts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Gérant unique – 14 rue du Thou, 01240 Saint-Paul-de-Varax</a:t>
            </a:r>
            <a:endParaRPr lang="en-US" sz="1050" dirty="0"/>
          </a:p>
        </p:txBody>
      </p:sp>
      <p:sp>
        <p:nvSpPr>
          <p:cNvPr id="65" name="SK-3-text-32">
            <a:extLst>
              <a:ext uri="{FF2B5EF4-FFF2-40B4-BE49-F238E27FC236}">
                <a16:creationId xmlns:a16="http://schemas.microsoft.com/office/drawing/2014/main" id="{1A375B3C-AE65-9EAE-C997-8841345858D8}"/>
              </a:ext>
            </a:extLst>
          </p:cNvPr>
          <p:cNvSpPr/>
          <p:nvPr/>
        </p:nvSpPr>
        <p:spPr>
          <a:xfrm>
            <a:off x="838200" y="4458498"/>
            <a:ext cx="27735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SIRET 914 446 364</a:t>
            </a:r>
            <a:endParaRPr lang="en-US" sz="900" dirty="0"/>
          </a:p>
        </p:txBody>
      </p:sp>
      <p:sp>
        <p:nvSpPr>
          <p:cNvPr id="67" name="SK-3-text-33">
            <a:extLst>
              <a:ext uri="{FF2B5EF4-FFF2-40B4-BE49-F238E27FC236}">
                <a16:creationId xmlns:a16="http://schemas.microsoft.com/office/drawing/2014/main" id="{6226E882-CA8C-A358-1A27-9400BF9D0992}"/>
              </a:ext>
            </a:extLst>
          </p:cNvPr>
          <p:cNvSpPr/>
          <p:nvPr/>
        </p:nvSpPr>
        <p:spPr>
          <a:xfrm>
            <a:off x="2314575" y="4458498"/>
            <a:ext cx="1508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fmabattage.fr</a:t>
            </a:r>
            <a:endParaRPr lang="en-US" sz="900" dirty="0"/>
          </a:p>
        </p:txBody>
      </p:sp>
      <p:sp>
        <p:nvSpPr>
          <p:cNvPr id="69" name="SK-3-text-34">
            <a:extLst>
              <a:ext uri="{FF2B5EF4-FFF2-40B4-BE49-F238E27FC236}">
                <a16:creationId xmlns:a16="http://schemas.microsoft.com/office/drawing/2014/main" id="{C816B77A-C040-706B-0C2D-1DF935511275}"/>
              </a:ext>
            </a:extLst>
          </p:cNvPr>
          <p:cNvSpPr/>
          <p:nvPr/>
        </p:nvSpPr>
        <p:spPr>
          <a:xfrm>
            <a:off x="814388" y="4877598"/>
            <a:ext cx="289941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0" dirty="0">
                <a:solidFill>
                  <a:srgbClr val="F59E0B"/>
                </a:solidFill>
                <a:ea typeface="Inter" pitchFamily="34" charset="-122"/>
                <a:cs typeface="Inter" pitchFamily="34" charset="-120"/>
              </a:rPr>
              <a:t>AVANT L'APPLICATION</a:t>
            </a:r>
            <a:endParaRPr lang="en-US" sz="975" dirty="0"/>
          </a:p>
        </p:txBody>
      </p:sp>
      <p:sp>
        <p:nvSpPr>
          <p:cNvPr id="71" name="SK-3-text-35">
            <a:extLst>
              <a:ext uri="{FF2B5EF4-FFF2-40B4-BE49-F238E27FC236}">
                <a16:creationId xmlns:a16="http://schemas.microsoft.com/office/drawing/2014/main" id="{9FF13E29-3DA3-6D24-3A08-25D084AAB4E8}"/>
              </a:ext>
            </a:extLst>
          </p:cNvPr>
          <p:cNvSpPr/>
          <p:nvPr/>
        </p:nvSpPr>
        <p:spPr>
          <a:xfrm>
            <a:off x="571500" y="5120485"/>
            <a:ext cx="4391025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275"/>
              </a:lnSpc>
              <a:buNone/>
            </a:pPr>
            <a:r>
              <a:rPr lang="en-US" sz="2850" b="1" kern="0" spc="-30" dirty="0">
                <a:solidFill>
                  <a:srgbClr val="F59E0B">
                    <a:alpha val="85000"/>
                  </a:srgbClr>
                </a:solidFill>
              </a:rPr>
              <a:t>EXCEL</a:t>
            </a:r>
            <a:endParaRPr lang="en-US" sz="2850" dirty="0"/>
          </a:p>
        </p:txBody>
      </p:sp>
      <p:sp>
        <p:nvSpPr>
          <p:cNvPr id="73" name="SK-3-text-36">
            <a:extLst>
              <a:ext uri="{FF2B5EF4-FFF2-40B4-BE49-F238E27FC236}">
                <a16:creationId xmlns:a16="http://schemas.microsoft.com/office/drawing/2014/main" id="{30B76E87-34FA-96CC-73E7-179A3F6A56E5}"/>
              </a:ext>
            </a:extLst>
          </p:cNvPr>
          <p:cNvSpPr/>
          <p:nvPr/>
        </p:nvSpPr>
        <p:spPr>
          <a:xfrm>
            <a:off x="571500" y="5682460"/>
            <a:ext cx="421005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Fichiers tableurs manuels · Documents éparpillés</a:t>
            </a:r>
            <a:endParaRPr lang="en-US" sz="975" dirty="0"/>
          </a:p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Données non centralisées · Risques d'erreurs</a:t>
            </a:r>
            <a:endParaRPr lang="en-US" sz="975" dirty="0"/>
          </a:p>
        </p:txBody>
      </p:sp>
      <p:sp>
        <p:nvSpPr>
          <p:cNvPr id="75" name="SK-3-text-37">
            <a:extLst>
              <a:ext uri="{FF2B5EF4-FFF2-40B4-BE49-F238E27FC236}">
                <a16:creationId xmlns:a16="http://schemas.microsoft.com/office/drawing/2014/main" id="{1629583C-A01A-61CB-7579-8F80370461C4}"/>
              </a:ext>
            </a:extLst>
          </p:cNvPr>
          <p:cNvSpPr/>
          <p:nvPr/>
        </p:nvSpPr>
        <p:spPr>
          <a:xfrm>
            <a:off x="5810250" y="2274594"/>
            <a:ext cx="275082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1050" b="1" kern="0" spc="60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BESOINS IDENTIFIÉS</a:t>
            </a:r>
            <a:endParaRPr lang="en-US" sz="1050" dirty="0"/>
          </a:p>
        </p:txBody>
      </p:sp>
      <p:sp>
        <p:nvSpPr>
          <p:cNvPr id="77" name="SK-3-text-38">
            <a:extLst>
              <a:ext uri="{FF2B5EF4-FFF2-40B4-BE49-F238E27FC236}">
                <a16:creationId xmlns:a16="http://schemas.microsoft.com/office/drawing/2014/main" id="{5FCEAE61-2FA7-9FD0-4DFC-E0806F46DFB7}"/>
              </a:ext>
            </a:extLst>
          </p:cNvPr>
          <p:cNvSpPr/>
          <p:nvPr/>
        </p:nvSpPr>
        <p:spPr>
          <a:xfrm>
            <a:off x="5712619" y="2577013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Perte de temps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importante dans la gestion administrative quotidienne</a:t>
            </a:r>
            <a:endParaRPr lang="en-US" sz="1400" dirty="0"/>
          </a:p>
        </p:txBody>
      </p:sp>
      <p:sp>
        <p:nvSpPr>
          <p:cNvPr id="79" name="SK-3-text-39">
            <a:extLst>
              <a:ext uri="{FF2B5EF4-FFF2-40B4-BE49-F238E27FC236}">
                <a16:creationId xmlns:a16="http://schemas.microsoft.com/office/drawing/2014/main" id="{CECC56AE-88E3-1F70-4E04-EA12377AEEFC}"/>
              </a:ext>
            </a:extLst>
          </p:cNvPr>
          <p:cNvSpPr/>
          <p:nvPr/>
        </p:nvSpPr>
        <p:spPr>
          <a:xfrm>
            <a:off x="5712619" y="2831806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Erreurs de saisie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fréquentes sur les devis et factures manuels</a:t>
            </a:r>
            <a:endParaRPr lang="en-US" sz="1400" dirty="0"/>
          </a:p>
        </p:txBody>
      </p:sp>
      <p:sp>
        <p:nvSpPr>
          <p:cNvPr id="81" name="SK-3-text-40">
            <a:extLst>
              <a:ext uri="{FF2B5EF4-FFF2-40B4-BE49-F238E27FC236}">
                <a16:creationId xmlns:a16="http://schemas.microsoft.com/office/drawing/2014/main" id="{B38D5DB9-4EFD-34DA-0A4F-B513A96FEE46}"/>
              </a:ext>
            </a:extLst>
          </p:cNvPr>
          <p:cNvSpPr/>
          <p:nvPr/>
        </p:nvSpPr>
        <p:spPr>
          <a:xfrm>
            <a:off x="5712619" y="3086600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Données non centralisées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— retrouver une information est chronophage</a:t>
            </a:r>
            <a:endParaRPr lang="en-US" sz="1400" dirty="0"/>
          </a:p>
        </p:txBody>
      </p:sp>
      <p:sp>
        <p:nvSpPr>
          <p:cNvPr id="83" name="SK-3-text-41">
            <a:extLst>
              <a:ext uri="{FF2B5EF4-FFF2-40B4-BE49-F238E27FC236}">
                <a16:creationId xmlns:a16="http://schemas.microsoft.com/office/drawing/2014/main" id="{466E8543-F323-5F0C-3334-057AE6413021}"/>
              </a:ext>
            </a:extLst>
          </p:cNvPr>
          <p:cNvSpPr/>
          <p:nvPr/>
        </p:nvSpPr>
        <p:spPr>
          <a:xfrm>
            <a:off x="5712619" y="3341394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Utilisateur </a:t>
            </a: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peu à l'aise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avec les outils numériques avancés</a:t>
            </a:r>
            <a:endParaRPr lang="en-US" sz="1400" dirty="0"/>
          </a:p>
        </p:txBody>
      </p:sp>
      <p:sp>
        <p:nvSpPr>
          <p:cNvPr id="85" name="SK-3-text-42">
            <a:extLst>
              <a:ext uri="{FF2B5EF4-FFF2-40B4-BE49-F238E27FC236}">
                <a16:creationId xmlns:a16="http://schemas.microsoft.com/office/drawing/2014/main" id="{ACE60B0B-BDC8-0452-B513-D2F0A3FFB503}"/>
              </a:ext>
            </a:extLst>
          </p:cNvPr>
          <p:cNvSpPr/>
          <p:nvPr/>
        </p:nvSpPr>
        <p:spPr>
          <a:xfrm>
            <a:off x="5810250" y="3979569"/>
            <a:ext cx="393954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1050" b="1" kern="0" spc="60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OBJECTIFS DE L'APPLICATION</a:t>
            </a:r>
            <a:endParaRPr lang="en-US" sz="1050" dirty="0"/>
          </a:p>
        </p:txBody>
      </p:sp>
      <p:sp>
        <p:nvSpPr>
          <p:cNvPr id="87" name="SK-3-text-43">
            <a:extLst>
              <a:ext uri="{FF2B5EF4-FFF2-40B4-BE49-F238E27FC236}">
                <a16:creationId xmlns:a16="http://schemas.microsoft.com/office/drawing/2014/main" id="{C5D84462-436E-B76E-952B-67D8BD1FE640}"/>
              </a:ext>
            </a:extLst>
          </p:cNvPr>
          <p:cNvSpPr/>
          <p:nvPr/>
        </p:nvSpPr>
        <p:spPr>
          <a:xfrm>
            <a:off x="5712619" y="4281988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Centraliser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toutes les données administratives dans un seul outil</a:t>
            </a:r>
            <a:endParaRPr lang="en-US" sz="1400" dirty="0"/>
          </a:p>
        </p:txBody>
      </p:sp>
      <p:sp>
        <p:nvSpPr>
          <p:cNvPr id="89" name="SK-3-text-44">
            <a:extLst>
              <a:ext uri="{FF2B5EF4-FFF2-40B4-BE49-F238E27FC236}">
                <a16:creationId xmlns:a16="http://schemas.microsoft.com/office/drawing/2014/main" id="{8088930B-A5E8-C86C-1E7B-22D8969A7E0D}"/>
              </a:ext>
            </a:extLst>
          </p:cNvPr>
          <p:cNvSpPr/>
          <p:nvPr/>
        </p:nvSpPr>
        <p:spPr>
          <a:xfrm>
            <a:off x="5712619" y="4536781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Automatiser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les tâches répétitives (devis → facture, génération PDF)</a:t>
            </a:r>
            <a:endParaRPr lang="en-US" sz="1400" dirty="0"/>
          </a:p>
        </p:txBody>
      </p:sp>
      <p:sp>
        <p:nvSpPr>
          <p:cNvPr id="91" name="SK-3-text-45">
            <a:extLst>
              <a:ext uri="{FF2B5EF4-FFF2-40B4-BE49-F238E27FC236}">
                <a16:creationId xmlns:a16="http://schemas.microsoft.com/office/drawing/2014/main" id="{DF9C9FD7-655D-6424-C416-0BD6B759FCFB}"/>
              </a:ext>
            </a:extLst>
          </p:cNvPr>
          <p:cNvSpPr/>
          <p:nvPr/>
        </p:nvSpPr>
        <p:spPr>
          <a:xfrm>
            <a:off x="5712619" y="4791575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Fiabiliser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les données et réduire les erreurs de saisie</a:t>
            </a:r>
            <a:endParaRPr lang="en-US" sz="1400" dirty="0"/>
          </a:p>
        </p:txBody>
      </p:sp>
      <p:sp>
        <p:nvSpPr>
          <p:cNvPr id="93" name="SK-3-text-46">
            <a:extLst>
              <a:ext uri="{FF2B5EF4-FFF2-40B4-BE49-F238E27FC236}">
                <a16:creationId xmlns:a16="http://schemas.microsoft.com/office/drawing/2014/main" id="{B7243376-2B07-C462-27BE-E2565A094BFA}"/>
              </a:ext>
            </a:extLst>
          </p:cNvPr>
          <p:cNvSpPr/>
          <p:nvPr/>
        </p:nvSpPr>
        <p:spPr>
          <a:xfrm>
            <a:off x="5712619" y="5046369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Interface </a:t>
            </a: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simple et intuitive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, sans formation complexe requise</a:t>
            </a:r>
            <a:endParaRPr lang="en-US" sz="1400" dirty="0"/>
          </a:p>
        </p:txBody>
      </p:sp>
      <p:sp>
        <p:nvSpPr>
          <p:cNvPr id="95" name="SK-3-text-47">
            <a:extLst>
              <a:ext uri="{FF2B5EF4-FFF2-40B4-BE49-F238E27FC236}">
                <a16:creationId xmlns:a16="http://schemas.microsoft.com/office/drawing/2014/main" id="{2CC10734-1053-B1FD-5554-C176C881DEF0}"/>
              </a:ext>
            </a:extLst>
          </p:cNvPr>
          <p:cNvSpPr/>
          <p:nvPr/>
        </p:nvSpPr>
        <p:spPr>
          <a:xfrm>
            <a:off x="5712619" y="5301163"/>
            <a:ext cx="6479381" cy="2071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Solution </a:t>
            </a:r>
            <a:r>
              <a:rPr lang="en-US" sz="14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réelle et déployée</a:t>
            </a:r>
            <a:r>
              <a:rPr lang="en-US" sz="14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en production, utilisée au quotidien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0276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4-img-3" descr="preencoded.png">
            <a:extLst>
              <a:ext uri="{FF2B5EF4-FFF2-40B4-BE49-F238E27FC236}">
                <a16:creationId xmlns:a16="http://schemas.microsoft.com/office/drawing/2014/main" id="{7165F52C-0BB0-3AEF-CF8B-8AE633D72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5" name="SK-4-img-4" descr="preencoded.png">
            <a:extLst>
              <a:ext uri="{FF2B5EF4-FFF2-40B4-BE49-F238E27FC236}">
                <a16:creationId xmlns:a16="http://schemas.microsoft.com/office/drawing/2014/main" id="{58E1C411-B095-DCCD-7286-F1783FF17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7" name="SK-4-img-5" descr="preencoded.png">
            <a:extLst>
              <a:ext uri="{FF2B5EF4-FFF2-40B4-BE49-F238E27FC236}">
                <a16:creationId xmlns:a16="http://schemas.microsoft.com/office/drawing/2014/main" id="{895E3003-850B-5DDD-F4D4-D57E64E81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11573"/>
            <a:ext cx="3555950" cy="2019300"/>
          </a:xfrm>
          <a:prstGeom prst="rect">
            <a:avLst/>
          </a:prstGeom>
        </p:spPr>
      </p:pic>
      <p:pic>
        <p:nvPicPr>
          <p:cNvPr id="9" name="SK-4-img-6" descr="preencoded.png">
            <a:extLst>
              <a:ext uri="{FF2B5EF4-FFF2-40B4-BE49-F238E27FC236}">
                <a16:creationId xmlns:a16="http://schemas.microsoft.com/office/drawing/2014/main" id="{5E155F53-CA76-7533-502B-1900B5399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302073"/>
            <a:ext cx="419100" cy="419100"/>
          </a:xfrm>
          <a:prstGeom prst="rect">
            <a:avLst/>
          </a:prstGeom>
        </p:spPr>
      </p:pic>
      <p:pic>
        <p:nvPicPr>
          <p:cNvPr id="11" name="SK-4-img-7" descr="preencoded.png">
            <a:extLst>
              <a:ext uri="{FF2B5EF4-FFF2-40B4-BE49-F238E27FC236}">
                <a16:creationId xmlns:a16="http://schemas.microsoft.com/office/drawing/2014/main" id="{F9592703-1C88-4991-7045-E6363DBDA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88" y="2416373"/>
            <a:ext cx="238125" cy="190500"/>
          </a:xfrm>
          <a:prstGeom prst="rect">
            <a:avLst/>
          </a:prstGeom>
        </p:spPr>
      </p:pic>
      <p:pic>
        <p:nvPicPr>
          <p:cNvPr id="13" name="SK-4-img-8" descr="preencoded.png">
            <a:extLst>
              <a:ext uri="{FF2B5EF4-FFF2-40B4-BE49-F238E27FC236}">
                <a16:creationId xmlns:a16="http://schemas.microsoft.com/office/drawing/2014/main" id="{13B55494-C3C3-D611-105B-64513BD106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902273"/>
            <a:ext cx="381000" cy="38100"/>
          </a:xfrm>
          <a:prstGeom prst="rect">
            <a:avLst/>
          </a:prstGeom>
        </p:spPr>
      </p:pic>
      <p:pic>
        <p:nvPicPr>
          <p:cNvPr id="15" name="SK-4-img-9" descr="preencoded.png">
            <a:extLst>
              <a:ext uri="{FF2B5EF4-FFF2-40B4-BE49-F238E27FC236}">
                <a16:creationId xmlns:a16="http://schemas.microsoft.com/office/drawing/2014/main" id="{3B05D55D-C9DF-8AC4-9131-CE17051AEE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2111573"/>
            <a:ext cx="3555950" cy="2019300"/>
          </a:xfrm>
          <a:prstGeom prst="rect">
            <a:avLst/>
          </a:prstGeom>
        </p:spPr>
      </p:pic>
      <p:pic>
        <p:nvPicPr>
          <p:cNvPr id="17" name="SK-4-img-10" descr="preencoded.png">
            <a:extLst>
              <a:ext uri="{FF2B5EF4-FFF2-40B4-BE49-F238E27FC236}">
                <a16:creationId xmlns:a16="http://schemas.microsoft.com/office/drawing/2014/main" id="{5F15CA96-E526-75A9-B957-FCC3854E95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8450" y="2302073"/>
            <a:ext cx="419100" cy="419100"/>
          </a:xfrm>
          <a:prstGeom prst="rect">
            <a:avLst/>
          </a:prstGeom>
        </p:spPr>
      </p:pic>
      <p:pic>
        <p:nvPicPr>
          <p:cNvPr id="19" name="SK-4-img-11" descr="preencoded.png">
            <a:extLst>
              <a:ext uri="{FF2B5EF4-FFF2-40B4-BE49-F238E27FC236}">
                <a16:creationId xmlns:a16="http://schemas.microsoft.com/office/drawing/2014/main" id="{C964F050-4004-DA25-A8C5-EEFC986EC2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8938" y="2416373"/>
            <a:ext cx="238125" cy="190500"/>
          </a:xfrm>
          <a:prstGeom prst="rect">
            <a:avLst/>
          </a:prstGeom>
        </p:spPr>
      </p:pic>
      <p:pic>
        <p:nvPicPr>
          <p:cNvPr id="21" name="SK-4-img-12" descr="preencoded.png">
            <a:extLst>
              <a:ext uri="{FF2B5EF4-FFF2-40B4-BE49-F238E27FC236}">
                <a16:creationId xmlns:a16="http://schemas.microsoft.com/office/drawing/2014/main" id="{E6F686D3-8257-A885-9507-90F7277BCC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8450" y="3902273"/>
            <a:ext cx="381000" cy="38100"/>
          </a:xfrm>
          <a:prstGeom prst="rect">
            <a:avLst/>
          </a:prstGeom>
        </p:spPr>
      </p:pic>
      <p:pic>
        <p:nvPicPr>
          <p:cNvPr id="23" name="SK-4-img-13" descr="preencoded.png">
            <a:extLst>
              <a:ext uri="{FF2B5EF4-FFF2-40B4-BE49-F238E27FC236}">
                <a16:creationId xmlns:a16="http://schemas.microsoft.com/office/drawing/2014/main" id="{AD2B0684-83E3-BC1E-537F-79FFE6D63E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4401" y="2111573"/>
            <a:ext cx="3556099" cy="2019300"/>
          </a:xfrm>
          <a:prstGeom prst="rect">
            <a:avLst/>
          </a:prstGeom>
        </p:spPr>
      </p:pic>
      <p:pic>
        <p:nvPicPr>
          <p:cNvPr id="25" name="SK-4-img-14" descr="preencoded.png">
            <a:extLst>
              <a:ext uri="{FF2B5EF4-FFF2-40B4-BE49-F238E27FC236}">
                <a16:creationId xmlns:a16="http://schemas.microsoft.com/office/drawing/2014/main" id="{A7A690D9-6A6B-9AED-5B6E-DB36CC8BC07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4901" y="2302073"/>
            <a:ext cx="419100" cy="419100"/>
          </a:xfrm>
          <a:prstGeom prst="rect">
            <a:avLst/>
          </a:prstGeom>
        </p:spPr>
      </p:pic>
      <p:pic>
        <p:nvPicPr>
          <p:cNvPr id="27" name="SK-4-img-15" descr="preencoded.png">
            <a:extLst>
              <a:ext uri="{FF2B5EF4-FFF2-40B4-BE49-F238E27FC236}">
                <a16:creationId xmlns:a16="http://schemas.microsoft.com/office/drawing/2014/main" id="{E25E0F45-3C97-030E-2B29-639DF66018E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5388" y="2416373"/>
            <a:ext cx="238125" cy="190500"/>
          </a:xfrm>
          <a:prstGeom prst="rect">
            <a:avLst/>
          </a:prstGeom>
        </p:spPr>
      </p:pic>
      <p:pic>
        <p:nvPicPr>
          <p:cNvPr id="29" name="SK-4-img-16" descr="preencoded.png">
            <a:extLst>
              <a:ext uri="{FF2B5EF4-FFF2-40B4-BE49-F238E27FC236}">
                <a16:creationId xmlns:a16="http://schemas.microsoft.com/office/drawing/2014/main" id="{D937EFE6-1956-72C7-D30E-D4837B6FD4D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4901" y="3902273"/>
            <a:ext cx="381000" cy="38100"/>
          </a:xfrm>
          <a:prstGeom prst="rect">
            <a:avLst/>
          </a:prstGeom>
        </p:spPr>
      </p:pic>
      <p:pic>
        <p:nvPicPr>
          <p:cNvPr id="31" name="SK-4-img-17" descr="preencoded.png">
            <a:extLst>
              <a:ext uri="{FF2B5EF4-FFF2-40B4-BE49-F238E27FC236}">
                <a16:creationId xmlns:a16="http://schemas.microsoft.com/office/drawing/2014/main" id="{A0313F3F-37DC-7D74-8B5B-93C853B97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21373"/>
            <a:ext cx="3555950" cy="2019300"/>
          </a:xfrm>
          <a:prstGeom prst="rect">
            <a:avLst/>
          </a:prstGeom>
        </p:spPr>
      </p:pic>
      <p:pic>
        <p:nvPicPr>
          <p:cNvPr id="33" name="SK-4-img-18" descr="preencoded.png">
            <a:extLst>
              <a:ext uri="{FF2B5EF4-FFF2-40B4-BE49-F238E27FC236}">
                <a16:creationId xmlns:a16="http://schemas.microsoft.com/office/drawing/2014/main" id="{4EA4A974-371F-CF7E-DB03-DDE41F347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511873"/>
            <a:ext cx="419100" cy="419100"/>
          </a:xfrm>
          <a:prstGeom prst="rect">
            <a:avLst/>
          </a:prstGeom>
        </p:spPr>
      </p:pic>
      <p:pic>
        <p:nvPicPr>
          <p:cNvPr id="35" name="SK-4-img-19" descr="preencoded.png">
            <a:extLst>
              <a:ext uri="{FF2B5EF4-FFF2-40B4-BE49-F238E27FC236}">
                <a16:creationId xmlns:a16="http://schemas.microsoft.com/office/drawing/2014/main" id="{9E557AF6-0FAD-C04E-355D-DD29786247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488" y="4626173"/>
            <a:ext cx="238125" cy="190500"/>
          </a:xfrm>
          <a:prstGeom prst="rect">
            <a:avLst/>
          </a:prstGeom>
        </p:spPr>
      </p:pic>
      <p:pic>
        <p:nvPicPr>
          <p:cNvPr id="37" name="SK-4-img-20" descr="preencoded.png">
            <a:extLst>
              <a:ext uri="{FF2B5EF4-FFF2-40B4-BE49-F238E27FC236}">
                <a16:creationId xmlns:a16="http://schemas.microsoft.com/office/drawing/2014/main" id="{235C16A5-F123-538D-03C4-BADCB71C88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6112073"/>
            <a:ext cx="381000" cy="38100"/>
          </a:xfrm>
          <a:prstGeom prst="rect">
            <a:avLst/>
          </a:prstGeom>
        </p:spPr>
      </p:pic>
      <p:pic>
        <p:nvPicPr>
          <p:cNvPr id="39" name="SK-4-img-21" descr="preencoded.png">
            <a:extLst>
              <a:ext uri="{FF2B5EF4-FFF2-40B4-BE49-F238E27FC236}">
                <a16:creationId xmlns:a16="http://schemas.microsoft.com/office/drawing/2014/main" id="{7EE2B1A9-E81D-EEC3-05FA-4168A89550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17950" y="4321373"/>
            <a:ext cx="3555950" cy="2019300"/>
          </a:xfrm>
          <a:prstGeom prst="rect">
            <a:avLst/>
          </a:prstGeom>
        </p:spPr>
      </p:pic>
      <p:pic>
        <p:nvPicPr>
          <p:cNvPr id="41" name="SK-4-img-22" descr="preencoded.png">
            <a:extLst>
              <a:ext uri="{FF2B5EF4-FFF2-40B4-BE49-F238E27FC236}">
                <a16:creationId xmlns:a16="http://schemas.microsoft.com/office/drawing/2014/main" id="{9E675DD8-C950-71B0-763F-98A8B987C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8450" y="4511873"/>
            <a:ext cx="419100" cy="419100"/>
          </a:xfrm>
          <a:prstGeom prst="rect">
            <a:avLst/>
          </a:prstGeom>
        </p:spPr>
      </p:pic>
      <p:pic>
        <p:nvPicPr>
          <p:cNvPr id="43" name="SK-4-img-23" descr="preencoded.png">
            <a:extLst>
              <a:ext uri="{FF2B5EF4-FFF2-40B4-BE49-F238E27FC236}">
                <a16:creationId xmlns:a16="http://schemas.microsoft.com/office/drawing/2014/main" id="{46794362-F1A7-AF3A-D90D-20315A2CD5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8938" y="4626173"/>
            <a:ext cx="238125" cy="190500"/>
          </a:xfrm>
          <a:prstGeom prst="rect">
            <a:avLst/>
          </a:prstGeom>
        </p:spPr>
      </p:pic>
      <p:pic>
        <p:nvPicPr>
          <p:cNvPr id="45" name="SK-4-img-24" descr="preencoded.png">
            <a:extLst>
              <a:ext uri="{FF2B5EF4-FFF2-40B4-BE49-F238E27FC236}">
                <a16:creationId xmlns:a16="http://schemas.microsoft.com/office/drawing/2014/main" id="{25402126-8C38-0D01-BCA7-D3416F5007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8450" y="6112073"/>
            <a:ext cx="381000" cy="38100"/>
          </a:xfrm>
          <a:prstGeom prst="rect">
            <a:avLst/>
          </a:prstGeom>
        </p:spPr>
      </p:pic>
      <p:pic>
        <p:nvPicPr>
          <p:cNvPr id="47" name="SK-4-img-25" descr="preencoded.png">
            <a:extLst>
              <a:ext uri="{FF2B5EF4-FFF2-40B4-BE49-F238E27FC236}">
                <a16:creationId xmlns:a16="http://schemas.microsoft.com/office/drawing/2014/main" id="{FC53305C-3398-6996-6D78-FBB5EF0BEDC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64401" y="4321373"/>
            <a:ext cx="3556099" cy="2019300"/>
          </a:xfrm>
          <a:prstGeom prst="rect">
            <a:avLst/>
          </a:prstGeom>
        </p:spPr>
      </p:pic>
      <p:pic>
        <p:nvPicPr>
          <p:cNvPr id="49" name="SK-4-img-26" descr="preencoded.png">
            <a:extLst>
              <a:ext uri="{FF2B5EF4-FFF2-40B4-BE49-F238E27FC236}">
                <a16:creationId xmlns:a16="http://schemas.microsoft.com/office/drawing/2014/main" id="{E76D92EF-5F93-0649-6D44-78533714FC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4901" y="4511873"/>
            <a:ext cx="419100" cy="419100"/>
          </a:xfrm>
          <a:prstGeom prst="rect">
            <a:avLst/>
          </a:prstGeom>
        </p:spPr>
      </p:pic>
      <p:pic>
        <p:nvPicPr>
          <p:cNvPr id="51" name="SK-4-img-27" descr="preencoded.png">
            <a:extLst>
              <a:ext uri="{FF2B5EF4-FFF2-40B4-BE49-F238E27FC236}">
                <a16:creationId xmlns:a16="http://schemas.microsoft.com/office/drawing/2014/main" id="{1593B749-712B-851D-9897-44CEEC41736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5388" y="4626173"/>
            <a:ext cx="238125" cy="190500"/>
          </a:xfrm>
          <a:prstGeom prst="rect">
            <a:avLst/>
          </a:prstGeom>
        </p:spPr>
      </p:pic>
      <p:pic>
        <p:nvPicPr>
          <p:cNvPr id="53" name="SK-4-img-28" descr="preencoded.png">
            <a:extLst>
              <a:ext uri="{FF2B5EF4-FFF2-40B4-BE49-F238E27FC236}">
                <a16:creationId xmlns:a16="http://schemas.microsoft.com/office/drawing/2014/main" id="{7D627924-4A46-0EA7-8F85-163E65F3B2C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4901" y="6112073"/>
            <a:ext cx="381000" cy="38100"/>
          </a:xfrm>
          <a:prstGeom prst="rect">
            <a:avLst/>
          </a:prstGeom>
        </p:spPr>
      </p:pic>
      <p:sp>
        <p:nvSpPr>
          <p:cNvPr id="55" name="SK-4-text-29">
            <a:extLst>
              <a:ext uri="{FF2B5EF4-FFF2-40B4-BE49-F238E27FC236}">
                <a16:creationId xmlns:a16="http://schemas.microsoft.com/office/drawing/2014/main" id="{3623DF95-0D64-9CF9-24FB-09D840F29841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57" name="SK-4-text-30">
            <a:extLst>
              <a:ext uri="{FF2B5EF4-FFF2-40B4-BE49-F238E27FC236}">
                <a16:creationId xmlns:a16="http://schemas.microsoft.com/office/drawing/2014/main" id="{8CFCF743-7736-A8FA-707C-1AA47754674E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Fonctionnalités principales</a:t>
            </a:r>
            <a:endParaRPr lang="en-US" sz="2400" dirty="0"/>
          </a:p>
        </p:txBody>
      </p:sp>
      <p:sp>
        <p:nvSpPr>
          <p:cNvPr id="59" name="SK-4-text-31">
            <a:extLst>
              <a:ext uri="{FF2B5EF4-FFF2-40B4-BE49-F238E27FC236}">
                <a16:creationId xmlns:a16="http://schemas.microsoft.com/office/drawing/2014/main" id="{D974279E-A7EB-EF01-60E4-6FBD51D8FC7E}"/>
              </a:ext>
            </a:extLst>
          </p:cNvPr>
          <p:cNvSpPr/>
          <p:nvPr/>
        </p:nvSpPr>
        <p:spPr>
          <a:xfrm>
            <a:off x="571500" y="1397198"/>
            <a:ext cx="8572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L'application "FM Abattage" centralise et automatise l'ensemble du cycle administratif de la micro-entreprise à travers six modules métier interconnectés.</a:t>
            </a:r>
            <a:endParaRPr lang="en-US" sz="1275" dirty="0"/>
          </a:p>
        </p:txBody>
      </p:sp>
      <p:sp>
        <p:nvSpPr>
          <p:cNvPr id="61" name="SK-4-text-32">
            <a:extLst>
              <a:ext uri="{FF2B5EF4-FFF2-40B4-BE49-F238E27FC236}">
                <a16:creationId xmlns:a16="http://schemas.microsoft.com/office/drawing/2014/main" id="{22DDBBD8-98C3-E5A1-48FE-FC6CA8BF8E72}"/>
              </a:ext>
            </a:extLst>
          </p:cNvPr>
          <p:cNvSpPr/>
          <p:nvPr/>
        </p:nvSpPr>
        <p:spPr>
          <a:xfrm>
            <a:off x="1295400" y="2375892"/>
            <a:ext cx="334803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66534"/>
                </a:solidFill>
              </a:rPr>
              <a:t>Gestion Clients</a:t>
            </a:r>
            <a:endParaRPr lang="en-US" sz="1425" dirty="0"/>
          </a:p>
        </p:txBody>
      </p:sp>
      <p:sp>
        <p:nvSpPr>
          <p:cNvPr id="63" name="SK-4-text-33">
            <a:extLst>
              <a:ext uri="{FF2B5EF4-FFF2-40B4-BE49-F238E27FC236}">
                <a16:creationId xmlns:a16="http://schemas.microsoft.com/office/drawing/2014/main" id="{7C497FD3-5921-479E-5DD0-4F062FFE0570}"/>
              </a:ext>
            </a:extLst>
          </p:cNvPr>
          <p:cNvSpPr/>
          <p:nvPr/>
        </p:nvSpPr>
        <p:spPr>
          <a:xfrm>
            <a:off x="880021" y="2835473"/>
            <a:ext cx="6934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Fiches clients complètes et centralisées</a:t>
            </a:r>
            <a:endParaRPr lang="en-US" sz="1125" dirty="0"/>
          </a:p>
        </p:txBody>
      </p:sp>
      <p:sp>
        <p:nvSpPr>
          <p:cNvPr id="65" name="SK-4-text-34">
            <a:extLst>
              <a:ext uri="{FF2B5EF4-FFF2-40B4-BE49-F238E27FC236}">
                <a16:creationId xmlns:a16="http://schemas.microsoft.com/office/drawing/2014/main" id="{704DF8D1-C0F8-BB29-70D1-1B691CBD8C35}"/>
              </a:ext>
            </a:extLst>
          </p:cNvPr>
          <p:cNvSpPr/>
          <p:nvPr/>
        </p:nvSpPr>
        <p:spPr>
          <a:xfrm>
            <a:off x="880021" y="3111698"/>
            <a:ext cx="74485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Historique des devis, factures et paiements</a:t>
            </a:r>
            <a:endParaRPr lang="en-US" sz="1125" dirty="0"/>
          </a:p>
        </p:txBody>
      </p:sp>
      <p:sp>
        <p:nvSpPr>
          <p:cNvPr id="67" name="SK-4-text-35">
            <a:extLst>
              <a:ext uri="{FF2B5EF4-FFF2-40B4-BE49-F238E27FC236}">
                <a16:creationId xmlns:a16="http://schemas.microsoft.com/office/drawing/2014/main" id="{E5A93E03-FB0B-40FD-E47D-99B1E01FF9C1}"/>
              </a:ext>
            </a:extLst>
          </p:cNvPr>
          <p:cNvSpPr/>
          <p:nvPr/>
        </p:nvSpPr>
        <p:spPr>
          <a:xfrm>
            <a:off x="880021" y="3387923"/>
            <a:ext cx="59055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Génération de fiches client en PDF</a:t>
            </a:r>
            <a:endParaRPr lang="en-US" sz="1125" dirty="0"/>
          </a:p>
        </p:txBody>
      </p:sp>
      <p:sp>
        <p:nvSpPr>
          <p:cNvPr id="69" name="SK-4-text-36">
            <a:extLst>
              <a:ext uri="{FF2B5EF4-FFF2-40B4-BE49-F238E27FC236}">
                <a16:creationId xmlns:a16="http://schemas.microsoft.com/office/drawing/2014/main" id="{1A54FF4D-C92D-EDDE-B074-9BB701BF5D5C}"/>
              </a:ext>
            </a:extLst>
          </p:cNvPr>
          <p:cNvSpPr/>
          <p:nvPr/>
        </p:nvSpPr>
        <p:spPr>
          <a:xfrm>
            <a:off x="5041850" y="2375892"/>
            <a:ext cx="291369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66534"/>
                </a:solidFill>
              </a:rPr>
              <a:t>Gestion Devis</a:t>
            </a:r>
            <a:endParaRPr lang="en-US" sz="1425" dirty="0"/>
          </a:p>
        </p:txBody>
      </p:sp>
      <p:sp>
        <p:nvSpPr>
          <p:cNvPr id="71" name="SK-4-text-37">
            <a:extLst>
              <a:ext uri="{FF2B5EF4-FFF2-40B4-BE49-F238E27FC236}">
                <a16:creationId xmlns:a16="http://schemas.microsoft.com/office/drawing/2014/main" id="{5EFF11CE-3A84-672B-9937-305FD9E084EB}"/>
              </a:ext>
            </a:extLst>
          </p:cNvPr>
          <p:cNvSpPr/>
          <p:nvPr/>
        </p:nvSpPr>
        <p:spPr>
          <a:xfrm>
            <a:off x="4626471" y="2835473"/>
            <a:ext cx="74485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Création dynamique de lignes de prestations</a:t>
            </a:r>
            <a:endParaRPr lang="en-US" sz="1125" dirty="0"/>
          </a:p>
        </p:txBody>
      </p:sp>
      <p:sp>
        <p:nvSpPr>
          <p:cNvPr id="73" name="SK-4-text-38">
            <a:extLst>
              <a:ext uri="{FF2B5EF4-FFF2-40B4-BE49-F238E27FC236}">
                <a16:creationId xmlns:a16="http://schemas.microsoft.com/office/drawing/2014/main" id="{3B19BF49-B1C5-6816-FFE0-3A98DE175319}"/>
              </a:ext>
            </a:extLst>
          </p:cNvPr>
          <p:cNvSpPr/>
          <p:nvPr/>
        </p:nvSpPr>
        <p:spPr>
          <a:xfrm>
            <a:off x="4626471" y="3111698"/>
            <a:ext cx="72771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Calculs automatiques des montants et frais</a:t>
            </a:r>
            <a:endParaRPr lang="en-US" sz="1125" dirty="0"/>
          </a:p>
        </p:txBody>
      </p:sp>
      <p:sp>
        <p:nvSpPr>
          <p:cNvPr id="75" name="SK-4-text-39">
            <a:extLst>
              <a:ext uri="{FF2B5EF4-FFF2-40B4-BE49-F238E27FC236}">
                <a16:creationId xmlns:a16="http://schemas.microsoft.com/office/drawing/2014/main" id="{80C8EFE7-1C7B-D417-FDC6-43D558423A6D}"/>
              </a:ext>
            </a:extLst>
          </p:cNvPr>
          <p:cNvSpPr/>
          <p:nvPr/>
        </p:nvSpPr>
        <p:spPr>
          <a:xfrm>
            <a:off x="4626471" y="3387923"/>
            <a:ext cx="756552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Suivi des statuts (attente, accepté, refusé)</a:t>
            </a:r>
            <a:endParaRPr lang="en-US" sz="1125" dirty="0"/>
          </a:p>
        </p:txBody>
      </p:sp>
      <p:sp>
        <p:nvSpPr>
          <p:cNvPr id="77" name="SK-4-text-40">
            <a:extLst>
              <a:ext uri="{FF2B5EF4-FFF2-40B4-BE49-F238E27FC236}">
                <a16:creationId xmlns:a16="http://schemas.microsoft.com/office/drawing/2014/main" id="{40F82445-8AC3-5423-7503-69FD93BA49E1}"/>
              </a:ext>
            </a:extLst>
          </p:cNvPr>
          <p:cNvSpPr/>
          <p:nvPr/>
        </p:nvSpPr>
        <p:spPr>
          <a:xfrm>
            <a:off x="8788301" y="2375892"/>
            <a:ext cx="247935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66534"/>
                </a:solidFill>
              </a:rPr>
              <a:t>Facturation</a:t>
            </a:r>
            <a:endParaRPr lang="en-US" sz="1425" dirty="0"/>
          </a:p>
        </p:txBody>
      </p:sp>
      <p:sp>
        <p:nvSpPr>
          <p:cNvPr id="79" name="SK-4-text-41">
            <a:extLst>
              <a:ext uri="{FF2B5EF4-FFF2-40B4-BE49-F238E27FC236}">
                <a16:creationId xmlns:a16="http://schemas.microsoft.com/office/drawing/2014/main" id="{14E0C58F-9024-18A9-FAEA-550F94A66F2F}"/>
              </a:ext>
            </a:extLst>
          </p:cNvPr>
          <p:cNvSpPr/>
          <p:nvPr/>
        </p:nvSpPr>
        <p:spPr>
          <a:xfrm>
            <a:off x="8372921" y="2835473"/>
            <a:ext cx="381907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Conversion automatique Devis ➔ Facture</a:t>
            </a:r>
            <a:endParaRPr lang="en-US" sz="1125" dirty="0"/>
          </a:p>
        </p:txBody>
      </p:sp>
      <p:sp>
        <p:nvSpPr>
          <p:cNvPr id="81" name="SK-4-text-42">
            <a:extLst>
              <a:ext uri="{FF2B5EF4-FFF2-40B4-BE49-F238E27FC236}">
                <a16:creationId xmlns:a16="http://schemas.microsoft.com/office/drawing/2014/main" id="{1523D48B-5944-0C6D-2BA8-F11BD4F327F7}"/>
              </a:ext>
            </a:extLst>
          </p:cNvPr>
          <p:cNvSpPr/>
          <p:nvPr/>
        </p:nvSpPr>
        <p:spPr>
          <a:xfrm>
            <a:off x="8372921" y="3111698"/>
            <a:ext cx="381907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Numérotation légale séquentielle (F-2026-...)</a:t>
            </a:r>
            <a:endParaRPr lang="en-US" sz="1125" dirty="0"/>
          </a:p>
        </p:txBody>
      </p:sp>
      <p:sp>
        <p:nvSpPr>
          <p:cNvPr id="83" name="SK-4-text-43">
            <a:extLst>
              <a:ext uri="{FF2B5EF4-FFF2-40B4-BE49-F238E27FC236}">
                <a16:creationId xmlns:a16="http://schemas.microsoft.com/office/drawing/2014/main" id="{380BA886-12F2-D54C-E5C3-D841B8E62048}"/>
              </a:ext>
            </a:extLst>
          </p:cNvPr>
          <p:cNvSpPr/>
          <p:nvPr/>
        </p:nvSpPr>
        <p:spPr>
          <a:xfrm>
            <a:off x="8372921" y="3387923"/>
            <a:ext cx="381907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Suivi en temps réel des factures impayées</a:t>
            </a:r>
            <a:endParaRPr lang="en-US" sz="1125" dirty="0"/>
          </a:p>
        </p:txBody>
      </p:sp>
      <p:sp>
        <p:nvSpPr>
          <p:cNvPr id="85" name="SK-4-text-44">
            <a:extLst>
              <a:ext uri="{FF2B5EF4-FFF2-40B4-BE49-F238E27FC236}">
                <a16:creationId xmlns:a16="http://schemas.microsoft.com/office/drawing/2014/main" id="{5310EC4D-56C4-042E-807F-9386C28A54C8}"/>
              </a:ext>
            </a:extLst>
          </p:cNvPr>
          <p:cNvSpPr/>
          <p:nvPr/>
        </p:nvSpPr>
        <p:spPr>
          <a:xfrm>
            <a:off x="1295400" y="4585692"/>
            <a:ext cx="443388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66534"/>
                </a:solidFill>
              </a:rPr>
              <a:t>Paiements &amp; Relances</a:t>
            </a:r>
            <a:endParaRPr lang="en-US" sz="1425" dirty="0"/>
          </a:p>
        </p:txBody>
      </p:sp>
      <p:sp>
        <p:nvSpPr>
          <p:cNvPr id="87" name="SK-4-text-45">
            <a:extLst>
              <a:ext uri="{FF2B5EF4-FFF2-40B4-BE49-F238E27FC236}">
                <a16:creationId xmlns:a16="http://schemas.microsoft.com/office/drawing/2014/main" id="{395B7708-1AED-E3EC-404E-7C6135F03370}"/>
              </a:ext>
            </a:extLst>
          </p:cNvPr>
          <p:cNvSpPr/>
          <p:nvPr/>
        </p:nvSpPr>
        <p:spPr>
          <a:xfrm>
            <a:off x="880021" y="5045273"/>
            <a:ext cx="31749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Enregistrement multi-modes (espèces, SumUp...)</a:t>
            </a:r>
            <a:endParaRPr lang="en-US" sz="1125" dirty="0"/>
          </a:p>
        </p:txBody>
      </p:sp>
      <p:sp>
        <p:nvSpPr>
          <p:cNvPr id="89" name="SK-4-text-46">
            <a:extLst>
              <a:ext uri="{FF2B5EF4-FFF2-40B4-BE49-F238E27FC236}">
                <a16:creationId xmlns:a16="http://schemas.microsoft.com/office/drawing/2014/main" id="{FE15FF38-A25C-5DF2-8091-B83C04F1263C}"/>
              </a:ext>
            </a:extLst>
          </p:cNvPr>
          <p:cNvSpPr/>
          <p:nvPr/>
        </p:nvSpPr>
        <p:spPr>
          <a:xfrm>
            <a:off x="880021" y="5521523"/>
            <a:ext cx="5391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Gestion des règlements partiels</a:t>
            </a:r>
            <a:endParaRPr lang="en-US" sz="1125" dirty="0"/>
          </a:p>
        </p:txBody>
      </p:sp>
      <p:sp>
        <p:nvSpPr>
          <p:cNvPr id="91" name="SK-4-text-47">
            <a:extLst>
              <a:ext uri="{FF2B5EF4-FFF2-40B4-BE49-F238E27FC236}">
                <a16:creationId xmlns:a16="http://schemas.microsoft.com/office/drawing/2014/main" id="{AFD09903-8AFC-F6BF-48F7-738EBB8889BA}"/>
              </a:ext>
            </a:extLst>
          </p:cNvPr>
          <p:cNvSpPr/>
          <p:nvPr/>
        </p:nvSpPr>
        <p:spPr>
          <a:xfrm>
            <a:off x="880021" y="5797748"/>
            <a:ext cx="6362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3 niveaux de relances avec pénalités</a:t>
            </a:r>
            <a:endParaRPr lang="en-US" sz="1125" dirty="0"/>
          </a:p>
        </p:txBody>
      </p:sp>
      <p:sp>
        <p:nvSpPr>
          <p:cNvPr id="93" name="SK-4-text-48">
            <a:extLst>
              <a:ext uri="{FF2B5EF4-FFF2-40B4-BE49-F238E27FC236}">
                <a16:creationId xmlns:a16="http://schemas.microsoft.com/office/drawing/2014/main" id="{AA5C8BC7-1678-203F-09B4-A4FFF50C0E9B}"/>
              </a:ext>
            </a:extLst>
          </p:cNvPr>
          <p:cNvSpPr/>
          <p:nvPr/>
        </p:nvSpPr>
        <p:spPr>
          <a:xfrm>
            <a:off x="5041850" y="4585692"/>
            <a:ext cx="334803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66534"/>
                </a:solidFill>
              </a:rPr>
              <a:t>Statistiques CA</a:t>
            </a:r>
            <a:endParaRPr lang="en-US" sz="1425" dirty="0"/>
          </a:p>
        </p:txBody>
      </p:sp>
      <p:sp>
        <p:nvSpPr>
          <p:cNvPr id="95" name="SK-4-text-49">
            <a:extLst>
              <a:ext uri="{FF2B5EF4-FFF2-40B4-BE49-F238E27FC236}">
                <a16:creationId xmlns:a16="http://schemas.microsoft.com/office/drawing/2014/main" id="{FC6A36EF-9A95-6983-3EC6-23FEC43DC819}"/>
              </a:ext>
            </a:extLst>
          </p:cNvPr>
          <p:cNvSpPr/>
          <p:nvPr/>
        </p:nvSpPr>
        <p:spPr>
          <a:xfrm>
            <a:off x="4626471" y="5045273"/>
            <a:ext cx="6934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Calcul du CA mensuel et annuel via l'API</a:t>
            </a:r>
            <a:endParaRPr lang="en-US" sz="1125" dirty="0"/>
          </a:p>
        </p:txBody>
      </p:sp>
      <p:sp>
        <p:nvSpPr>
          <p:cNvPr id="97" name="SK-4-text-50">
            <a:extLst>
              <a:ext uri="{FF2B5EF4-FFF2-40B4-BE49-F238E27FC236}">
                <a16:creationId xmlns:a16="http://schemas.microsoft.com/office/drawing/2014/main" id="{B4F6CC85-4CD5-6DA0-897C-057B0A45FF64}"/>
              </a:ext>
            </a:extLst>
          </p:cNvPr>
          <p:cNvSpPr/>
          <p:nvPr/>
        </p:nvSpPr>
        <p:spPr>
          <a:xfrm>
            <a:off x="4626471" y="5321498"/>
            <a:ext cx="5562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Suivi des dépenses par catégorie</a:t>
            </a:r>
            <a:endParaRPr lang="en-US" sz="1125" dirty="0"/>
          </a:p>
        </p:txBody>
      </p:sp>
      <p:sp>
        <p:nvSpPr>
          <p:cNvPr id="99" name="SK-4-text-51">
            <a:extLst>
              <a:ext uri="{FF2B5EF4-FFF2-40B4-BE49-F238E27FC236}">
                <a16:creationId xmlns:a16="http://schemas.microsoft.com/office/drawing/2014/main" id="{2381D50F-B06C-59FE-CFD9-0ADCF86C3712}"/>
              </a:ext>
            </a:extLst>
          </p:cNvPr>
          <p:cNvSpPr/>
          <p:nvPr/>
        </p:nvSpPr>
        <p:spPr>
          <a:xfrm>
            <a:off x="4626471" y="5597723"/>
            <a:ext cx="64198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Tableau de bord de pilotage financier</a:t>
            </a:r>
            <a:endParaRPr lang="en-US" sz="1125" dirty="0"/>
          </a:p>
        </p:txBody>
      </p:sp>
      <p:sp>
        <p:nvSpPr>
          <p:cNvPr id="101" name="SK-4-text-52">
            <a:extLst>
              <a:ext uri="{FF2B5EF4-FFF2-40B4-BE49-F238E27FC236}">
                <a16:creationId xmlns:a16="http://schemas.microsoft.com/office/drawing/2014/main" id="{41029251-B4E9-2389-7D6B-548659B9212B}"/>
              </a:ext>
            </a:extLst>
          </p:cNvPr>
          <p:cNvSpPr/>
          <p:nvPr/>
        </p:nvSpPr>
        <p:spPr>
          <a:xfrm>
            <a:off x="8788301" y="4585692"/>
            <a:ext cx="313086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66534"/>
                </a:solidFill>
              </a:rPr>
              <a:t>Génération PDF</a:t>
            </a:r>
            <a:endParaRPr lang="en-US" sz="1425" dirty="0"/>
          </a:p>
        </p:txBody>
      </p:sp>
      <p:sp>
        <p:nvSpPr>
          <p:cNvPr id="103" name="SK-4-text-53">
            <a:extLst>
              <a:ext uri="{FF2B5EF4-FFF2-40B4-BE49-F238E27FC236}">
                <a16:creationId xmlns:a16="http://schemas.microsoft.com/office/drawing/2014/main" id="{A42627CC-A86D-50BC-77B6-D0AC21359B3C}"/>
              </a:ext>
            </a:extLst>
          </p:cNvPr>
          <p:cNvSpPr/>
          <p:nvPr/>
        </p:nvSpPr>
        <p:spPr>
          <a:xfrm>
            <a:off x="8372921" y="5045273"/>
            <a:ext cx="381907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Automatisation via Puppeteer et Templates</a:t>
            </a:r>
            <a:endParaRPr lang="en-US" sz="1125" dirty="0"/>
          </a:p>
        </p:txBody>
      </p:sp>
      <p:sp>
        <p:nvSpPr>
          <p:cNvPr id="105" name="SK-4-text-54">
            <a:extLst>
              <a:ext uri="{FF2B5EF4-FFF2-40B4-BE49-F238E27FC236}">
                <a16:creationId xmlns:a16="http://schemas.microsoft.com/office/drawing/2014/main" id="{AA53A150-A8BE-3671-94CC-B5ACEB998587}"/>
              </a:ext>
            </a:extLst>
          </p:cNvPr>
          <p:cNvSpPr/>
          <p:nvPr/>
        </p:nvSpPr>
        <p:spPr>
          <a:xfrm>
            <a:off x="8372921" y="5321498"/>
            <a:ext cx="381907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Documents professionnels uniformisés</a:t>
            </a:r>
            <a:endParaRPr lang="en-US" sz="1125" dirty="0"/>
          </a:p>
        </p:txBody>
      </p:sp>
      <p:sp>
        <p:nvSpPr>
          <p:cNvPr id="107" name="SK-4-text-55">
            <a:extLst>
              <a:ext uri="{FF2B5EF4-FFF2-40B4-BE49-F238E27FC236}">
                <a16:creationId xmlns:a16="http://schemas.microsoft.com/office/drawing/2014/main" id="{311D9BD4-3562-FC51-D091-7C367A438BE7}"/>
              </a:ext>
            </a:extLst>
          </p:cNvPr>
          <p:cNvSpPr/>
          <p:nvPr/>
        </p:nvSpPr>
        <p:spPr>
          <a:xfrm>
            <a:off x="8372921" y="5597723"/>
            <a:ext cx="3819079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Mentions légales incluses automatiquement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355734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5-img-1" descr="preencoded.png">
            <a:extLst>
              <a:ext uri="{FF2B5EF4-FFF2-40B4-BE49-F238E27FC236}">
                <a16:creationId xmlns:a16="http://schemas.microsoft.com/office/drawing/2014/main" id="{F64D42A5-13B6-0D5C-737A-AF1A9D248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5-img-2" descr="preencoded.png">
            <a:extLst>
              <a:ext uri="{FF2B5EF4-FFF2-40B4-BE49-F238E27FC236}">
                <a16:creationId xmlns:a16="http://schemas.microsoft.com/office/drawing/2014/main" id="{78682424-5BA9-78D3-5CE4-4634D2222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7" name="SK-5-img-3" descr="preencoded.png">
            <a:extLst>
              <a:ext uri="{FF2B5EF4-FFF2-40B4-BE49-F238E27FC236}">
                <a16:creationId xmlns:a16="http://schemas.microsoft.com/office/drawing/2014/main" id="{1D6D7CAB-1483-1F53-6339-E72CB5FE9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sp>
        <p:nvSpPr>
          <p:cNvPr id="63" name="SK-5-text-31">
            <a:extLst>
              <a:ext uri="{FF2B5EF4-FFF2-40B4-BE49-F238E27FC236}">
                <a16:creationId xmlns:a16="http://schemas.microsoft.com/office/drawing/2014/main" id="{27B6942F-AAAC-B912-0D0E-EEC54A8D8304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65" name="SK-5-text-32">
            <a:extLst>
              <a:ext uri="{FF2B5EF4-FFF2-40B4-BE49-F238E27FC236}">
                <a16:creationId xmlns:a16="http://schemas.microsoft.com/office/drawing/2014/main" id="{C4019487-2AE0-3444-B0B2-4976BFD78AB3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Technologies utilisées</a:t>
            </a:r>
            <a:endParaRPr lang="en-US" sz="2400" dirty="0"/>
          </a:p>
        </p:txBody>
      </p:sp>
      <p:pic>
        <p:nvPicPr>
          <p:cNvPr id="125" name="SK-3-img-4" descr="preencoded.png">
            <a:extLst>
              <a:ext uri="{FF2B5EF4-FFF2-40B4-BE49-F238E27FC236}">
                <a16:creationId xmlns:a16="http://schemas.microsoft.com/office/drawing/2014/main" id="{89400B72-FA13-8A51-252F-D67D47100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23" y="6189315"/>
            <a:ext cx="11277600" cy="9525"/>
          </a:xfrm>
          <a:prstGeom prst="rect">
            <a:avLst/>
          </a:prstGeom>
        </p:spPr>
      </p:pic>
      <p:pic>
        <p:nvPicPr>
          <p:cNvPr id="127" name="SK-3-img-5" descr="preencoded.png">
            <a:extLst>
              <a:ext uri="{FF2B5EF4-FFF2-40B4-BE49-F238E27FC236}">
                <a16:creationId xmlns:a16="http://schemas.microsoft.com/office/drawing/2014/main" id="{1A480712-AB5F-30A7-EBD1-1123498FED7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1746"/>
          <a:stretch>
            <a:fillRect/>
          </a:stretch>
        </p:blipFill>
        <p:spPr>
          <a:xfrm>
            <a:off x="495300" y="1424605"/>
            <a:ext cx="11201400" cy="4142184"/>
          </a:xfrm>
          <a:prstGeom prst="rect">
            <a:avLst/>
          </a:prstGeom>
        </p:spPr>
      </p:pic>
      <p:sp>
        <p:nvSpPr>
          <p:cNvPr id="129" name="SK-3-text-8">
            <a:extLst>
              <a:ext uri="{FF2B5EF4-FFF2-40B4-BE49-F238E27FC236}">
                <a16:creationId xmlns:a16="http://schemas.microsoft.com/office/drawing/2014/main" id="{4D724D7A-5660-BA82-373F-322FE2B0E853}"/>
              </a:ext>
            </a:extLst>
          </p:cNvPr>
          <p:cNvSpPr/>
          <p:nvPr/>
        </p:nvSpPr>
        <p:spPr>
          <a:xfrm>
            <a:off x="4215407" y="6281142"/>
            <a:ext cx="3185071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ea typeface="Inter" pitchFamily="34" charset="-122"/>
                <a:cs typeface="Inter" pitchFamily="34" charset="-120"/>
              </a:rPr>
              <a:t>Déployé sur Render · GitHub (116 commits)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53795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6-img-2" descr="preencoded.png">
            <a:extLst>
              <a:ext uri="{FF2B5EF4-FFF2-40B4-BE49-F238E27FC236}">
                <a16:creationId xmlns:a16="http://schemas.microsoft.com/office/drawing/2014/main" id="{41D2B6F9-5993-AE1B-ED99-60A1A47A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5" name="SK-6-img-3" descr="preencoded.png">
            <a:extLst>
              <a:ext uri="{FF2B5EF4-FFF2-40B4-BE49-F238E27FC236}">
                <a16:creationId xmlns:a16="http://schemas.microsoft.com/office/drawing/2014/main" id="{1C695548-971E-0119-BAD6-B369A4845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7" name="SK-6-img-4" descr="preencoded.png">
            <a:extLst>
              <a:ext uri="{FF2B5EF4-FFF2-40B4-BE49-F238E27FC236}">
                <a16:creationId xmlns:a16="http://schemas.microsoft.com/office/drawing/2014/main" id="{D4CE673D-FED8-C7CE-AD01-9FED0C5D5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722983"/>
            <a:ext cx="190500" cy="152400"/>
          </a:xfrm>
          <a:prstGeom prst="rect">
            <a:avLst/>
          </a:prstGeom>
        </p:spPr>
      </p:pic>
      <p:pic>
        <p:nvPicPr>
          <p:cNvPr id="9" name="SK-6-img-5" descr="preencoded.png">
            <a:extLst>
              <a:ext uri="{FF2B5EF4-FFF2-40B4-BE49-F238E27FC236}">
                <a16:creationId xmlns:a16="http://schemas.microsoft.com/office/drawing/2014/main" id="{967483E8-D35E-7CD5-840F-A99051185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2669" y="3141166"/>
            <a:ext cx="214313" cy="175320"/>
          </a:xfrm>
          <a:prstGeom prst="rect">
            <a:avLst/>
          </a:prstGeom>
        </p:spPr>
      </p:pic>
      <p:pic>
        <p:nvPicPr>
          <p:cNvPr id="11" name="SK-6-img-6" descr="preencoded.png">
            <a:extLst>
              <a:ext uri="{FF2B5EF4-FFF2-40B4-BE49-F238E27FC236}">
                <a16:creationId xmlns:a16="http://schemas.microsoft.com/office/drawing/2014/main" id="{055AE124-3D4E-4103-9485-89632C598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2669" y="4546104"/>
            <a:ext cx="214313" cy="175320"/>
          </a:xfrm>
          <a:prstGeom prst="rect">
            <a:avLst/>
          </a:prstGeom>
        </p:spPr>
      </p:pic>
      <p:pic>
        <p:nvPicPr>
          <p:cNvPr id="13" name="SK-6-img-7" descr="preencoded.png">
            <a:extLst>
              <a:ext uri="{FF2B5EF4-FFF2-40B4-BE49-F238E27FC236}">
                <a16:creationId xmlns:a16="http://schemas.microsoft.com/office/drawing/2014/main" id="{233D1262-697C-246F-DE54-C71B45AA22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071021"/>
            <a:ext cx="981075" cy="247650"/>
          </a:xfrm>
          <a:prstGeom prst="rect">
            <a:avLst/>
          </a:prstGeom>
        </p:spPr>
      </p:pic>
      <p:pic>
        <p:nvPicPr>
          <p:cNvPr id="15" name="SK-6-img-8" descr="preencoded.png">
            <a:extLst>
              <a:ext uri="{FF2B5EF4-FFF2-40B4-BE49-F238E27FC236}">
                <a16:creationId xmlns:a16="http://schemas.microsoft.com/office/drawing/2014/main" id="{DDA813E2-D44A-3E3F-A04F-BEB703DD05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8150" y="1832521"/>
            <a:ext cx="9525" cy="4072979"/>
          </a:xfrm>
          <a:prstGeom prst="rect">
            <a:avLst/>
          </a:prstGeom>
        </p:spPr>
      </p:pic>
      <p:pic>
        <p:nvPicPr>
          <p:cNvPr id="17" name="SK-6-img-9" descr="preencoded.png">
            <a:extLst>
              <a:ext uri="{FF2B5EF4-FFF2-40B4-BE49-F238E27FC236}">
                <a16:creationId xmlns:a16="http://schemas.microsoft.com/office/drawing/2014/main" id="{5DDDEF8F-A263-31FC-F02E-2E940BBF3F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175" y="1722983"/>
            <a:ext cx="190500" cy="152400"/>
          </a:xfrm>
          <a:prstGeom prst="rect">
            <a:avLst/>
          </a:prstGeom>
        </p:spPr>
      </p:pic>
      <p:pic>
        <p:nvPicPr>
          <p:cNvPr id="19" name="SK-6-img-10" descr="preencoded.png">
            <a:extLst>
              <a:ext uri="{FF2B5EF4-FFF2-40B4-BE49-F238E27FC236}">
                <a16:creationId xmlns:a16="http://schemas.microsoft.com/office/drawing/2014/main" id="{377D920F-9966-B5E8-8720-E4D3E408E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44" y="3141166"/>
            <a:ext cx="214313" cy="175320"/>
          </a:xfrm>
          <a:prstGeom prst="rect">
            <a:avLst/>
          </a:prstGeom>
        </p:spPr>
      </p:pic>
      <p:pic>
        <p:nvPicPr>
          <p:cNvPr id="21" name="SK-6-img-11" descr="preencoded.png">
            <a:extLst>
              <a:ext uri="{FF2B5EF4-FFF2-40B4-BE49-F238E27FC236}">
                <a16:creationId xmlns:a16="http://schemas.microsoft.com/office/drawing/2014/main" id="{F36FC888-2719-E473-E52A-3868951B46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44" y="4546104"/>
            <a:ext cx="214313" cy="175320"/>
          </a:xfrm>
          <a:prstGeom prst="rect">
            <a:avLst/>
          </a:prstGeom>
        </p:spPr>
      </p:pic>
      <p:pic>
        <p:nvPicPr>
          <p:cNvPr id="23" name="SK-6-img-12" descr="preencoded.png">
            <a:extLst>
              <a:ext uri="{FF2B5EF4-FFF2-40B4-BE49-F238E27FC236}">
                <a16:creationId xmlns:a16="http://schemas.microsoft.com/office/drawing/2014/main" id="{325C7829-E6A2-C1E8-E4E6-C4C9727E2C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8175" y="5071021"/>
            <a:ext cx="1390650" cy="247650"/>
          </a:xfrm>
          <a:prstGeom prst="rect">
            <a:avLst/>
          </a:prstGeom>
        </p:spPr>
      </p:pic>
      <p:pic>
        <p:nvPicPr>
          <p:cNvPr id="25" name="SK-6-img-13" descr="preencoded.png">
            <a:extLst>
              <a:ext uri="{FF2B5EF4-FFF2-40B4-BE49-F238E27FC236}">
                <a16:creationId xmlns:a16="http://schemas.microsoft.com/office/drawing/2014/main" id="{E5C45375-BC0E-3DFA-ABF4-C9E44C9A22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4325" y="1832521"/>
            <a:ext cx="9525" cy="4072979"/>
          </a:xfrm>
          <a:prstGeom prst="rect">
            <a:avLst/>
          </a:prstGeom>
        </p:spPr>
      </p:pic>
      <p:pic>
        <p:nvPicPr>
          <p:cNvPr id="27" name="SK-6-img-14" descr="preencoded.png">
            <a:extLst>
              <a:ext uri="{FF2B5EF4-FFF2-40B4-BE49-F238E27FC236}">
                <a16:creationId xmlns:a16="http://schemas.microsoft.com/office/drawing/2014/main" id="{E7A79B3A-180F-0E54-474F-75560B9224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4350" y="1722983"/>
            <a:ext cx="190500" cy="152400"/>
          </a:xfrm>
          <a:prstGeom prst="rect">
            <a:avLst/>
          </a:prstGeom>
        </p:spPr>
      </p:pic>
      <p:pic>
        <p:nvPicPr>
          <p:cNvPr id="29" name="SK-6-img-15" descr="preencoded.png">
            <a:extLst>
              <a:ext uri="{FF2B5EF4-FFF2-40B4-BE49-F238E27FC236}">
                <a16:creationId xmlns:a16="http://schemas.microsoft.com/office/drawing/2014/main" id="{F323BD48-A272-4780-8B5A-52BF9A997B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5019" y="3141166"/>
            <a:ext cx="214313" cy="175320"/>
          </a:xfrm>
          <a:prstGeom prst="rect">
            <a:avLst/>
          </a:prstGeom>
        </p:spPr>
      </p:pic>
      <p:pic>
        <p:nvPicPr>
          <p:cNvPr id="31" name="SK-6-img-16" descr="preencoded.png">
            <a:extLst>
              <a:ext uri="{FF2B5EF4-FFF2-40B4-BE49-F238E27FC236}">
                <a16:creationId xmlns:a16="http://schemas.microsoft.com/office/drawing/2014/main" id="{22A03A3A-E2B0-EA4F-564B-485268E502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5019" y="4546104"/>
            <a:ext cx="214313" cy="175320"/>
          </a:xfrm>
          <a:prstGeom prst="rect">
            <a:avLst/>
          </a:prstGeom>
        </p:spPr>
      </p:pic>
      <p:pic>
        <p:nvPicPr>
          <p:cNvPr id="33" name="SK-6-img-17" descr="preencoded.png">
            <a:extLst>
              <a:ext uri="{FF2B5EF4-FFF2-40B4-BE49-F238E27FC236}">
                <a16:creationId xmlns:a16="http://schemas.microsoft.com/office/drawing/2014/main" id="{890AD15A-8A91-55C6-D698-B155D247B1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4350" y="5071021"/>
            <a:ext cx="657225" cy="247650"/>
          </a:xfrm>
          <a:prstGeom prst="rect">
            <a:avLst/>
          </a:prstGeom>
        </p:spPr>
      </p:pic>
      <p:sp>
        <p:nvSpPr>
          <p:cNvPr id="35" name="SK-6-text-18">
            <a:extLst>
              <a:ext uri="{FF2B5EF4-FFF2-40B4-BE49-F238E27FC236}">
                <a16:creationId xmlns:a16="http://schemas.microsoft.com/office/drawing/2014/main" id="{DBE469DB-D865-D467-C300-0DFFFD50D4A0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37" name="SK-6-text-19">
            <a:extLst>
              <a:ext uri="{FF2B5EF4-FFF2-40B4-BE49-F238E27FC236}">
                <a16:creationId xmlns:a16="http://schemas.microsoft.com/office/drawing/2014/main" id="{09A0C798-1FC4-F576-3517-772C4EB6A6E5}"/>
              </a:ext>
            </a:extLst>
          </p:cNvPr>
          <p:cNvSpPr/>
          <p:nvPr/>
        </p:nvSpPr>
        <p:spPr>
          <a:xfrm>
            <a:off x="571500" y="704850"/>
            <a:ext cx="11620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Architecture de l'application : MVC / REST</a:t>
            </a:r>
            <a:endParaRPr lang="en-US" sz="2400" dirty="0"/>
          </a:p>
        </p:txBody>
      </p:sp>
      <p:sp>
        <p:nvSpPr>
          <p:cNvPr id="39" name="SK-6-text-20">
            <a:extLst>
              <a:ext uri="{FF2B5EF4-FFF2-40B4-BE49-F238E27FC236}">
                <a16:creationId xmlns:a16="http://schemas.microsoft.com/office/drawing/2014/main" id="{81E91FC0-A4DD-CBD0-E4A2-317C7A942AAE}"/>
              </a:ext>
            </a:extLst>
          </p:cNvPr>
          <p:cNvSpPr/>
          <p:nvPr/>
        </p:nvSpPr>
        <p:spPr>
          <a:xfrm>
            <a:off x="1066800" y="1642021"/>
            <a:ext cx="236791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66534"/>
                </a:solidFill>
              </a:rPr>
              <a:t>FRONT-END</a:t>
            </a:r>
            <a:endParaRPr lang="en-US" sz="1650" dirty="0"/>
          </a:p>
        </p:txBody>
      </p:sp>
      <p:sp>
        <p:nvSpPr>
          <p:cNvPr id="41" name="SK-6-text-21">
            <a:extLst>
              <a:ext uri="{FF2B5EF4-FFF2-40B4-BE49-F238E27FC236}">
                <a16:creationId xmlns:a16="http://schemas.microsoft.com/office/drawing/2014/main" id="{5DA0058B-8755-A83E-7716-29DF1862353E}"/>
              </a:ext>
            </a:extLst>
          </p:cNvPr>
          <p:cNvSpPr/>
          <p:nvPr/>
        </p:nvSpPr>
        <p:spPr>
          <a:xfrm>
            <a:off x="762000" y="2261146"/>
            <a:ext cx="474440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Utilisateur (Navigateur)</a:t>
            </a:r>
            <a:endParaRPr lang="en-US" sz="1275" dirty="0"/>
          </a:p>
        </p:txBody>
      </p:sp>
      <p:sp>
        <p:nvSpPr>
          <p:cNvPr id="43" name="SK-6-text-22">
            <a:extLst>
              <a:ext uri="{FF2B5EF4-FFF2-40B4-BE49-F238E27FC236}">
                <a16:creationId xmlns:a16="http://schemas.microsoft.com/office/drawing/2014/main" id="{F3121CB9-9449-3084-A6F3-4D483502A431}"/>
              </a:ext>
            </a:extLst>
          </p:cNvPr>
          <p:cNvSpPr/>
          <p:nvPr/>
        </p:nvSpPr>
        <p:spPr>
          <a:xfrm>
            <a:off x="762000" y="2561183"/>
            <a:ext cx="6934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Interface accessible via Chrome/Firefox.</a:t>
            </a:r>
            <a:endParaRPr lang="en-US" sz="1125" dirty="0"/>
          </a:p>
        </p:txBody>
      </p:sp>
      <p:sp>
        <p:nvSpPr>
          <p:cNvPr id="45" name="SK-6-text-23">
            <a:extLst>
              <a:ext uri="{FF2B5EF4-FFF2-40B4-BE49-F238E27FC236}">
                <a16:creationId xmlns:a16="http://schemas.microsoft.com/office/drawing/2014/main" id="{8699E3B8-8E92-1BFB-542D-5D8A08A56E5D}"/>
              </a:ext>
            </a:extLst>
          </p:cNvPr>
          <p:cNvSpPr/>
          <p:nvPr/>
        </p:nvSpPr>
        <p:spPr>
          <a:xfrm>
            <a:off x="762000" y="3666083"/>
            <a:ext cx="519779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HTML5 / CSS3 / JS</a:t>
            </a:r>
            <a:endParaRPr lang="en-US" sz="1275" dirty="0"/>
          </a:p>
        </p:txBody>
      </p:sp>
      <p:sp>
        <p:nvSpPr>
          <p:cNvPr id="47" name="SK-6-text-24">
            <a:extLst>
              <a:ext uri="{FF2B5EF4-FFF2-40B4-BE49-F238E27FC236}">
                <a16:creationId xmlns:a16="http://schemas.microsoft.com/office/drawing/2014/main" id="{AB1F58B7-CFB7-9287-5A4E-0BC31923D698}"/>
              </a:ext>
            </a:extLst>
          </p:cNvPr>
          <p:cNvSpPr/>
          <p:nvPr/>
        </p:nvSpPr>
        <p:spPr>
          <a:xfrm>
            <a:off x="762000" y="3966121"/>
            <a:ext cx="5562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Interface sobre orientée métier.</a:t>
            </a:r>
            <a:endParaRPr lang="en-US" sz="1125" dirty="0"/>
          </a:p>
        </p:txBody>
      </p:sp>
      <p:sp>
        <p:nvSpPr>
          <p:cNvPr id="49" name="SK-6-text-25">
            <a:extLst>
              <a:ext uri="{FF2B5EF4-FFF2-40B4-BE49-F238E27FC236}">
                <a16:creationId xmlns:a16="http://schemas.microsoft.com/office/drawing/2014/main" id="{84D803F6-03D8-6463-6287-FF5345ADEC10}"/>
              </a:ext>
            </a:extLst>
          </p:cNvPr>
          <p:cNvSpPr/>
          <p:nvPr/>
        </p:nvSpPr>
        <p:spPr>
          <a:xfrm>
            <a:off x="857250" y="5071021"/>
            <a:ext cx="1623578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fetch() / AJAX</a:t>
            </a:r>
            <a:endParaRPr lang="en-US" sz="900" dirty="0"/>
          </a:p>
        </p:txBody>
      </p:sp>
      <p:sp>
        <p:nvSpPr>
          <p:cNvPr id="51" name="SK-6-text-26">
            <a:extLst>
              <a:ext uri="{FF2B5EF4-FFF2-40B4-BE49-F238E27FC236}">
                <a16:creationId xmlns:a16="http://schemas.microsoft.com/office/drawing/2014/main" id="{D488222A-43E3-4C46-F3C2-BA5AB63339A4}"/>
              </a:ext>
            </a:extLst>
          </p:cNvPr>
          <p:cNvSpPr/>
          <p:nvPr/>
        </p:nvSpPr>
        <p:spPr>
          <a:xfrm>
            <a:off x="762000" y="5375821"/>
            <a:ext cx="337661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Requêtes HTTP</a:t>
            </a:r>
            <a:endParaRPr lang="en-US" sz="1275" dirty="0"/>
          </a:p>
        </p:txBody>
      </p:sp>
      <p:sp>
        <p:nvSpPr>
          <p:cNvPr id="53" name="SK-6-text-27">
            <a:extLst>
              <a:ext uri="{FF2B5EF4-FFF2-40B4-BE49-F238E27FC236}">
                <a16:creationId xmlns:a16="http://schemas.microsoft.com/office/drawing/2014/main" id="{8FF38ABF-E6D8-FD5E-9166-884600F42108}"/>
              </a:ext>
            </a:extLst>
          </p:cNvPr>
          <p:cNvSpPr/>
          <p:nvPr/>
        </p:nvSpPr>
        <p:spPr>
          <a:xfrm>
            <a:off x="762000" y="5675858"/>
            <a:ext cx="60769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Appels asynchrones vers l'API REST.</a:t>
            </a:r>
            <a:endParaRPr lang="en-US" sz="1125" dirty="0"/>
          </a:p>
        </p:txBody>
      </p:sp>
      <p:sp>
        <p:nvSpPr>
          <p:cNvPr id="55" name="SK-6-text-28">
            <a:extLst>
              <a:ext uri="{FF2B5EF4-FFF2-40B4-BE49-F238E27FC236}">
                <a16:creationId xmlns:a16="http://schemas.microsoft.com/office/drawing/2014/main" id="{8BC2669A-636F-D643-C744-203C44E52814}"/>
              </a:ext>
            </a:extLst>
          </p:cNvPr>
          <p:cNvSpPr/>
          <p:nvPr/>
        </p:nvSpPr>
        <p:spPr>
          <a:xfrm>
            <a:off x="4752975" y="1642021"/>
            <a:ext cx="211645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563EB"/>
                </a:solidFill>
              </a:rPr>
              <a:t>BACK-END</a:t>
            </a:r>
            <a:endParaRPr lang="en-US" sz="1650" dirty="0"/>
          </a:p>
        </p:txBody>
      </p:sp>
      <p:sp>
        <p:nvSpPr>
          <p:cNvPr id="57" name="SK-6-text-29">
            <a:extLst>
              <a:ext uri="{FF2B5EF4-FFF2-40B4-BE49-F238E27FC236}">
                <a16:creationId xmlns:a16="http://schemas.microsoft.com/office/drawing/2014/main" id="{C89BAB7F-2C8B-0A5E-784A-FBFDEF1A9742}"/>
              </a:ext>
            </a:extLst>
          </p:cNvPr>
          <p:cNvSpPr/>
          <p:nvPr/>
        </p:nvSpPr>
        <p:spPr>
          <a:xfrm>
            <a:off x="4448175" y="2261146"/>
            <a:ext cx="396716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Node.js + Express.js</a:t>
            </a:r>
            <a:endParaRPr lang="en-US" sz="1275" dirty="0"/>
          </a:p>
        </p:txBody>
      </p:sp>
      <p:sp>
        <p:nvSpPr>
          <p:cNvPr id="59" name="SK-6-text-30">
            <a:extLst>
              <a:ext uri="{FF2B5EF4-FFF2-40B4-BE49-F238E27FC236}">
                <a16:creationId xmlns:a16="http://schemas.microsoft.com/office/drawing/2014/main" id="{385D0ADF-7BF2-A9B4-EBF4-93942273B32A}"/>
              </a:ext>
            </a:extLst>
          </p:cNvPr>
          <p:cNvSpPr/>
          <p:nvPr/>
        </p:nvSpPr>
        <p:spPr>
          <a:xfrm>
            <a:off x="4448175" y="2561183"/>
            <a:ext cx="6934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Serveur d'application et logique métier.</a:t>
            </a:r>
            <a:endParaRPr lang="en-US" sz="1125" dirty="0"/>
          </a:p>
        </p:txBody>
      </p:sp>
      <p:sp>
        <p:nvSpPr>
          <p:cNvPr id="61" name="SK-6-text-31">
            <a:extLst>
              <a:ext uri="{FF2B5EF4-FFF2-40B4-BE49-F238E27FC236}">
                <a16:creationId xmlns:a16="http://schemas.microsoft.com/office/drawing/2014/main" id="{CDC2E60D-0963-2320-3C60-875B1C91B978}"/>
              </a:ext>
            </a:extLst>
          </p:cNvPr>
          <p:cNvSpPr/>
          <p:nvPr/>
        </p:nvSpPr>
        <p:spPr>
          <a:xfrm>
            <a:off x="4448175" y="3666083"/>
            <a:ext cx="396716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Routes &amp; Controllers</a:t>
            </a:r>
            <a:endParaRPr lang="en-US" sz="1275" dirty="0"/>
          </a:p>
        </p:txBody>
      </p:sp>
      <p:sp>
        <p:nvSpPr>
          <p:cNvPr id="63" name="SK-6-text-32">
            <a:extLst>
              <a:ext uri="{FF2B5EF4-FFF2-40B4-BE49-F238E27FC236}">
                <a16:creationId xmlns:a16="http://schemas.microsoft.com/office/drawing/2014/main" id="{7A25AF1B-F1B1-07C7-C401-508FE8E53936}"/>
              </a:ext>
            </a:extLst>
          </p:cNvPr>
          <p:cNvSpPr/>
          <p:nvPr/>
        </p:nvSpPr>
        <p:spPr>
          <a:xfrm>
            <a:off x="4448175" y="3966121"/>
            <a:ext cx="7620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Traitement des requêtes et authentification.</a:t>
            </a:r>
            <a:endParaRPr lang="en-US" sz="1125" dirty="0"/>
          </a:p>
        </p:txBody>
      </p:sp>
      <p:sp>
        <p:nvSpPr>
          <p:cNvPr id="65" name="SK-6-text-33">
            <a:extLst>
              <a:ext uri="{FF2B5EF4-FFF2-40B4-BE49-F238E27FC236}">
                <a16:creationId xmlns:a16="http://schemas.microsoft.com/office/drawing/2014/main" id="{D7EBBD41-92A3-1BDF-1DF7-623C049D53FA}"/>
              </a:ext>
            </a:extLst>
          </p:cNvPr>
          <p:cNvSpPr/>
          <p:nvPr/>
        </p:nvSpPr>
        <p:spPr>
          <a:xfrm>
            <a:off x="4543425" y="5071021"/>
            <a:ext cx="252253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Puppeteer / Json2csv</a:t>
            </a:r>
            <a:endParaRPr lang="en-US" sz="900" dirty="0"/>
          </a:p>
        </p:txBody>
      </p:sp>
      <p:sp>
        <p:nvSpPr>
          <p:cNvPr id="67" name="SK-6-text-34">
            <a:extLst>
              <a:ext uri="{FF2B5EF4-FFF2-40B4-BE49-F238E27FC236}">
                <a16:creationId xmlns:a16="http://schemas.microsoft.com/office/drawing/2014/main" id="{1870F2C9-7F64-688E-7D57-270E364AF7FA}"/>
              </a:ext>
            </a:extLst>
          </p:cNvPr>
          <p:cNvSpPr/>
          <p:nvPr/>
        </p:nvSpPr>
        <p:spPr>
          <a:xfrm>
            <a:off x="4448175" y="5375821"/>
            <a:ext cx="435578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Services &amp; Middlewares</a:t>
            </a:r>
            <a:endParaRPr lang="en-US" sz="1275" dirty="0"/>
          </a:p>
        </p:txBody>
      </p:sp>
      <p:sp>
        <p:nvSpPr>
          <p:cNvPr id="69" name="SK-6-text-35">
            <a:extLst>
              <a:ext uri="{FF2B5EF4-FFF2-40B4-BE49-F238E27FC236}">
                <a16:creationId xmlns:a16="http://schemas.microsoft.com/office/drawing/2014/main" id="{99F2E40E-FC9B-B595-0A29-3D63DEEA0591}"/>
              </a:ext>
            </a:extLst>
          </p:cNvPr>
          <p:cNvSpPr/>
          <p:nvPr/>
        </p:nvSpPr>
        <p:spPr>
          <a:xfrm>
            <a:off x="4448175" y="5675858"/>
            <a:ext cx="71056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Génération PDF et protection des données.</a:t>
            </a:r>
            <a:endParaRPr lang="en-US" sz="1125" dirty="0"/>
          </a:p>
        </p:txBody>
      </p:sp>
      <p:sp>
        <p:nvSpPr>
          <p:cNvPr id="71" name="SK-6-text-36">
            <a:extLst>
              <a:ext uri="{FF2B5EF4-FFF2-40B4-BE49-F238E27FC236}">
                <a16:creationId xmlns:a16="http://schemas.microsoft.com/office/drawing/2014/main" id="{530EA32B-C6A9-8610-8FB1-C1F59F78B38C}"/>
              </a:ext>
            </a:extLst>
          </p:cNvPr>
          <p:cNvSpPr/>
          <p:nvPr/>
        </p:nvSpPr>
        <p:spPr>
          <a:xfrm>
            <a:off x="8439150" y="1642021"/>
            <a:ext cx="186499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4B5563"/>
                </a:solidFill>
              </a:rPr>
              <a:t>DONNÉES</a:t>
            </a:r>
            <a:endParaRPr lang="en-US" sz="1650" dirty="0"/>
          </a:p>
        </p:txBody>
      </p:sp>
      <p:sp>
        <p:nvSpPr>
          <p:cNvPr id="73" name="SK-6-text-37">
            <a:extLst>
              <a:ext uri="{FF2B5EF4-FFF2-40B4-BE49-F238E27FC236}">
                <a16:creationId xmlns:a16="http://schemas.microsoft.com/office/drawing/2014/main" id="{7693DB71-9A87-3F57-5366-7ACE6D5082C4}"/>
              </a:ext>
            </a:extLst>
          </p:cNvPr>
          <p:cNvSpPr/>
          <p:nvPr/>
        </p:nvSpPr>
        <p:spPr>
          <a:xfrm>
            <a:off x="8134350" y="2261146"/>
            <a:ext cx="337661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Sequelize ORM</a:t>
            </a:r>
            <a:endParaRPr lang="en-US" sz="1275" dirty="0"/>
          </a:p>
        </p:txBody>
      </p:sp>
      <p:sp>
        <p:nvSpPr>
          <p:cNvPr id="75" name="SK-6-text-38">
            <a:extLst>
              <a:ext uri="{FF2B5EF4-FFF2-40B4-BE49-F238E27FC236}">
                <a16:creationId xmlns:a16="http://schemas.microsoft.com/office/drawing/2014/main" id="{FF9502BC-0321-41EC-7A1B-A26A09AFA1DA}"/>
              </a:ext>
            </a:extLst>
          </p:cNvPr>
          <p:cNvSpPr/>
          <p:nvPr/>
        </p:nvSpPr>
        <p:spPr>
          <a:xfrm>
            <a:off x="8134350" y="2561183"/>
            <a:ext cx="40576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Mapping objet-relationnel JavaScript.</a:t>
            </a:r>
            <a:endParaRPr lang="en-US" sz="1125" dirty="0"/>
          </a:p>
        </p:txBody>
      </p:sp>
      <p:sp>
        <p:nvSpPr>
          <p:cNvPr id="77" name="SK-6-text-39">
            <a:extLst>
              <a:ext uri="{FF2B5EF4-FFF2-40B4-BE49-F238E27FC236}">
                <a16:creationId xmlns:a16="http://schemas.microsoft.com/office/drawing/2014/main" id="{64522155-82DE-7EBE-DC08-9862AE50A332}"/>
              </a:ext>
            </a:extLst>
          </p:cNvPr>
          <p:cNvSpPr/>
          <p:nvPr/>
        </p:nvSpPr>
        <p:spPr>
          <a:xfrm>
            <a:off x="8134350" y="3666083"/>
            <a:ext cx="377285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MySQL (Aiven Cloud)</a:t>
            </a:r>
            <a:endParaRPr lang="en-US" sz="1275" dirty="0"/>
          </a:p>
        </p:txBody>
      </p:sp>
      <p:sp>
        <p:nvSpPr>
          <p:cNvPr id="79" name="SK-6-text-40">
            <a:extLst>
              <a:ext uri="{FF2B5EF4-FFF2-40B4-BE49-F238E27FC236}">
                <a16:creationId xmlns:a16="http://schemas.microsoft.com/office/drawing/2014/main" id="{EC1FB468-27F9-5848-67EF-BD71DA9C8961}"/>
              </a:ext>
            </a:extLst>
          </p:cNvPr>
          <p:cNvSpPr/>
          <p:nvPr/>
        </p:nvSpPr>
        <p:spPr>
          <a:xfrm>
            <a:off x="8134350" y="3966121"/>
            <a:ext cx="40576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Hébergement cloud sécurisé avec SSL.</a:t>
            </a:r>
            <a:endParaRPr lang="en-US" sz="1125" dirty="0"/>
          </a:p>
        </p:txBody>
      </p:sp>
      <p:sp>
        <p:nvSpPr>
          <p:cNvPr id="81" name="SK-6-text-41">
            <a:extLst>
              <a:ext uri="{FF2B5EF4-FFF2-40B4-BE49-F238E27FC236}">
                <a16:creationId xmlns:a16="http://schemas.microsoft.com/office/drawing/2014/main" id="{A1661129-5676-AC57-9D6E-9C275E0304FE}"/>
              </a:ext>
            </a:extLst>
          </p:cNvPr>
          <p:cNvSpPr/>
          <p:nvPr/>
        </p:nvSpPr>
        <p:spPr>
          <a:xfrm>
            <a:off x="8229600" y="5071021"/>
            <a:ext cx="9203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8 Tables</a:t>
            </a:r>
            <a:endParaRPr lang="en-US" sz="900" dirty="0"/>
          </a:p>
        </p:txBody>
      </p:sp>
      <p:sp>
        <p:nvSpPr>
          <p:cNvPr id="83" name="SK-6-text-42">
            <a:extLst>
              <a:ext uri="{FF2B5EF4-FFF2-40B4-BE49-F238E27FC236}">
                <a16:creationId xmlns:a16="http://schemas.microsoft.com/office/drawing/2014/main" id="{8BEADA75-1330-3E79-9949-F17D8C9D1980}"/>
              </a:ext>
            </a:extLst>
          </p:cNvPr>
          <p:cNvSpPr/>
          <p:nvPr/>
        </p:nvSpPr>
        <p:spPr>
          <a:xfrm>
            <a:off x="8134350" y="5375821"/>
            <a:ext cx="357854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Modèle Relationnel</a:t>
            </a:r>
            <a:endParaRPr lang="en-US" sz="1275" dirty="0"/>
          </a:p>
        </p:txBody>
      </p:sp>
      <p:sp>
        <p:nvSpPr>
          <p:cNvPr id="85" name="SK-6-text-43">
            <a:extLst>
              <a:ext uri="{FF2B5EF4-FFF2-40B4-BE49-F238E27FC236}">
                <a16:creationId xmlns:a16="http://schemas.microsoft.com/office/drawing/2014/main" id="{89B04A9D-E616-A0F0-D557-494B29E203F5}"/>
              </a:ext>
            </a:extLst>
          </p:cNvPr>
          <p:cNvSpPr/>
          <p:nvPr/>
        </p:nvSpPr>
        <p:spPr>
          <a:xfrm>
            <a:off x="8134350" y="5675858"/>
            <a:ext cx="40576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Intégrité référentielle et cascades SQL.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176289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SK-7-img-3" descr="preencoded.png">
            <a:extLst>
              <a:ext uri="{FF2B5EF4-FFF2-40B4-BE49-F238E27FC236}">
                <a16:creationId xmlns:a16="http://schemas.microsoft.com/office/drawing/2014/main" id="{51AEE624-D27D-879F-200B-4520E58A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6700"/>
            <a:ext cx="1152525" cy="247650"/>
          </a:xfrm>
          <a:prstGeom prst="rect">
            <a:avLst/>
          </a:prstGeom>
        </p:spPr>
      </p:pic>
      <p:pic>
        <p:nvPicPr>
          <p:cNvPr id="49" name="SK-7-img-4" descr="preencoded.png">
            <a:extLst>
              <a:ext uri="{FF2B5EF4-FFF2-40B4-BE49-F238E27FC236}">
                <a16:creationId xmlns:a16="http://schemas.microsoft.com/office/drawing/2014/main" id="{626A4741-2BBE-6E2D-A511-008D9EC0C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385763"/>
            <a:ext cx="9782175" cy="9525"/>
          </a:xfrm>
          <a:prstGeom prst="rect">
            <a:avLst/>
          </a:prstGeom>
        </p:spPr>
      </p:pic>
      <p:sp>
        <p:nvSpPr>
          <p:cNvPr id="135" name="SK-7-text-47">
            <a:extLst>
              <a:ext uri="{FF2B5EF4-FFF2-40B4-BE49-F238E27FC236}">
                <a16:creationId xmlns:a16="http://schemas.microsoft.com/office/drawing/2014/main" id="{6E71DAE2-24C6-1C03-7C75-09509244E3B0}"/>
              </a:ext>
            </a:extLst>
          </p:cNvPr>
          <p:cNvSpPr/>
          <p:nvPr/>
        </p:nvSpPr>
        <p:spPr>
          <a:xfrm>
            <a:off x="685800" y="266700"/>
            <a:ext cx="1688869" cy="2476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pic>
        <p:nvPicPr>
          <p:cNvPr id="261" name="SK-4-img-3" descr="preencoded.png">
            <a:extLst>
              <a:ext uri="{FF2B5EF4-FFF2-40B4-BE49-F238E27FC236}">
                <a16:creationId xmlns:a16="http://schemas.microsoft.com/office/drawing/2014/main" id="{870F7A32-A5BB-26F8-A389-E9B140DA5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552" y="545083"/>
            <a:ext cx="2584698" cy="363438"/>
          </a:xfrm>
          <a:prstGeom prst="rect">
            <a:avLst/>
          </a:prstGeom>
        </p:spPr>
      </p:pic>
      <p:pic>
        <p:nvPicPr>
          <p:cNvPr id="265" name="SK-4-img-5" descr="preencoded.png">
            <a:extLst>
              <a:ext uri="{FF2B5EF4-FFF2-40B4-BE49-F238E27FC236}">
                <a16:creationId xmlns:a16="http://schemas.microsoft.com/office/drawing/2014/main" id="{ADEBA177-4307-9A05-5AD2-93E0FD476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71" y="1147316"/>
            <a:ext cx="10936188" cy="9525"/>
          </a:xfrm>
          <a:prstGeom prst="rect">
            <a:avLst/>
          </a:prstGeom>
        </p:spPr>
      </p:pic>
      <p:pic>
        <p:nvPicPr>
          <p:cNvPr id="267" name="SK-4-img-6" descr="preencoded.png">
            <a:extLst>
              <a:ext uri="{FF2B5EF4-FFF2-40B4-BE49-F238E27FC236}">
                <a16:creationId xmlns:a16="http://schemas.microsoft.com/office/drawing/2014/main" id="{9F4DF666-E70B-C47A-EC7E-A5A5EF322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71" y="5906691"/>
            <a:ext cx="10936188" cy="9525"/>
          </a:xfrm>
          <a:prstGeom prst="rect">
            <a:avLst/>
          </a:prstGeom>
        </p:spPr>
      </p:pic>
      <p:pic>
        <p:nvPicPr>
          <p:cNvPr id="269" name="SK-4-img-7" descr="preencoded.png">
            <a:extLst>
              <a:ext uri="{FF2B5EF4-FFF2-40B4-BE49-F238E27FC236}">
                <a16:creationId xmlns:a16="http://schemas.microsoft.com/office/drawing/2014/main" id="{A127E4F9-63C8-9CEC-9F41-173E06273B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471" y="6048673"/>
            <a:ext cx="10936188" cy="555427"/>
          </a:xfrm>
          <a:prstGeom prst="rect">
            <a:avLst/>
          </a:prstGeom>
        </p:spPr>
      </p:pic>
      <p:pic>
        <p:nvPicPr>
          <p:cNvPr id="271" name="SK-4-img-8" descr="preencoded.png">
            <a:extLst>
              <a:ext uri="{FF2B5EF4-FFF2-40B4-BE49-F238E27FC236}">
                <a16:creationId xmlns:a16="http://schemas.microsoft.com/office/drawing/2014/main" id="{95B34FBD-8EF0-5779-008B-807CD95F98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4290" y="6288732"/>
            <a:ext cx="97482" cy="82153"/>
          </a:xfrm>
          <a:prstGeom prst="rect">
            <a:avLst/>
          </a:prstGeom>
        </p:spPr>
      </p:pic>
      <p:pic>
        <p:nvPicPr>
          <p:cNvPr id="273" name="SK-4-img-9" descr="preencoded.png">
            <a:extLst>
              <a:ext uri="{FF2B5EF4-FFF2-40B4-BE49-F238E27FC236}">
                <a16:creationId xmlns:a16="http://schemas.microsoft.com/office/drawing/2014/main" id="{FF3939CB-E3C8-DD43-1B56-E10D9CFE6A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9765" y="6288732"/>
            <a:ext cx="97482" cy="82153"/>
          </a:xfrm>
          <a:prstGeom prst="rect">
            <a:avLst/>
          </a:prstGeom>
        </p:spPr>
      </p:pic>
      <p:pic>
        <p:nvPicPr>
          <p:cNvPr id="275" name="SK-4-img-10" descr="preencoded.png">
            <a:extLst>
              <a:ext uri="{FF2B5EF4-FFF2-40B4-BE49-F238E27FC236}">
                <a16:creationId xmlns:a16="http://schemas.microsoft.com/office/drawing/2014/main" id="{4D75FCF8-7892-3472-E844-6F42A8C92A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7953" y="6179046"/>
            <a:ext cx="475357" cy="445740"/>
          </a:xfrm>
          <a:prstGeom prst="rect">
            <a:avLst/>
          </a:prstGeom>
        </p:spPr>
      </p:pic>
      <p:pic>
        <p:nvPicPr>
          <p:cNvPr id="277" name="SK-4-img-11" descr="preencoded.png">
            <a:extLst>
              <a:ext uri="{FF2B5EF4-FFF2-40B4-BE49-F238E27FC236}">
                <a16:creationId xmlns:a16="http://schemas.microsoft.com/office/drawing/2014/main" id="{2724D719-5DFD-0034-42DD-C9C5D15B13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9482" y="6179046"/>
            <a:ext cx="463153" cy="445740"/>
          </a:xfrm>
          <a:prstGeom prst="rect">
            <a:avLst/>
          </a:prstGeom>
        </p:spPr>
      </p:pic>
      <p:pic>
        <p:nvPicPr>
          <p:cNvPr id="279" name="SK-4-img-12" descr="preencoded.png">
            <a:extLst>
              <a:ext uri="{FF2B5EF4-FFF2-40B4-BE49-F238E27FC236}">
                <a16:creationId xmlns:a16="http://schemas.microsoft.com/office/drawing/2014/main" id="{2D7D0835-E15E-3B5F-45B8-8D871734B4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2753" y="6179046"/>
            <a:ext cx="463153" cy="445740"/>
          </a:xfrm>
          <a:prstGeom prst="rect">
            <a:avLst/>
          </a:prstGeom>
        </p:spPr>
      </p:pic>
      <p:pic>
        <p:nvPicPr>
          <p:cNvPr id="281" name="SK-4-img-13" descr="preencoded.png">
            <a:extLst>
              <a:ext uri="{FF2B5EF4-FFF2-40B4-BE49-F238E27FC236}">
                <a16:creationId xmlns:a16="http://schemas.microsoft.com/office/drawing/2014/main" id="{B87E2D53-D70C-BA36-8003-459C6D756F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18879" y="1186309"/>
            <a:ext cx="7534573" cy="4601617"/>
          </a:xfrm>
          <a:prstGeom prst="rect">
            <a:avLst/>
          </a:prstGeom>
        </p:spPr>
      </p:pic>
      <p:sp>
        <p:nvSpPr>
          <p:cNvPr id="285" name="SK-4-text-15">
            <a:extLst>
              <a:ext uri="{FF2B5EF4-FFF2-40B4-BE49-F238E27FC236}">
                <a16:creationId xmlns:a16="http://schemas.microsoft.com/office/drawing/2014/main" id="{CA35B387-8F7F-CB82-079A-10700853E45B}"/>
              </a:ext>
            </a:extLst>
          </p:cNvPr>
          <p:cNvSpPr/>
          <p:nvPr/>
        </p:nvSpPr>
        <p:spPr>
          <a:xfrm>
            <a:off x="627697" y="545084"/>
            <a:ext cx="11533733" cy="3634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212121"/>
                </a:solidFill>
                <a:ea typeface="Montserrat" pitchFamily="34" charset="-122"/>
                <a:cs typeface="Montserrat" pitchFamily="34" charset="-120"/>
              </a:rPr>
              <a:t>Architecture de la Base de Données</a:t>
            </a:r>
            <a:endParaRPr lang="en-US" sz="2625" dirty="0"/>
          </a:p>
        </p:txBody>
      </p:sp>
      <p:sp>
        <p:nvSpPr>
          <p:cNvPr id="287" name="SK-4-text-16">
            <a:extLst>
              <a:ext uri="{FF2B5EF4-FFF2-40B4-BE49-F238E27FC236}">
                <a16:creationId xmlns:a16="http://schemas.microsoft.com/office/drawing/2014/main" id="{F04F5ACD-6D98-9750-3FD2-A7C7BC3C5E67}"/>
              </a:ext>
            </a:extLst>
          </p:cNvPr>
          <p:cNvSpPr/>
          <p:nvPr/>
        </p:nvSpPr>
        <p:spPr>
          <a:xfrm>
            <a:off x="9081416" y="634082"/>
            <a:ext cx="2416969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Montserrat" pitchFamily="34" charset="-122"/>
                <a:cs typeface="Montserrat" pitchFamily="34" charset="-120"/>
              </a:rPr>
              <a:t>8 tables · MySQL + Sequelize</a:t>
            </a:r>
            <a:endParaRPr lang="en-US" sz="1200" dirty="0"/>
          </a:p>
        </p:txBody>
      </p:sp>
      <p:sp>
        <p:nvSpPr>
          <p:cNvPr id="289" name="SK-4-text-17">
            <a:extLst>
              <a:ext uri="{FF2B5EF4-FFF2-40B4-BE49-F238E27FC236}">
                <a16:creationId xmlns:a16="http://schemas.microsoft.com/office/drawing/2014/main" id="{2FEE8074-9591-B023-557A-C3196A6EA861}"/>
              </a:ext>
            </a:extLst>
          </p:cNvPr>
          <p:cNvSpPr/>
          <p:nvPr/>
        </p:nvSpPr>
        <p:spPr>
          <a:xfrm>
            <a:off x="1658094" y="6199584"/>
            <a:ext cx="446532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ea typeface="Montserrat" pitchFamily="34" charset="-122"/>
                <a:cs typeface="Montserrat" pitchFamily="34" charset="-120"/>
              </a:rPr>
              <a:t>Client → Devis → Facture</a:t>
            </a:r>
            <a:endParaRPr lang="en-US" sz="1200" dirty="0"/>
          </a:p>
        </p:txBody>
      </p:sp>
      <p:sp>
        <p:nvSpPr>
          <p:cNvPr id="291" name="SK-4-text-18">
            <a:extLst>
              <a:ext uri="{FF2B5EF4-FFF2-40B4-BE49-F238E27FC236}">
                <a16:creationId xmlns:a16="http://schemas.microsoft.com/office/drawing/2014/main" id="{59F77EAA-5EA7-A082-2B75-952A58AC430B}"/>
              </a:ext>
            </a:extLst>
          </p:cNvPr>
          <p:cNvSpPr/>
          <p:nvPr/>
        </p:nvSpPr>
        <p:spPr>
          <a:xfrm>
            <a:off x="1670298" y="6425803"/>
            <a:ext cx="592836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57575"/>
                </a:solidFill>
                <a:ea typeface="Montserrat" pitchFamily="34" charset="-122"/>
                <a:cs typeface="Montserrat" pitchFamily="34" charset="-120"/>
              </a:rPr>
              <a:t>Chaîne principale de facturation</a:t>
            </a:r>
            <a:endParaRPr lang="en-US" sz="1200" dirty="0"/>
          </a:p>
        </p:txBody>
      </p:sp>
      <p:sp>
        <p:nvSpPr>
          <p:cNvPr id="293" name="SK-4-text-19">
            <a:extLst>
              <a:ext uri="{FF2B5EF4-FFF2-40B4-BE49-F238E27FC236}">
                <a16:creationId xmlns:a16="http://schemas.microsoft.com/office/drawing/2014/main" id="{A0D8AD78-C824-B012-A08C-22ED9275E7A4}"/>
              </a:ext>
            </a:extLst>
          </p:cNvPr>
          <p:cNvSpPr/>
          <p:nvPr/>
        </p:nvSpPr>
        <p:spPr>
          <a:xfrm>
            <a:off x="5254675" y="6199584"/>
            <a:ext cx="556260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ea typeface="Montserrat" pitchFamily="34" charset="-122"/>
                <a:cs typeface="Montserrat" pitchFamily="34" charset="-120"/>
              </a:rPr>
              <a:t>Facture → Paiements &amp; Relances</a:t>
            </a:r>
            <a:endParaRPr lang="en-US" sz="1200" dirty="0"/>
          </a:p>
        </p:txBody>
      </p:sp>
      <p:sp>
        <p:nvSpPr>
          <p:cNvPr id="295" name="SK-4-text-20">
            <a:extLst>
              <a:ext uri="{FF2B5EF4-FFF2-40B4-BE49-F238E27FC236}">
                <a16:creationId xmlns:a16="http://schemas.microsoft.com/office/drawing/2014/main" id="{0644C472-5F07-F667-6845-3F1252881766}"/>
              </a:ext>
            </a:extLst>
          </p:cNvPr>
          <p:cNvSpPr/>
          <p:nvPr/>
        </p:nvSpPr>
        <p:spPr>
          <a:xfrm>
            <a:off x="5266879" y="6425803"/>
            <a:ext cx="428244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57575"/>
                </a:solidFill>
                <a:ea typeface="Montserrat" pitchFamily="34" charset="-122"/>
                <a:cs typeface="Montserrat" pitchFamily="34" charset="-120"/>
              </a:rPr>
              <a:t>Suivi financier complet</a:t>
            </a:r>
            <a:endParaRPr lang="en-US" sz="1200" dirty="0"/>
          </a:p>
        </p:txBody>
      </p:sp>
      <p:sp>
        <p:nvSpPr>
          <p:cNvPr id="297" name="SK-4-text-21">
            <a:extLst>
              <a:ext uri="{FF2B5EF4-FFF2-40B4-BE49-F238E27FC236}">
                <a16:creationId xmlns:a16="http://schemas.microsoft.com/office/drawing/2014/main" id="{1EF33474-95DF-2AF5-F1AA-1E17249F6463}"/>
              </a:ext>
            </a:extLst>
          </p:cNvPr>
          <p:cNvSpPr/>
          <p:nvPr/>
        </p:nvSpPr>
        <p:spPr>
          <a:xfrm>
            <a:off x="8985498" y="6199584"/>
            <a:ext cx="318516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ea typeface="Montserrat" pitchFamily="34" charset="-122"/>
                <a:cs typeface="Montserrat" pitchFamily="34" charset="-120"/>
              </a:rPr>
              <a:t>ON DELETE CASCADE</a:t>
            </a:r>
            <a:endParaRPr lang="en-US" sz="1200" dirty="0"/>
          </a:p>
        </p:txBody>
      </p:sp>
      <p:sp>
        <p:nvSpPr>
          <p:cNvPr id="299" name="SK-4-text-22">
            <a:extLst>
              <a:ext uri="{FF2B5EF4-FFF2-40B4-BE49-F238E27FC236}">
                <a16:creationId xmlns:a16="http://schemas.microsoft.com/office/drawing/2014/main" id="{66640A4B-4AC0-1778-C8E8-1BF497FDAC4C}"/>
              </a:ext>
            </a:extLst>
          </p:cNvPr>
          <p:cNvSpPr/>
          <p:nvPr/>
        </p:nvSpPr>
        <p:spPr>
          <a:xfrm>
            <a:off x="8985498" y="6425803"/>
            <a:ext cx="3206502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57575"/>
                </a:solidFill>
                <a:ea typeface="Montserrat" pitchFamily="34" charset="-122"/>
                <a:cs typeface="Montserrat" pitchFamily="34" charset="-120"/>
              </a:rPr>
              <a:t>Intégrité référentielle garantie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127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8-img-3" descr="preencoded.png">
            <a:extLst>
              <a:ext uri="{FF2B5EF4-FFF2-40B4-BE49-F238E27FC236}">
                <a16:creationId xmlns:a16="http://schemas.microsoft.com/office/drawing/2014/main" id="{AAE63A3B-4FD9-C476-1449-DA23EF3C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5" name="SK-8-img-4" descr="preencoded.png">
            <a:extLst>
              <a:ext uri="{FF2B5EF4-FFF2-40B4-BE49-F238E27FC236}">
                <a16:creationId xmlns:a16="http://schemas.microsoft.com/office/drawing/2014/main" id="{FA6BDF6D-E23A-ADAD-A9AB-CCAFF0E23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7" name="SK-8-img-5" descr="preencoded.png">
            <a:extLst>
              <a:ext uri="{FF2B5EF4-FFF2-40B4-BE49-F238E27FC236}">
                <a16:creationId xmlns:a16="http://schemas.microsoft.com/office/drawing/2014/main" id="{708D3540-0671-3F09-2B22-9DEE65870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47788"/>
            <a:ext cx="5381625" cy="1162050"/>
          </a:xfrm>
          <a:prstGeom prst="rect">
            <a:avLst/>
          </a:prstGeom>
        </p:spPr>
      </p:pic>
      <p:pic>
        <p:nvPicPr>
          <p:cNvPr id="9" name="SK-8-img-6" descr="preencoded.png">
            <a:extLst>
              <a:ext uri="{FF2B5EF4-FFF2-40B4-BE49-F238E27FC236}">
                <a16:creationId xmlns:a16="http://schemas.microsoft.com/office/drawing/2014/main" id="{D68234C6-388E-7A1D-342B-030F83CB0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14475"/>
            <a:ext cx="190500" cy="152400"/>
          </a:xfrm>
          <a:prstGeom prst="rect">
            <a:avLst/>
          </a:prstGeom>
        </p:spPr>
      </p:pic>
      <p:pic>
        <p:nvPicPr>
          <p:cNvPr id="11" name="SK-8-img-7" descr="preencoded.png">
            <a:extLst>
              <a:ext uri="{FF2B5EF4-FFF2-40B4-BE49-F238E27FC236}">
                <a16:creationId xmlns:a16="http://schemas.microsoft.com/office/drawing/2014/main" id="{7EE5A373-90F3-39A7-D66F-39044DD14B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62238"/>
            <a:ext cx="5381625" cy="1375172"/>
          </a:xfrm>
          <a:prstGeom prst="rect">
            <a:avLst/>
          </a:prstGeom>
        </p:spPr>
      </p:pic>
      <p:pic>
        <p:nvPicPr>
          <p:cNvPr id="13" name="SK-8-img-8" descr="preencoded.png">
            <a:extLst>
              <a:ext uri="{FF2B5EF4-FFF2-40B4-BE49-F238E27FC236}">
                <a16:creationId xmlns:a16="http://schemas.microsoft.com/office/drawing/2014/main" id="{9BC47BF7-5187-3610-58C9-E0A46A783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828925"/>
            <a:ext cx="190500" cy="152400"/>
          </a:xfrm>
          <a:prstGeom prst="rect">
            <a:avLst/>
          </a:prstGeom>
        </p:spPr>
      </p:pic>
      <p:pic>
        <p:nvPicPr>
          <p:cNvPr id="23" name="SK-8-img-13" descr="preencoded.png">
            <a:extLst>
              <a:ext uri="{FF2B5EF4-FFF2-40B4-BE49-F238E27FC236}">
                <a16:creationId xmlns:a16="http://schemas.microsoft.com/office/drawing/2014/main" id="{4564B5CB-ADFA-2D46-66D5-54509CFA8C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321843"/>
            <a:ext cx="819150" cy="249436"/>
          </a:xfrm>
          <a:prstGeom prst="rect">
            <a:avLst/>
          </a:prstGeom>
        </p:spPr>
      </p:pic>
      <p:pic>
        <p:nvPicPr>
          <p:cNvPr id="29" name="SK-8-img-16" descr="preencoded.png">
            <a:extLst>
              <a:ext uri="{FF2B5EF4-FFF2-40B4-BE49-F238E27FC236}">
                <a16:creationId xmlns:a16="http://schemas.microsoft.com/office/drawing/2014/main" id="{6167E387-A855-F299-2B6A-2B01F965F1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189809"/>
            <a:ext cx="5381625" cy="1162050"/>
          </a:xfrm>
          <a:prstGeom prst="rect">
            <a:avLst/>
          </a:prstGeom>
        </p:spPr>
      </p:pic>
      <p:pic>
        <p:nvPicPr>
          <p:cNvPr id="31" name="SK-8-img-17" descr="preencoded.png">
            <a:extLst>
              <a:ext uri="{FF2B5EF4-FFF2-40B4-BE49-F238E27FC236}">
                <a16:creationId xmlns:a16="http://schemas.microsoft.com/office/drawing/2014/main" id="{A55C47BC-5A59-EB9A-F6CB-AD094118F4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356497"/>
            <a:ext cx="190500" cy="152400"/>
          </a:xfrm>
          <a:prstGeom prst="rect">
            <a:avLst/>
          </a:prstGeom>
        </p:spPr>
      </p:pic>
      <p:pic>
        <p:nvPicPr>
          <p:cNvPr id="33" name="SK-8-img-18" descr="preencoded.png">
            <a:extLst>
              <a:ext uri="{FF2B5EF4-FFF2-40B4-BE49-F238E27FC236}">
                <a16:creationId xmlns:a16="http://schemas.microsoft.com/office/drawing/2014/main" id="{E0DA5A40-B060-1954-A276-5A21E1F2B3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504259"/>
            <a:ext cx="5381625" cy="962025"/>
          </a:xfrm>
          <a:prstGeom prst="rect">
            <a:avLst/>
          </a:prstGeom>
        </p:spPr>
      </p:pic>
      <p:pic>
        <p:nvPicPr>
          <p:cNvPr id="35" name="SK-8-img-19" descr="preencoded.png">
            <a:extLst>
              <a:ext uri="{FF2B5EF4-FFF2-40B4-BE49-F238E27FC236}">
                <a16:creationId xmlns:a16="http://schemas.microsoft.com/office/drawing/2014/main" id="{D422FBE0-89D7-1648-3D1C-0EA848C39D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670947"/>
            <a:ext cx="190500" cy="152400"/>
          </a:xfrm>
          <a:prstGeom prst="rect">
            <a:avLst/>
          </a:prstGeom>
        </p:spPr>
      </p:pic>
      <p:pic>
        <p:nvPicPr>
          <p:cNvPr id="37" name="SK-8-img-20" descr="preencoded.png">
            <a:extLst>
              <a:ext uri="{FF2B5EF4-FFF2-40B4-BE49-F238E27FC236}">
                <a16:creationId xmlns:a16="http://schemas.microsoft.com/office/drawing/2014/main" id="{FF014FFC-5FF7-4B55-A655-346C93FF9E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8875" y="1263848"/>
            <a:ext cx="5381625" cy="4343400"/>
          </a:xfrm>
          <a:prstGeom prst="rect">
            <a:avLst/>
          </a:prstGeom>
        </p:spPr>
      </p:pic>
      <p:pic>
        <p:nvPicPr>
          <p:cNvPr id="39" name="SK-8-img-21" descr="https://static-us-img.skywork.ai/prod/nexus/1781516306/cropped_image_11_1781516306914932909.jpg">
            <a:extLst>
              <a:ext uri="{FF2B5EF4-FFF2-40B4-BE49-F238E27FC236}">
                <a16:creationId xmlns:a16="http://schemas.microsoft.com/office/drawing/2014/main" id="{D1417144-1621-D26C-260F-AF1C6C5D01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8875" y="1263848"/>
            <a:ext cx="5381625" cy="4343400"/>
          </a:xfrm>
          <a:prstGeom prst="rect">
            <a:avLst/>
          </a:prstGeom>
        </p:spPr>
      </p:pic>
      <p:pic>
        <p:nvPicPr>
          <p:cNvPr id="41" name="SK-8-img-22" descr="preencoded.png">
            <a:extLst>
              <a:ext uri="{FF2B5EF4-FFF2-40B4-BE49-F238E27FC236}">
                <a16:creationId xmlns:a16="http://schemas.microsoft.com/office/drawing/2014/main" id="{30859B1D-F11D-A591-57DA-5A72E3E4B29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75" y="5759648"/>
            <a:ext cx="5381625" cy="790575"/>
          </a:xfrm>
          <a:prstGeom prst="rect">
            <a:avLst/>
          </a:prstGeom>
        </p:spPr>
      </p:pic>
      <p:sp>
        <p:nvSpPr>
          <p:cNvPr id="43" name="SK-8-text-23">
            <a:extLst>
              <a:ext uri="{FF2B5EF4-FFF2-40B4-BE49-F238E27FC236}">
                <a16:creationId xmlns:a16="http://schemas.microsoft.com/office/drawing/2014/main" id="{78F643DD-F725-C1E2-76F2-153F014FD664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45" name="SK-8-text-24">
            <a:extLst>
              <a:ext uri="{FF2B5EF4-FFF2-40B4-BE49-F238E27FC236}">
                <a16:creationId xmlns:a16="http://schemas.microsoft.com/office/drawing/2014/main" id="{4DBF0D18-F030-D4C1-9829-FDA9239C32FA}"/>
              </a:ext>
            </a:extLst>
          </p:cNvPr>
          <p:cNvSpPr/>
          <p:nvPr/>
        </p:nvSpPr>
        <p:spPr>
          <a:xfrm>
            <a:off x="571500" y="704850"/>
            <a:ext cx="11620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Interface Utilisateur : Conception UX/UI</a:t>
            </a:r>
            <a:endParaRPr lang="en-US" sz="2400" dirty="0"/>
          </a:p>
        </p:txBody>
      </p:sp>
      <p:sp>
        <p:nvSpPr>
          <p:cNvPr id="47" name="SK-8-text-25">
            <a:extLst>
              <a:ext uri="{FF2B5EF4-FFF2-40B4-BE49-F238E27FC236}">
                <a16:creationId xmlns:a16="http://schemas.microsoft.com/office/drawing/2014/main" id="{2CFEB2B4-8B4F-B5E4-F12E-AE4B2A6793EE}"/>
              </a:ext>
            </a:extLst>
          </p:cNvPr>
          <p:cNvSpPr/>
          <p:nvPr/>
        </p:nvSpPr>
        <p:spPr>
          <a:xfrm>
            <a:off x="971550" y="1462088"/>
            <a:ext cx="52292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Philosophie de Conception</a:t>
            </a:r>
            <a:endParaRPr lang="en-US" sz="1350" dirty="0"/>
          </a:p>
        </p:txBody>
      </p:sp>
      <p:sp>
        <p:nvSpPr>
          <p:cNvPr id="49" name="SK-8-text-26">
            <a:extLst>
              <a:ext uri="{FF2B5EF4-FFF2-40B4-BE49-F238E27FC236}">
                <a16:creationId xmlns:a16="http://schemas.microsoft.com/office/drawing/2014/main" id="{55B2B857-A8A6-E480-A03A-43B1E280FFE0}"/>
              </a:ext>
            </a:extLst>
          </p:cNvPr>
          <p:cNvSpPr/>
          <p:nvPr/>
        </p:nvSpPr>
        <p:spPr>
          <a:xfrm>
            <a:off x="685800" y="1795463"/>
            <a:ext cx="515302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Interface sobre et professionnelle orientée vers l'efficacité métier. Design minimaliste conçu pour un utilisateur non-technicien afin d'éliminer toute barrière cognitive.</a:t>
            </a:r>
            <a:endParaRPr lang="en-US" sz="1125" dirty="0"/>
          </a:p>
        </p:txBody>
      </p:sp>
      <p:sp>
        <p:nvSpPr>
          <p:cNvPr id="51" name="SK-8-text-27">
            <a:extLst>
              <a:ext uri="{FF2B5EF4-FFF2-40B4-BE49-F238E27FC236}">
                <a16:creationId xmlns:a16="http://schemas.microsoft.com/office/drawing/2014/main" id="{ECBC8F50-B852-362F-DDF1-27572D297E46}"/>
              </a:ext>
            </a:extLst>
          </p:cNvPr>
          <p:cNvSpPr/>
          <p:nvPr/>
        </p:nvSpPr>
        <p:spPr>
          <a:xfrm>
            <a:off x="971550" y="2776538"/>
            <a:ext cx="4200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Navigation Intuitive</a:t>
            </a:r>
            <a:endParaRPr lang="en-US" sz="1350" dirty="0"/>
          </a:p>
        </p:txBody>
      </p:sp>
      <p:sp>
        <p:nvSpPr>
          <p:cNvPr id="53" name="SK-8-text-28">
            <a:extLst>
              <a:ext uri="{FF2B5EF4-FFF2-40B4-BE49-F238E27FC236}">
                <a16:creationId xmlns:a16="http://schemas.microsoft.com/office/drawing/2014/main" id="{D363BF0B-F87B-9D67-C53A-3CD72445147F}"/>
              </a:ext>
            </a:extLst>
          </p:cNvPr>
          <p:cNvSpPr/>
          <p:nvPr/>
        </p:nvSpPr>
        <p:spPr>
          <a:xfrm>
            <a:off x="685800" y="3002756"/>
            <a:ext cx="5153025" cy="3190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Accès direct aux modules clés via une barre de navigation persistante :</a:t>
            </a:r>
            <a:endParaRPr lang="en-US" sz="1125" dirty="0"/>
          </a:p>
        </p:txBody>
      </p:sp>
      <p:sp>
        <p:nvSpPr>
          <p:cNvPr id="55" name="SK-8-text-29">
            <a:extLst>
              <a:ext uri="{FF2B5EF4-FFF2-40B4-BE49-F238E27FC236}">
                <a16:creationId xmlns:a16="http://schemas.microsoft.com/office/drawing/2014/main" id="{86E124D2-C9B5-BECA-A172-CE7B5165048D}"/>
              </a:ext>
            </a:extLst>
          </p:cNvPr>
          <p:cNvSpPr/>
          <p:nvPr/>
        </p:nvSpPr>
        <p:spPr>
          <a:xfrm>
            <a:off x="971550" y="4304109"/>
            <a:ext cx="39947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Tableaux Dynamiques</a:t>
            </a:r>
            <a:endParaRPr lang="en-US" sz="1350" dirty="0"/>
          </a:p>
        </p:txBody>
      </p:sp>
      <p:sp>
        <p:nvSpPr>
          <p:cNvPr id="57" name="SK-8-text-30">
            <a:extLst>
              <a:ext uri="{FF2B5EF4-FFF2-40B4-BE49-F238E27FC236}">
                <a16:creationId xmlns:a16="http://schemas.microsoft.com/office/drawing/2014/main" id="{479307C0-7C36-CAF5-6181-0E85EC921C3C}"/>
              </a:ext>
            </a:extLst>
          </p:cNvPr>
          <p:cNvSpPr/>
          <p:nvPr/>
        </p:nvSpPr>
        <p:spPr>
          <a:xfrm>
            <a:off x="685800" y="4637484"/>
            <a:ext cx="515302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Données récupérées via </a:t>
            </a:r>
            <a:r>
              <a:rPr lang="en-US" sz="1125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fetch()</a:t>
            </a: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depuis l'API REST. Tableaux interactifs permettant le tri, la recherche et des actions rapides (PDF, Modification, Facturation).</a:t>
            </a:r>
            <a:endParaRPr lang="en-US" sz="1125" dirty="0"/>
          </a:p>
        </p:txBody>
      </p:sp>
      <p:sp>
        <p:nvSpPr>
          <p:cNvPr id="59" name="SK-8-text-31">
            <a:extLst>
              <a:ext uri="{FF2B5EF4-FFF2-40B4-BE49-F238E27FC236}">
                <a16:creationId xmlns:a16="http://schemas.microsoft.com/office/drawing/2014/main" id="{65B3AC76-4E93-8638-E94B-3C62191DB0FF}"/>
              </a:ext>
            </a:extLst>
          </p:cNvPr>
          <p:cNvSpPr/>
          <p:nvPr/>
        </p:nvSpPr>
        <p:spPr>
          <a:xfrm>
            <a:off x="971550" y="5618559"/>
            <a:ext cx="35833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Usage Bureautique</a:t>
            </a:r>
            <a:endParaRPr lang="en-US" sz="1350" dirty="0"/>
          </a:p>
        </p:txBody>
      </p:sp>
      <p:sp>
        <p:nvSpPr>
          <p:cNvPr id="61" name="SK-8-text-32">
            <a:extLst>
              <a:ext uri="{FF2B5EF4-FFF2-40B4-BE49-F238E27FC236}">
                <a16:creationId xmlns:a16="http://schemas.microsoft.com/office/drawing/2014/main" id="{CD3D84B7-83DB-F93D-8BEF-7B8BDA1612C1}"/>
              </a:ext>
            </a:extLst>
          </p:cNvPr>
          <p:cNvSpPr/>
          <p:nvPr/>
        </p:nvSpPr>
        <p:spPr>
          <a:xfrm>
            <a:off x="685800" y="5951934"/>
            <a:ext cx="515302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Optimisation pour un usage desktop quotidien (Flexbox &amp; Grid). Formulaires avec validation en temps réel pour garantir l'intégrité des données saisies.</a:t>
            </a:r>
            <a:endParaRPr lang="en-US" sz="1125" dirty="0"/>
          </a:p>
        </p:txBody>
      </p:sp>
      <p:sp>
        <p:nvSpPr>
          <p:cNvPr id="63" name="SK-8-text-33">
            <a:extLst>
              <a:ext uri="{FF2B5EF4-FFF2-40B4-BE49-F238E27FC236}">
                <a16:creationId xmlns:a16="http://schemas.microsoft.com/office/drawing/2014/main" id="{CCA9FCE0-044D-6041-B845-15C864A25B73}"/>
              </a:ext>
            </a:extLst>
          </p:cNvPr>
          <p:cNvSpPr/>
          <p:nvPr/>
        </p:nvSpPr>
        <p:spPr>
          <a:xfrm>
            <a:off x="6238875" y="5759648"/>
            <a:ext cx="5153025" cy="790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SCHÉMA DE CONCEPTION UX</a:t>
            </a:r>
            <a:r>
              <a:rPr lang="en-US" sz="105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Visualisation de la structure du Dashboard et des pages de gestion statistique avant intégration finale.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9275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SK-9-img-3" descr="preencoded.png">
            <a:extLst>
              <a:ext uri="{FF2B5EF4-FFF2-40B4-BE49-F238E27FC236}">
                <a16:creationId xmlns:a16="http://schemas.microsoft.com/office/drawing/2014/main" id="{9FC824C4-2F6F-F032-9D16-3214E376E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165" name="SK-9-img-4" descr="preencoded.png">
            <a:extLst>
              <a:ext uri="{FF2B5EF4-FFF2-40B4-BE49-F238E27FC236}">
                <a16:creationId xmlns:a16="http://schemas.microsoft.com/office/drawing/2014/main" id="{0CCDE8BD-17B5-002E-457B-2052A0D4D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167" name="SK-9-img-5" descr="preencoded.png">
            <a:extLst>
              <a:ext uri="{FF2B5EF4-FFF2-40B4-BE49-F238E27FC236}">
                <a16:creationId xmlns:a16="http://schemas.microsoft.com/office/drawing/2014/main" id="{456F43F9-BC3F-18D5-EEF0-027296F1C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1" y="3141315"/>
            <a:ext cx="5600700" cy="3533775"/>
          </a:xfrm>
          <a:prstGeom prst="rect">
            <a:avLst/>
          </a:prstGeom>
        </p:spPr>
      </p:pic>
      <p:pic>
        <p:nvPicPr>
          <p:cNvPr id="169" name="SK-9-img-6" descr="preencoded.png">
            <a:extLst>
              <a:ext uri="{FF2B5EF4-FFF2-40B4-BE49-F238E27FC236}">
                <a16:creationId xmlns:a16="http://schemas.microsoft.com/office/drawing/2014/main" id="{86A5E39F-4AB1-31B7-BD14-DC557A201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1" y="3515766"/>
            <a:ext cx="238125" cy="190500"/>
          </a:xfrm>
          <a:prstGeom prst="rect">
            <a:avLst/>
          </a:prstGeom>
        </p:spPr>
      </p:pic>
      <p:pic>
        <p:nvPicPr>
          <p:cNvPr id="171" name="SK-9-img-7" descr="preencoded.png">
            <a:extLst>
              <a:ext uri="{FF2B5EF4-FFF2-40B4-BE49-F238E27FC236}">
                <a16:creationId xmlns:a16="http://schemas.microsoft.com/office/drawing/2014/main" id="{FBA0F47C-C81E-508A-0308-65DFA1DEE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1" y="3849141"/>
            <a:ext cx="5219700" cy="567630"/>
          </a:xfrm>
          <a:prstGeom prst="rect">
            <a:avLst/>
          </a:prstGeom>
        </p:spPr>
      </p:pic>
      <p:pic>
        <p:nvPicPr>
          <p:cNvPr id="173" name="SK-9-img-8" descr="preencoded.png">
            <a:extLst>
              <a:ext uri="{FF2B5EF4-FFF2-40B4-BE49-F238E27FC236}">
                <a16:creationId xmlns:a16="http://schemas.microsoft.com/office/drawing/2014/main" id="{EB8867FF-98E2-873F-9749-8A913C323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1" y="3925341"/>
            <a:ext cx="304800" cy="304800"/>
          </a:xfrm>
          <a:prstGeom prst="rect">
            <a:avLst/>
          </a:prstGeom>
        </p:spPr>
      </p:pic>
      <p:pic>
        <p:nvPicPr>
          <p:cNvPr id="175" name="SK-9-img-9" descr="preencoded.png">
            <a:extLst>
              <a:ext uri="{FF2B5EF4-FFF2-40B4-BE49-F238E27FC236}">
                <a16:creationId xmlns:a16="http://schemas.microsoft.com/office/drawing/2014/main" id="{2554E0AA-E470-E46B-9C22-DEE6D7D552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707" y="4009132"/>
            <a:ext cx="166688" cy="137220"/>
          </a:xfrm>
          <a:prstGeom prst="rect">
            <a:avLst/>
          </a:prstGeom>
        </p:spPr>
      </p:pic>
      <p:pic>
        <p:nvPicPr>
          <p:cNvPr id="177" name="SK-9-img-10" descr="preencoded.png">
            <a:extLst>
              <a:ext uri="{FF2B5EF4-FFF2-40B4-BE49-F238E27FC236}">
                <a16:creationId xmlns:a16="http://schemas.microsoft.com/office/drawing/2014/main" id="{BA770A75-134D-320E-204C-F8529DCC68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1" y="4492972"/>
            <a:ext cx="5219700" cy="567630"/>
          </a:xfrm>
          <a:prstGeom prst="rect">
            <a:avLst/>
          </a:prstGeom>
        </p:spPr>
      </p:pic>
      <p:pic>
        <p:nvPicPr>
          <p:cNvPr id="179" name="SK-9-img-11" descr="preencoded.png">
            <a:extLst>
              <a:ext uri="{FF2B5EF4-FFF2-40B4-BE49-F238E27FC236}">
                <a16:creationId xmlns:a16="http://schemas.microsoft.com/office/drawing/2014/main" id="{723503A8-B019-AAA7-6A7F-C84B0DA67C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1" y="4569172"/>
            <a:ext cx="304800" cy="304800"/>
          </a:xfrm>
          <a:prstGeom prst="rect">
            <a:avLst/>
          </a:prstGeom>
        </p:spPr>
      </p:pic>
      <p:pic>
        <p:nvPicPr>
          <p:cNvPr id="181" name="SK-9-img-12" descr="preencoded.png">
            <a:extLst>
              <a:ext uri="{FF2B5EF4-FFF2-40B4-BE49-F238E27FC236}">
                <a16:creationId xmlns:a16="http://schemas.microsoft.com/office/drawing/2014/main" id="{40652A96-56FE-CFCE-DB77-723DADC190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707" y="4652962"/>
            <a:ext cx="166688" cy="137220"/>
          </a:xfrm>
          <a:prstGeom prst="rect">
            <a:avLst/>
          </a:prstGeom>
        </p:spPr>
      </p:pic>
      <p:pic>
        <p:nvPicPr>
          <p:cNvPr id="183" name="SK-9-img-13" descr="preencoded.png">
            <a:extLst>
              <a:ext uri="{FF2B5EF4-FFF2-40B4-BE49-F238E27FC236}">
                <a16:creationId xmlns:a16="http://schemas.microsoft.com/office/drawing/2014/main" id="{D3412845-DDF6-BCA2-85E7-029032E74F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51" y="5136802"/>
            <a:ext cx="5219700" cy="567630"/>
          </a:xfrm>
          <a:prstGeom prst="rect">
            <a:avLst/>
          </a:prstGeom>
        </p:spPr>
      </p:pic>
      <p:pic>
        <p:nvPicPr>
          <p:cNvPr id="185" name="SK-9-img-14" descr="preencoded.png">
            <a:extLst>
              <a:ext uri="{FF2B5EF4-FFF2-40B4-BE49-F238E27FC236}">
                <a16:creationId xmlns:a16="http://schemas.microsoft.com/office/drawing/2014/main" id="{BDB5139D-384F-F7E6-481C-F76D34897BC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1" y="5213002"/>
            <a:ext cx="304800" cy="304800"/>
          </a:xfrm>
          <a:prstGeom prst="rect">
            <a:avLst/>
          </a:prstGeom>
        </p:spPr>
      </p:pic>
      <p:pic>
        <p:nvPicPr>
          <p:cNvPr id="187" name="SK-9-img-15" descr="preencoded.png">
            <a:extLst>
              <a:ext uri="{FF2B5EF4-FFF2-40B4-BE49-F238E27FC236}">
                <a16:creationId xmlns:a16="http://schemas.microsoft.com/office/drawing/2014/main" id="{D2F9CFB1-64A1-80C9-B48E-98233EA0D5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707" y="5296792"/>
            <a:ext cx="166688" cy="137220"/>
          </a:xfrm>
          <a:prstGeom prst="rect">
            <a:avLst/>
          </a:prstGeom>
        </p:spPr>
      </p:pic>
      <p:pic>
        <p:nvPicPr>
          <p:cNvPr id="189" name="SK-9-img-16" descr="preencoded.png">
            <a:extLst>
              <a:ext uri="{FF2B5EF4-FFF2-40B4-BE49-F238E27FC236}">
                <a16:creationId xmlns:a16="http://schemas.microsoft.com/office/drawing/2014/main" id="{951DE445-4D5E-B160-1735-AC8E24703D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1" y="5780633"/>
            <a:ext cx="5219700" cy="567630"/>
          </a:xfrm>
          <a:prstGeom prst="rect">
            <a:avLst/>
          </a:prstGeom>
        </p:spPr>
      </p:pic>
      <p:pic>
        <p:nvPicPr>
          <p:cNvPr id="191" name="SK-9-img-17" descr="preencoded.png">
            <a:extLst>
              <a:ext uri="{FF2B5EF4-FFF2-40B4-BE49-F238E27FC236}">
                <a16:creationId xmlns:a16="http://schemas.microsoft.com/office/drawing/2014/main" id="{92AD2AF1-E616-B3AF-1C75-DB00B17160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1" y="5856833"/>
            <a:ext cx="304800" cy="304800"/>
          </a:xfrm>
          <a:prstGeom prst="rect">
            <a:avLst/>
          </a:prstGeom>
        </p:spPr>
      </p:pic>
      <p:pic>
        <p:nvPicPr>
          <p:cNvPr id="193" name="SK-9-img-18" descr="preencoded.png">
            <a:extLst>
              <a:ext uri="{FF2B5EF4-FFF2-40B4-BE49-F238E27FC236}">
                <a16:creationId xmlns:a16="http://schemas.microsoft.com/office/drawing/2014/main" id="{DEA4AAF2-262D-B17A-D93F-C21BE87E2C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707" y="5940623"/>
            <a:ext cx="166688" cy="137220"/>
          </a:xfrm>
          <a:prstGeom prst="rect">
            <a:avLst/>
          </a:prstGeom>
        </p:spPr>
      </p:pic>
      <p:pic>
        <p:nvPicPr>
          <p:cNvPr id="197" name="SK-9-img-20" descr="preencoded.png">
            <a:extLst>
              <a:ext uri="{FF2B5EF4-FFF2-40B4-BE49-F238E27FC236}">
                <a16:creationId xmlns:a16="http://schemas.microsoft.com/office/drawing/2014/main" id="{9FBC2894-FE86-E119-4812-EE816F0E824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2977" y="4403378"/>
            <a:ext cx="5219700" cy="1733550"/>
          </a:xfrm>
          <a:prstGeom prst="rect">
            <a:avLst/>
          </a:prstGeom>
        </p:spPr>
      </p:pic>
      <p:pic>
        <p:nvPicPr>
          <p:cNvPr id="199" name="SK-9-img-21" descr="preencoded.png">
            <a:extLst>
              <a:ext uri="{FF2B5EF4-FFF2-40B4-BE49-F238E27FC236}">
                <a16:creationId xmlns:a16="http://schemas.microsoft.com/office/drawing/2014/main" id="{E5EAB68B-BB10-68A3-32CB-FA5DA64CE9D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93477" y="4574828"/>
            <a:ext cx="238125" cy="190500"/>
          </a:xfrm>
          <a:prstGeom prst="rect">
            <a:avLst/>
          </a:prstGeom>
        </p:spPr>
      </p:pic>
      <p:pic>
        <p:nvPicPr>
          <p:cNvPr id="201" name="SK-9-img-22" descr="preencoded.png">
            <a:extLst>
              <a:ext uri="{FF2B5EF4-FFF2-40B4-BE49-F238E27FC236}">
                <a16:creationId xmlns:a16="http://schemas.microsoft.com/office/drawing/2014/main" id="{3191CBB2-85DB-68D6-E020-CA12A57FB5D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93477" y="4908203"/>
            <a:ext cx="2362200" cy="514350"/>
          </a:xfrm>
          <a:prstGeom prst="rect">
            <a:avLst/>
          </a:prstGeom>
        </p:spPr>
      </p:pic>
      <p:pic>
        <p:nvPicPr>
          <p:cNvPr id="203" name="SK-9-img-23" descr="preencoded.png">
            <a:extLst>
              <a:ext uri="{FF2B5EF4-FFF2-40B4-BE49-F238E27FC236}">
                <a16:creationId xmlns:a16="http://schemas.microsoft.com/office/drawing/2014/main" id="{1333539F-8CE8-B32D-4439-7E5351A02B0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88727" y="5080695"/>
            <a:ext cx="190500" cy="169218"/>
          </a:xfrm>
          <a:prstGeom prst="rect">
            <a:avLst/>
          </a:prstGeom>
        </p:spPr>
      </p:pic>
      <p:pic>
        <p:nvPicPr>
          <p:cNvPr id="205" name="SK-9-img-24" descr="preencoded.png">
            <a:extLst>
              <a:ext uri="{FF2B5EF4-FFF2-40B4-BE49-F238E27FC236}">
                <a16:creationId xmlns:a16="http://schemas.microsoft.com/office/drawing/2014/main" id="{8F7B72EC-75C4-B5E1-6A88-5072F4B51B3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69977" y="4908203"/>
            <a:ext cx="2362200" cy="514350"/>
          </a:xfrm>
          <a:prstGeom prst="rect">
            <a:avLst/>
          </a:prstGeom>
        </p:spPr>
      </p:pic>
      <p:pic>
        <p:nvPicPr>
          <p:cNvPr id="207" name="SK-9-img-25" descr="preencoded.png">
            <a:extLst>
              <a:ext uri="{FF2B5EF4-FFF2-40B4-BE49-F238E27FC236}">
                <a16:creationId xmlns:a16="http://schemas.microsoft.com/office/drawing/2014/main" id="{FDD1B835-9CCB-E5D8-D47A-FAB44C25A57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65227" y="5075783"/>
            <a:ext cx="190500" cy="179189"/>
          </a:xfrm>
          <a:prstGeom prst="rect">
            <a:avLst/>
          </a:prstGeom>
        </p:spPr>
      </p:pic>
      <p:pic>
        <p:nvPicPr>
          <p:cNvPr id="209" name="SK-9-img-26" descr="preencoded.png">
            <a:extLst>
              <a:ext uri="{FF2B5EF4-FFF2-40B4-BE49-F238E27FC236}">
                <a16:creationId xmlns:a16="http://schemas.microsoft.com/office/drawing/2014/main" id="{DB09F7B7-1676-4D31-4079-49068EB7A98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93477" y="5498753"/>
            <a:ext cx="2362200" cy="514350"/>
          </a:xfrm>
          <a:prstGeom prst="rect">
            <a:avLst/>
          </a:prstGeom>
        </p:spPr>
      </p:pic>
      <p:pic>
        <p:nvPicPr>
          <p:cNvPr id="211" name="SK-9-img-27" descr="preencoded.png">
            <a:extLst>
              <a:ext uri="{FF2B5EF4-FFF2-40B4-BE49-F238E27FC236}">
                <a16:creationId xmlns:a16="http://schemas.microsoft.com/office/drawing/2014/main" id="{FABFA340-CCB9-2DA7-AD4D-A2510CA4D12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88727" y="5675709"/>
            <a:ext cx="190500" cy="160288"/>
          </a:xfrm>
          <a:prstGeom prst="rect">
            <a:avLst/>
          </a:prstGeom>
        </p:spPr>
      </p:pic>
      <p:pic>
        <p:nvPicPr>
          <p:cNvPr id="213" name="SK-9-img-28" descr="preencoded.png">
            <a:extLst>
              <a:ext uri="{FF2B5EF4-FFF2-40B4-BE49-F238E27FC236}">
                <a16:creationId xmlns:a16="http://schemas.microsoft.com/office/drawing/2014/main" id="{10D86D98-E845-C9A1-D2FC-0146BACCF2F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69977" y="5498753"/>
            <a:ext cx="2362200" cy="514350"/>
          </a:xfrm>
          <a:prstGeom prst="rect">
            <a:avLst/>
          </a:prstGeom>
        </p:spPr>
      </p:pic>
      <p:pic>
        <p:nvPicPr>
          <p:cNvPr id="215" name="SK-9-img-29" descr="preencoded.png">
            <a:extLst>
              <a:ext uri="{FF2B5EF4-FFF2-40B4-BE49-F238E27FC236}">
                <a16:creationId xmlns:a16="http://schemas.microsoft.com/office/drawing/2014/main" id="{7D395DDB-9AE0-34B7-6BB3-C8CA78803BC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65227" y="5679728"/>
            <a:ext cx="190500" cy="152400"/>
          </a:xfrm>
          <a:prstGeom prst="rect">
            <a:avLst/>
          </a:prstGeom>
        </p:spPr>
      </p:pic>
      <p:sp>
        <p:nvSpPr>
          <p:cNvPr id="223" name="SK-9-text-33">
            <a:extLst>
              <a:ext uri="{FF2B5EF4-FFF2-40B4-BE49-F238E27FC236}">
                <a16:creationId xmlns:a16="http://schemas.microsoft.com/office/drawing/2014/main" id="{1227C353-324F-142E-D2A7-FAEBF59D25D5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225" name="SK-9-text-34">
            <a:extLst>
              <a:ext uri="{FF2B5EF4-FFF2-40B4-BE49-F238E27FC236}">
                <a16:creationId xmlns:a16="http://schemas.microsoft.com/office/drawing/2014/main" id="{A8AFBB51-5D0E-63AB-00EB-9478ECBD7499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Gestion des devis et factures</a:t>
            </a:r>
            <a:endParaRPr lang="en-US" sz="2400" dirty="0"/>
          </a:p>
        </p:txBody>
      </p:sp>
      <p:sp>
        <p:nvSpPr>
          <p:cNvPr id="227" name="SK-9-text-35">
            <a:extLst>
              <a:ext uri="{FF2B5EF4-FFF2-40B4-BE49-F238E27FC236}">
                <a16:creationId xmlns:a16="http://schemas.microsoft.com/office/drawing/2014/main" id="{F9833313-7D50-54F5-0E6E-A135AF8F3558}"/>
              </a:ext>
            </a:extLst>
          </p:cNvPr>
          <p:cNvSpPr/>
          <p:nvPr/>
        </p:nvSpPr>
        <p:spPr>
          <a:xfrm>
            <a:off x="864395" y="3425618"/>
            <a:ext cx="6858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Workflow Commercial Automatisé</a:t>
            </a:r>
            <a:endParaRPr lang="en-US" sz="1500" dirty="0"/>
          </a:p>
        </p:txBody>
      </p:sp>
      <p:sp>
        <p:nvSpPr>
          <p:cNvPr id="229" name="SK-9-text-36">
            <a:extLst>
              <a:ext uri="{FF2B5EF4-FFF2-40B4-BE49-F238E27FC236}">
                <a16:creationId xmlns:a16="http://schemas.microsoft.com/office/drawing/2014/main" id="{084330B1-D8E7-479C-48DA-33176A460F25}"/>
              </a:ext>
            </a:extLst>
          </p:cNvPr>
          <p:cNvSpPr/>
          <p:nvPr/>
        </p:nvSpPr>
        <p:spPr>
          <a:xfrm>
            <a:off x="1085851" y="3925341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Émission du Devis</a:t>
            </a:r>
            <a:endParaRPr lang="en-US" sz="1200" dirty="0"/>
          </a:p>
        </p:txBody>
      </p:sp>
      <p:sp>
        <p:nvSpPr>
          <p:cNvPr id="231" name="SK-9-text-37">
            <a:extLst>
              <a:ext uri="{FF2B5EF4-FFF2-40B4-BE49-F238E27FC236}">
                <a16:creationId xmlns:a16="http://schemas.microsoft.com/office/drawing/2014/main" id="{91EACBDB-72F9-E781-983D-FAF8E4888364}"/>
              </a:ext>
            </a:extLst>
          </p:cNvPr>
          <p:cNvSpPr/>
          <p:nvPr/>
        </p:nvSpPr>
        <p:spPr>
          <a:xfrm>
            <a:off x="1147762" y="4166891"/>
            <a:ext cx="108585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Saisie dynamique des lignes de prestations et calcul auto des montants.</a:t>
            </a:r>
            <a:endParaRPr lang="en-US" sz="1050" dirty="0"/>
          </a:p>
        </p:txBody>
      </p:sp>
      <p:sp>
        <p:nvSpPr>
          <p:cNvPr id="233" name="SK-9-text-38">
            <a:extLst>
              <a:ext uri="{FF2B5EF4-FFF2-40B4-BE49-F238E27FC236}">
                <a16:creationId xmlns:a16="http://schemas.microsoft.com/office/drawing/2014/main" id="{328AE21E-8D35-4C4A-AA15-DE9B161A043D}"/>
              </a:ext>
            </a:extLst>
          </p:cNvPr>
          <p:cNvSpPr/>
          <p:nvPr/>
        </p:nvSpPr>
        <p:spPr>
          <a:xfrm>
            <a:off x="1085851" y="4569172"/>
            <a:ext cx="43529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Validation Client</a:t>
            </a:r>
            <a:endParaRPr lang="en-US" sz="1200" dirty="0"/>
          </a:p>
        </p:txBody>
      </p:sp>
      <p:sp>
        <p:nvSpPr>
          <p:cNvPr id="235" name="SK-9-text-39">
            <a:extLst>
              <a:ext uri="{FF2B5EF4-FFF2-40B4-BE49-F238E27FC236}">
                <a16:creationId xmlns:a16="http://schemas.microsoft.com/office/drawing/2014/main" id="{6EC50E18-9377-387C-F994-502F45696B8F}"/>
              </a:ext>
            </a:extLst>
          </p:cNvPr>
          <p:cNvSpPr/>
          <p:nvPr/>
        </p:nvSpPr>
        <p:spPr>
          <a:xfrm>
            <a:off x="1147762" y="4812845"/>
            <a:ext cx="108585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Statuts : En attente → Accepté (déclenche la facturation) ou Refusé.</a:t>
            </a:r>
            <a:endParaRPr lang="en-US" sz="1050" dirty="0"/>
          </a:p>
        </p:txBody>
      </p:sp>
      <p:sp>
        <p:nvSpPr>
          <p:cNvPr id="237" name="SK-9-text-40">
            <a:extLst>
              <a:ext uri="{FF2B5EF4-FFF2-40B4-BE49-F238E27FC236}">
                <a16:creationId xmlns:a16="http://schemas.microsoft.com/office/drawing/2014/main" id="{E503826F-3112-66DD-50C8-B3554098038B}"/>
              </a:ext>
            </a:extLst>
          </p:cNvPr>
          <p:cNvSpPr/>
          <p:nvPr/>
        </p:nvSpPr>
        <p:spPr>
          <a:xfrm>
            <a:off x="1085851" y="5213002"/>
            <a:ext cx="45624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Conversion Facture</a:t>
            </a:r>
            <a:endParaRPr lang="en-US" sz="1200" dirty="0"/>
          </a:p>
        </p:txBody>
      </p:sp>
      <p:sp>
        <p:nvSpPr>
          <p:cNvPr id="239" name="SK-9-text-41">
            <a:extLst>
              <a:ext uri="{FF2B5EF4-FFF2-40B4-BE49-F238E27FC236}">
                <a16:creationId xmlns:a16="http://schemas.microsoft.com/office/drawing/2014/main" id="{FE06FD63-CEAA-A2E0-82BE-EA92B2FABFC3}"/>
              </a:ext>
            </a:extLst>
          </p:cNvPr>
          <p:cNvSpPr/>
          <p:nvPr/>
        </p:nvSpPr>
        <p:spPr>
          <a:xfrm>
            <a:off x="1147762" y="5454998"/>
            <a:ext cx="108585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Génération immédiate avec report des données et numérotation chrono.</a:t>
            </a:r>
            <a:endParaRPr lang="en-US" sz="1050" dirty="0"/>
          </a:p>
        </p:txBody>
      </p:sp>
      <p:sp>
        <p:nvSpPr>
          <p:cNvPr id="241" name="SK-9-text-42">
            <a:extLst>
              <a:ext uri="{FF2B5EF4-FFF2-40B4-BE49-F238E27FC236}">
                <a16:creationId xmlns:a16="http://schemas.microsoft.com/office/drawing/2014/main" id="{E9BF67B1-54C7-E10D-302F-206BA2FE6A74}"/>
              </a:ext>
            </a:extLst>
          </p:cNvPr>
          <p:cNvSpPr/>
          <p:nvPr/>
        </p:nvSpPr>
        <p:spPr>
          <a:xfrm>
            <a:off x="1085851" y="5856833"/>
            <a:ext cx="42386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Suivi des Règlements</a:t>
            </a:r>
            <a:endParaRPr lang="en-US" sz="1200" dirty="0"/>
          </a:p>
        </p:txBody>
      </p:sp>
      <p:sp>
        <p:nvSpPr>
          <p:cNvPr id="243" name="SK-9-text-43">
            <a:extLst>
              <a:ext uri="{FF2B5EF4-FFF2-40B4-BE49-F238E27FC236}">
                <a16:creationId xmlns:a16="http://schemas.microsoft.com/office/drawing/2014/main" id="{C4F03877-8177-B164-058D-E788924D20A5}"/>
              </a:ext>
            </a:extLst>
          </p:cNvPr>
          <p:cNvSpPr/>
          <p:nvPr/>
        </p:nvSpPr>
        <p:spPr>
          <a:xfrm>
            <a:off x="1147762" y="6088303"/>
            <a:ext cx="108585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Mise à jour des statuts (Payée, Partielle) et calcul du reste à payer.</a:t>
            </a:r>
            <a:endParaRPr lang="en-US" sz="1050" dirty="0"/>
          </a:p>
        </p:txBody>
      </p:sp>
      <p:sp>
        <p:nvSpPr>
          <p:cNvPr id="251" name="SK-9-text-47">
            <a:extLst>
              <a:ext uri="{FF2B5EF4-FFF2-40B4-BE49-F238E27FC236}">
                <a16:creationId xmlns:a16="http://schemas.microsoft.com/office/drawing/2014/main" id="{6429BE1A-7A4F-0244-F2F1-39A910582EB6}"/>
              </a:ext>
            </a:extLst>
          </p:cNvPr>
          <p:cNvSpPr/>
          <p:nvPr/>
        </p:nvSpPr>
        <p:spPr>
          <a:xfrm>
            <a:off x="6553200" y="1913483"/>
            <a:ext cx="49911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F3F4F6"/>
                </a:solidFill>
              </a:rPr>
              <a:t>}</a:t>
            </a:r>
            <a:endParaRPr lang="en-US" sz="975" dirty="0"/>
          </a:p>
        </p:txBody>
      </p:sp>
      <p:sp>
        <p:nvSpPr>
          <p:cNvPr id="259" name="SK-9-text-51">
            <a:extLst>
              <a:ext uri="{FF2B5EF4-FFF2-40B4-BE49-F238E27FC236}">
                <a16:creationId xmlns:a16="http://schemas.microsoft.com/office/drawing/2014/main" id="{7FFCCE50-7122-D239-0CAD-7367CC6527E4}"/>
              </a:ext>
            </a:extLst>
          </p:cNvPr>
          <p:cNvSpPr/>
          <p:nvPr/>
        </p:nvSpPr>
        <p:spPr>
          <a:xfrm>
            <a:off x="6553200" y="2656433"/>
            <a:ext cx="49911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F3F4F6"/>
                </a:solidFill>
              </a:rPr>
              <a:t>});</a:t>
            </a:r>
            <a:endParaRPr lang="en-US" sz="975" dirty="0"/>
          </a:p>
        </p:txBody>
      </p:sp>
      <p:sp>
        <p:nvSpPr>
          <p:cNvPr id="261" name="SK-9-text-52">
            <a:extLst>
              <a:ext uri="{FF2B5EF4-FFF2-40B4-BE49-F238E27FC236}">
                <a16:creationId xmlns:a16="http://schemas.microsoft.com/office/drawing/2014/main" id="{5109F3A9-661C-A9F9-E55D-3DC63C92A07A}"/>
              </a:ext>
            </a:extLst>
          </p:cNvPr>
          <p:cNvSpPr/>
          <p:nvPr/>
        </p:nvSpPr>
        <p:spPr>
          <a:xfrm>
            <a:off x="7126852" y="4527203"/>
            <a:ext cx="48387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Atouts Techniques</a:t>
            </a:r>
            <a:endParaRPr lang="en-US" sz="1500" dirty="0"/>
          </a:p>
        </p:txBody>
      </p:sp>
      <p:sp>
        <p:nvSpPr>
          <p:cNvPr id="263" name="SK-9-text-53">
            <a:extLst>
              <a:ext uri="{FF2B5EF4-FFF2-40B4-BE49-F238E27FC236}">
                <a16:creationId xmlns:a16="http://schemas.microsoft.com/office/drawing/2014/main" id="{F3F232E7-78B4-B36B-15B3-1BF57471E2AF}"/>
              </a:ext>
            </a:extLst>
          </p:cNvPr>
          <p:cNvSpPr/>
          <p:nvPr/>
        </p:nvSpPr>
        <p:spPr>
          <a:xfrm>
            <a:off x="7174477" y="4965353"/>
            <a:ext cx="18859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Calculs automatiques (Qté × PU)</a:t>
            </a:r>
            <a:endParaRPr lang="en-US" sz="1050" dirty="0"/>
          </a:p>
        </p:txBody>
      </p:sp>
      <p:sp>
        <p:nvSpPr>
          <p:cNvPr id="265" name="SK-9-text-54">
            <a:extLst>
              <a:ext uri="{FF2B5EF4-FFF2-40B4-BE49-F238E27FC236}">
                <a16:creationId xmlns:a16="http://schemas.microsoft.com/office/drawing/2014/main" id="{4F46A3D7-04CA-F40D-36A5-D2F8F915F46B}"/>
              </a:ext>
            </a:extLst>
          </p:cNvPr>
          <p:cNvSpPr/>
          <p:nvPr/>
        </p:nvSpPr>
        <p:spPr>
          <a:xfrm>
            <a:off x="9650977" y="4965353"/>
            <a:ext cx="18859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Numérotation unique (F-2026-020)</a:t>
            </a:r>
            <a:endParaRPr lang="en-US" sz="1050" dirty="0"/>
          </a:p>
        </p:txBody>
      </p:sp>
      <p:sp>
        <p:nvSpPr>
          <p:cNvPr id="267" name="SK-9-text-55">
            <a:extLst>
              <a:ext uri="{FF2B5EF4-FFF2-40B4-BE49-F238E27FC236}">
                <a16:creationId xmlns:a16="http://schemas.microsoft.com/office/drawing/2014/main" id="{4764CC33-87E6-6A3D-E5ED-CA216AF63276}"/>
              </a:ext>
            </a:extLst>
          </p:cNvPr>
          <p:cNvSpPr/>
          <p:nvPr/>
        </p:nvSpPr>
        <p:spPr>
          <a:xfrm>
            <a:off x="7174477" y="5538371"/>
            <a:ext cx="1885950" cy="500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Mentions </a:t>
            </a:r>
            <a:r>
              <a:rPr lang="en-US" sz="1050" dirty="0" err="1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d’absence</a:t>
            </a: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de TVA (Art. 293B CGI) </a:t>
            </a:r>
            <a:r>
              <a:rPr lang="en-US" sz="1050" dirty="0" err="1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mais</a:t>
            </a: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possibilité</a:t>
            </a: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de </a:t>
            </a:r>
            <a:r>
              <a:rPr lang="en-US" sz="1050" dirty="0" err="1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l’ajouter</a:t>
            </a: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dans le future</a:t>
            </a:r>
            <a:endParaRPr lang="en-US" sz="1050" dirty="0"/>
          </a:p>
        </p:txBody>
      </p:sp>
      <p:sp>
        <p:nvSpPr>
          <p:cNvPr id="269" name="SK-9-text-56">
            <a:extLst>
              <a:ext uri="{FF2B5EF4-FFF2-40B4-BE49-F238E27FC236}">
                <a16:creationId xmlns:a16="http://schemas.microsoft.com/office/drawing/2014/main" id="{AAF776FE-4945-E813-15B7-0B7D9AABF57A}"/>
              </a:ext>
            </a:extLst>
          </p:cNvPr>
          <p:cNvSpPr/>
          <p:nvPr/>
        </p:nvSpPr>
        <p:spPr>
          <a:xfrm>
            <a:off x="9689077" y="5682704"/>
            <a:ext cx="2743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Archivage et traçabilité SQL</a:t>
            </a:r>
            <a:endParaRPr lang="en-US" sz="1050" dirty="0"/>
          </a:p>
        </p:txBody>
      </p:sp>
      <p:pic>
        <p:nvPicPr>
          <p:cNvPr id="275" name="SK-5-img-15" descr="preencoded.png">
            <a:extLst>
              <a:ext uri="{FF2B5EF4-FFF2-40B4-BE49-F238E27FC236}">
                <a16:creationId xmlns:a16="http://schemas.microsoft.com/office/drawing/2014/main" id="{A74CB1E1-FDA2-800C-B6D0-F5881851E1E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24550" y="756523"/>
            <a:ext cx="6175783" cy="2494967"/>
          </a:xfrm>
          <a:prstGeom prst="rect">
            <a:avLst/>
          </a:prstGeom>
        </p:spPr>
      </p:pic>
      <p:sp>
        <p:nvSpPr>
          <p:cNvPr id="277" name="SK-5-text-29">
            <a:extLst>
              <a:ext uri="{FF2B5EF4-FFF2-40B4-BE49-F238E27FC236}">
                <a16:creationId xmlns:a16="http://schemas.microsoft.com/office/drawing/2014/main" id="{EA7E1846-20F1-C4A3-2B6F-71479404381D}"/>
              </a:ext>
            </a:extLst>
          </p:cNvPr>
          <p:cNvSpPr/>
          <p:nvPr/>
        </p:nvSpPr>
        <p:spPr>
          <a:xfrm>
            <a:off x="7532246" y="3375315"/>
            <a:ext cx="5005908" cy="1817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ea typeface="Montserrat" pitchFamily="34" charset="-122"/>
                <a:cs typeface="Montserrat" pitchFamily="34" charset="-120"/>
              </a:rPr>
              <a:t>Interface de création de devis — application déployée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78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10-img-3" descr="preencoded.png">
            <a:extLst>
              <a:ext uri="{FF2B5EF4-FFF2-40B4-BE49-F238E27FC236}">
                <a16:creationId xmlns:a16="http://schemas.microsoft.com/office/drawing/2014/main" id="{D1D92706-6782-8864-423D-7DFE6D736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5" name="SK-10-img-4" descr="preencoded.png">
            <a:extLst>
              <a:ext uri="{FF2B5EF4-FFF2-40B4-BE49-F238E27FC236}">
                <a16:creationId xmlns:a16="http://schemas.microsoft.com/office/drawing/2014/main" id="{5D0E0C9B-1E35-CFF7-422E-C4226AB1C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7" name="SK-10-img-5" descr="preencoded.png">
            <a:extLst>
              <a:ext uri="{FF2B5EF4-FFF2-40B4-BE49-F238E27FC236}">
                <a16:creationId xmlns:a16="http://schemas.microsoft.com/office/drawing/2014/main" id="{A80C8917-44A0-E7EC-E4F3-2CB0D76A0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61021"/>
            <a:ext cx="5410200" cy="2815679"/>
          </a:xfrm>
          <a:prstGeom prst="rect">
            <a:avLst/>
          </a:prstGeom>
        </p:spPr>
      </p:pic>
      <p:pic>
        <p:nvPicPr>
          <p:cNvPr id="9" name="SK-10-img-6" descr="preencoded.png">
            <a:extLst>
              <a:ext uri="{FF2B5EF4-FFF2-40B4-BE49-F238E27FC236}">
                <a16:creationId xmlns:a16="http://schemas.microsoft.com/office/drawing/2014/main" id="{82F37688-F359-9D97-C3E7-E8D975757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451521"/>
            <a:ext cx="381000" cy="381000"/>
          </a:xfrm>
          <a:prstGeom prst="rect">
            <a:avLst/>
          </a:prstGeom>
        </p:spPr>
      </p:pic>
      <p:pic>
        <p:nvPicPr>
          <p:cNvPr id="11" name="SK-10-img-7" descr="preencoded.png">
            <a:extLst>
              <a:ext uri="{FF2B5EF4-FFF2-40B4-BE49-F238E27FC236}">
                <a16:creationId xmlns:a16="http://schemas.microsoft.com/office/drawing/2014/main" id="{A0AAD343-3126-CE40-F4FD-BCCBB2592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8" y="1546771"/>
            <a:ext cx="238125" cy="190500"/>
          </a:xfrm>
          <a:prstGeom prst="rect">
            <a:avLst/>
          </a:prstGeom>
        </p:spPr>
      </p:pic>
      <p:pic>
        <p:nvPicPr>
          <p:cNvPr id="13" name="SK-10-img-8" descr="preencoded.png">
            <a:extLst>
              <a:ext uri="{FF2B5EF4-FFF2-40B4-BE49-F238E27FC236}">
                <a16:creationId xmlns:a16="http://schemas.microsoft.com/office/drawing/2014/main" id="{D0FF4428-6C0F-B8B5-EF66-1F67C6EF7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238054"/>
            <a:ext cx="1028700" cy="261937"/>
          </a:xfrm>
          <a:prstGeom prst="rect">
            <a:avLst/>
          </a:prstGeom>
        </p:spPr>
      </p:pic>
      <p:pic>
        <p:nvPicPr>
          <p:cNvPr id="15" name="SK-10-img-9" descr="preencoded.png">
            <a:extLst>
              <a:ext uri="{FF2B5EF4-FFF2-40B4-BE49-F238E27FC236}">
                <a16:creationId xmlns:a16="http://schemas.microsoft.com/office/drawing/2014/main" id="{9FEFC3FD-41C3-7210-A504-D0B52362AF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6900" y="3238054"/>
            <a:ext cx="876300" cy="261937"/>
          </a:xfrm>
          <a:prstGeom prst="rect">
            <a:avLst/>
          </a:prstGeom>
        </p:spPr>
      </p:pic>
      <p:pic>
        <p:nvPicPr>
          <p:cNvPr id="17" name="SK-10-img-10" descr="preencoded.png">
            <a:extLst>
              <a:ext uri="{FF2B5EF4-FFF2-40B4-BE49-F238E27FC236}">
                <a16:creationId xmlns:a16="http://schemas.microsoft.com/office/drawing/2014/main" id="{CDE3E902-73A1-6403-79FB-5B857BB791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9400" y="3238054"/>
            <a:ext cx="933450" cy="261937"/>
          </a:xfrm>
          <a:prstGeom prst="rect">
            <a:avLst/>
          </a:prstGeom>
        </p:spPr>
      </p:pic>
      <p:pic>
        <p:nvPicPr>
          <p:cNvPr id="19" name="SK-10-img-11" descr="preencoded.png">
            <a:extLst>
              <a:ext uri="{FF2B5EF4-FFF2-40B4-BE49-F238E27FC236}">
                <a16:creationId xmlns:a16="http://schemas.microsoft.com/office/drawing/2014/main" id="{FD798ECA-3EA3-3232-49C1-C91AB0936C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571875"/>
            <a:ext cx="5029200" cy="314325"/>
          </a:xfrm>
          <a:prstGeom prst="rect">
            <a:avLst/>
          </a:prstGeom>
        </p:spPr>
      </p:pic>
      <p:pic>
        <p:nvPicPr>
          <p:cNvPr id="21" name="SK-10-img-12" descr="preencoded.png">
            <a:extLst>
              <a:ext uri="{FF2B5EF4-FFF2-40B4-BE49-F238E27FC236}">
                <a16:creationId xmlns:a16="http://schemas.microsoft.com/office/drawing/2014/main" id="{DDAB2F8B-E781-5D6F-79BB-37697E2FEE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267200"/>
            <a:ext cx="5410200" cy="2286000"/>
          </a:xfrm>
          <a:prstGeom prst="rect">
            <a:avLst/>
          </a:prstGeom>
        </p:spPr>
      </p:pic>
      <p:pic>
        <p:nvPicPr>
          <p:cNvPr id="23" name="SK-10-img-13" descr="preencoded.png">
            <a:extLst>
              <a:ext uri="{FF2B5EF4-FFF2-40B4-BE49-F238E27FC236}">
                <a16:creationId xmlns:a16="http://schemas.microsoft.com/office/drawing/2014/main" id="{2BFC02EE-709F-5211-F209-837B368A56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267200"/>
            <a:ext cx="5410200" cy="2286000"/>
          </a:xfrm>
          <a:prstGeom prst="rect">
            <a:avLst/>
          </a:prstGeom>
        </p:spPr>
      </p:pic>
      <p:pic>
        <p:nvPicPr>
          <p:cNvPr id="25" name="SK-10-img-14" descr="preencoded.png">
            <a:extLst>
              <a:ext uri="{FF2B5EF4-FFF2-40B4-BE49-F238E27FC236}">
                <a16:creationId xmlns:a16="http://schemas.microsoft.com/office/drawing/2014/main" id="{D3826E9B-8DFD-8FD4-F3C0-6254486141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261021"/>
            <a:ext cx="5410200" cy="2968079"/>
          </a:xfrm>
          <a:prstGeom prst="rect">
            <a:avLst/>
          </a:prstGeom>
        </p:spPr>
      </p:pic>
      <p:pic>
        <p:nvPicPr>
          <p:cNvPr id="27" name="SK-10-img-15" descr="preencoded.png">
            <a:extLst>
              <a:ext uri="{FF2B5EF4-FFF2-40B4-BE49-F238E27FC236}">
                <a16:creationId xmlns:a16="http://schemas.microsoft.com/office/drawing/2014/main" id="{1A18EC82-785C-6BB9-46D0-034B1B399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13421"/>
            <a:ext cx="381000" cy="381000"/>
          </a:xfrm>
          <a:prstGeom prst="rect">
            <a:avLst/>
          </a:prstGeom>
        </p:spPr>
      </p:pic>
      <p:pic>
        <p:nvPicPr>
          <p:cNvPr id="29" name="SK-10-img-16" descr="preencoded.png">
            <a:extLst>
              <a:ext uri="{FF2B5EF4-FFF2-40B4-BE49-F238E27FC236}">
                <a16:creationId xmlns:a16="http://schemas.microsoft.com/office/drawing/2014/main" id="{F8EB3B16-022E-75E1-88D5-C66ACF8553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2238" y="1508671"/>
            <a:ext cx="238125" cy="190500"/>
          </a:xfrm>
          <a:prstGeom prst="rect">
            <a:avLst/>
          </a:prstGeom>
        </p:spPr>
      </p:pic>
      <p:pic>
        <p:nvPicPr>
          <p:cNvPr id="31" name="SK-10-img-17" descr="preencoded.png">
            <a:extLst>
              <a:ext uri="{FF2B5EF4-FFF2-40B4-BE49-F238E27FC236}">
                <a16:creationId xmlns:a16="http://schemas.microsoft.com/office/drawing/2014/main" id="{604E160E-E210-0FD5-B8CA-0CBAD49864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199954"/>
            <a:ext cx="1047750" cy="261937"/>
          </a:xfrm>
          <a:prstGeom prst="rect">
            <a:avLst/>
          </a:prstGeom>
        </p:spPr>
      </p:pic>
      <p:pic>
        <p:nvPicPr>
          <p:cNvPr id="33" name="SK-10-img-18" descr="preencoded.png">
            <a:extLst>
              <a:ext uri="{FF2B5EF4-FFF2-40B4-BE49-F238E27FC236}">
                <a16:creationId xmlns:a16="http://schemas.microsoft.com/office/drawing/2014/main" id="{7A9787EF-8E4C-1735-5DC2-6F298D64EE2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0" y="3199954"/>
            <a:ext cx="733425" cy="261937"/>
          </a:xfrm>
          <a:prstGeom prst="rect">
            <a:avLst/>
          </a:prstGeom>
        </p:spPr>
      </p:pic>
      <p:pic>
        <p:nvPicPr>
          <p:cNvPr id="35" name="SK-10-img-19" descr="preencoded.png">
            <a:extLst>
              <a:ext uri="{FF2B5EF4-FFF2-40B4-BE49-F238E27FC236}">
                <a16:creationId xmlns:a16="http://schemas.microsoft.com/office/drawing/2014/main" id="{B23ADCC8-F695-3432-D3DF-933AF33D172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4375" y="3199954"/>
            <a:ext cx="733425" cy="261937"/>
          </a:xfrm>
          <a:prstGeom prst="rect">
            <a:avLst/>
          </a:prstGeom>
        </p:spPr>
      </p:pic>
      <p:pic>
        <p:nvPicPr>
          <p:cNvPr id="37" name="SK-10-img-20" descr="preencoded.png">
            <a:extLst>
              <a:ext uri="{FF2B5EF4-FFF2-40B4-BE49-F238E27FC236}">
                <a16:creationId xmlns:a16="http://schemas.microsoft.com/office/drawing/2014/main" id="{DA13567F-686D-8B35-219F-3EE885384A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762375"/>
            <a:ext cx="5029200" cy="314325"/>
          </a:xfrm>
          <a:prstGeom prst="rect">
            <a:avLst/>
          </a:prstGeom>
        </p:spPr>
      </p:pic>
      <p:pic>
        <p:nvPicPr>
          <p:cNvPr id="39" name="SK-10-img-21" descr="preencoded.png">
            <a:extLst>
              <a:ext uri="{FF2B5EF4-FFF2-40B4-BE49-F238E27FC236}">
                <a16:creationId xmlns:a16="http://schemas.microsoft.com/office/drawing/2014/main" id="{182716F9-9166-0F53-73E6-5071A2F9E56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4381500"/>
            <a:ext cx="5410200" cy="2171700"/>
          </a:xfrm>
          <a:prstGeom prst="rect">
            <a:avLst/>
          </a:prstGeom>
        </p:spPr>
      </p:pic>
      <p:pic>
        <p:nvPicPr>
          <p:cNvPr id="41" name="SK-10-img-22" descr="preencoded.png">
            <a:extLst>
              <a:ext uri="{FF2B5EF4-FFF2-40B4-BE49-F238E27FC236}">
                <a16:creationId xmlns:a16="http://schemas.microsoft.com/office/drawing/2014/main" id="{84348619-1D83-0CE4-6557-BEC824475D7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4381500"/>
            <a:ext cx="5410200" cy="2171700"/>
          </a:xfrm>
          <a:prstGeom prst="rect">
            <a:avLst/>
          </a:prstGeom>
        </p:spPr>
      </p:pic>
      <p:sp>
        <p:nvSpPr>
          <p:cNvPr id="43" name="SK-10-text-23">
            <a:extLst>
              <a:ext uri="{FF2B5EF4-FFF2-40B4-BE49-F238E27FC236}">
                <a16:creationId xmlns:a16="http://schemas.microsoft.com/office/drawing/2014/main" id="{131EA0CB-8B22-6770-8C87-3967DAB6416C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45" name="SK-10-text-24">
            <a:extLst>
              <a:ext uri="{FF2B5EF4-FFF2-40B4-BE49-F238E27FC236}">
                <a16:creationId xmlns:a16="http://schemas.microsoft.com/office/drawing/2014/main" id="{0B61D277-DEF0-8AF9-FF9D-8C839FDE9667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Paiements et relances</a:t>
            </a:r>
            <a:endParaRPr lang="en-US" sz="2400" dirty="0"/>
          </a:p>
        </p:txBody>
      </p:sp>
      <p:sp>
        <p:nvSpPr>
          <p:cNvPr id="47" name="SK-10-text-25">
            <a:extLst>
              <a:ext uri="{FF2B5EF4-FFF2-40B4-BE49-F238E27FC236}">
                <a16:creationId xmlns:a16="http://schemas.microsoft.com/office/drawing/2014/main" id="{854D3B68-B4B5-85B7-093B-B98761253CD9}"/>
              </a:ext>
            </a:extLst>
          </p:cNvPr>
          <p:cNvSpPr/>
          <p:nvPr/>
        </p:nvSpPr>
        <p:spPr>
          <a:xfrm>
            <a:off x="1257300" y="1484858"/>
            <a:ext cx="412813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</a:rPr>
              <a:t>Module Paiements</a:t>
            </a:r>
            <a:endParaRPr lang="en-US" sz="1650" dirty="0"/>
          </a:p>
        </p:txBody>
      </p:sp>
      <p:sp>
        <p:nvSpPr>
          <p:cNvPr id="49" name="SK-10-text-26">
            <a:extLst>
              <a:ext uri="{FF2B5EF4-FFF2-40B4-BE49-F238E27FC236}">
                <a16:creationId xmlns:a16="http://schemas.microsoft.com/office/drawing/2014/main" id="{0D96974B-07C4-7EC1-5843-3892066D10B1}"/>
              </a:ext>
            </a:extLst>
          </p:cNvPr>
          <p:cNvSpPr/>
          <p:nvPr/>
        </p:nvSpPr>
        <p:spPr>
          <a:xfrm>
            <a:off x="990600" y="1984921"/>
            <a:ext cx="10550236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Enregistrement multi-modes (Espèces, SumUp, Carte, Virement)</a:t>
            </a:r>
            <a:endParaRPr lang="en-US" sz="1200" dirty="0"/>
          </a:p>
        </p:txBody>
      </p:sp>
      <p:sp>
        <p:nvSpPr>
          <p:cNvPr id="51" name="SK-10-text-27">
            <a:extLst>
              <a:ext uri="{FF2B5EF4-FFF2-40B4-BE49-F238E27FC236}">
                <a16:creationId xmlns:a16="http://schemas.microsoft.com/office/drawing/2014/main" id="{EEEEE467-A4BD-6DF1-4462-C781E523AFA8}"/>
              </a:ext>
            </a:extLst>
          </p:cNvPr>
          <p:cNvSpPr/>
          <p:nvPr/>
        </p:nvSpPr>
        <p:spPr>
          <a:xfrm>
            <a:off x="990600" y="2293441"/>
            <a:ext cx="845542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Calcul dynamique et automatique du reste à payer</a:t>
            </a:r>
            <a:endParaRPr lang="en-US" sz="1200" dirty="0"/>
          </a:p>
        </p:txBody>
      </p:sp>
      <p:sp>
        <p:nvSpPr>
          <p:cNvPr id="53" name="SK-10-text-28">
            <a:extLst>
              <a:ext uri="{FF2B5EF4-FFF2-40B4-BE49-F238E27FC236}">
                <a16:creationId xmlns:a16="http://schemas.microsoft.com/office/drawing/2014/main" id="{A698B07C-8BEC-4284-B062-2D64BD1CC861}"/>
              </a:ext>
            </a:extLst>
          </p:cNvPr>
          <p:cNvSpPr/>
          <p:nvPr/>
        </p:nvSpPr>
        <p:spPr>
          <a:xfrm>
            <a:off x="990600" y="2601962"/>
            <a:ext cx="897913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Support des paiements partiels (statut "Partielle")</a:t>
            </a:r>
            <a:endParaRPr lang="en-US" sz="1200" dirty="0"/>
          </a:p>
        </p:txBody>
      </p:sp>
      <p:sp>
        <p:nvSpPr>
          <p:cNvPr id="55" name="SK-10-text-29">
            <a:extLst>
              <a:ext uri="{FF2B5EF4-FFF2-40B4-BE49-F238E27FC236}">
                <a16:creationId xmlns:a16="http://schemas.microsoft.com/office/drawing/2014/main" id="{F1618C31-59CF-BF43-91C3-D1C7D82BC1F7}"/>
              </a:ext>
            </a:extLst>
          </p:cNvPr>
          <p:cNvSpPr/>
          <p:nvPr/>
        </p:nvSpPr>
        <p:spPr>
          <a:xfrm>
            <a:off x="990600" y="2910483"/>
            <a:ext cx="7931727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Historique complet des règlements par facture</a:t>
            </a:r>
            <a:endParaRPr lang="en-US" sz="1200" dirty="0"/>
          </a:p>
        </p:txBody>
      </p:sp>
      <p:sp>
        <p:nvSpPr>
          <p:cNvPr id="57" name="SK-10-text-30">
            <a:extLst>
              <a:ext uri="{FF2B5EF4-FFF2-40B4-BE49-F238E27FC236}">
                <a16:creationId xmlns:a16="http://schemas.microsoft.com/office/drawing/2014/main" id="{4478D56F-122D-CD43-2BC2-475623E7CAB7}"/>
              </a:ext>
            </a:extLst>
          </p:cNvPr>
          <p:cNvSpPr/>
          <p:nvPr/>
        </p:nvSpPr>
        <p:spPr>
          <a:xfrm>
            <a:off x="857250" y="3238054"/>
            <a:ext cx="1771227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66534"/>
                </a:solidFill>
                <a:ea typeface="Inter" pitchFamily="34" charset="-122"/>
                <a:cs typeface="Inter" pitchFamily="34" charset="-120"/>
              </a:rPr>
              <a:t>Validation SQL</a:t>
            </a:r>
            <a:endParaRPr lang="en-US" sz="975" dirty="0"/>
          </a:p>
        </p:txBody>
      </p:sp>
      <p:sp>
        <p:nvSpPr>
          <p:cNvPr id="59" name="SK-10-text-31">
            <a:extLst>
              <a:ext uri="{FF2B5EF4-FFF2-40B4-BE49-F238E27FC236}">
                <a16:creationId xmlns:a16="http://schemas.microsoft.com/office/drawing/2014/main" id="{B64D2569-9A1B-E892-5A73-E66D3BC116F0}"/>
              </a:ext>
            </a:extLst>
          </p:cNvPr>
          <p:cNvSpPr/>
          <p:nvPr/>
        </p:nvSpPr>
        <p:spPr>
          <a:xfrm>
            <a:off x="1962150" y="3238054"/>
            <a:ext cx="1239078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66534"/>
                </a:solidFill>
                <a:ea typeface="Inter" pitchFamily="34" charset="-122"/>
                <a:cs typeface="Inter" pitchFamily="34" charset="-120"/>
              </a:rPr>
              <a:t>Calcul ORM</a:t>
            </a:r>
            <a:endParaRPr lang="en-US" sz="975" dirty="0"/>
          </a:p>
        </p:txBody>
      </p:sp>
      <p:sp>
        <p:nvSpPr>
          <p:cNvPr id="61" name="SK-10-text-32">
            <a:extLst>
              <a:ext uri="{FF2B5EF4-FFF2-40B4-BE49-F238E27FC236}">
                <a16:creationId xmlns:a16="http://schemas.microsoft.com/office/drawing/2014/main" id="{DD617D3F-44C2-A2E6-7E7F-46CB0F3CC664}"/>
              </a:ext>
            </a:extLst>
          </p:cNvPr>
          <p:cNvSpPr/>
          <p:nvPr/>
        </p:nvSpPr>
        <p:spPr>
          <a:xfrm>
            <a:off x="2914650" y="3238054"/>
            <a:ext cx="1495386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66534"/>
                </a:solidFill>
                <a:ea typeface="Inter" pitchFamily="34" charset="-122"/>
                <a:cs typeface="Inter" pitchFamily="34" charset="-120"/>
              </a:rPr>
              <a:t>Statuts Auto</a:t>
            </a:r>
            <a:endParaRPr lang="en-US" sz="975" dirty="0"/>
          </a:p>
        </p:txBody>
      </p:sp>
      <p:sp>
        <p:nvSpPr>
          <p:cNvPr id="63" name="SK-10-text-33">
            <a:extLst>
              <a:ext uri="{FF2B5EF4-FFF2-40B4-BE49-F238E27FC236}">
                <a16:creationId xmlns:a16="http://schemas.microsoft.com/office/drawing/2014/main" id="{94CFFDD1-0EE4-7491-33EC-B2CD18578B28}"/>
              </a:ext>
            </a:extLst>
          </p:cNvPr>
          <p:cNvSpPr/>
          <p:nvPr/>
        </p:nvSpPr>
        <p:spPr>
          <a:xfrm>
            <a:off x="762000" y="3571875"/>
            <a:ext cx="1106424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Exemple : Lucas Petit réglant 500€ en 4 fois via différents modes.</a:t>
            </a:r>
            <a:endParaRPr lang="en-US" sz="1050" dirty="0"/>
          </a:p>
        </p:txBody>
      </p:sp>
      <p:sp>
        <p:nvSpPr>
          <p:cNvPr id="65" name="SK-10-text-34">
            <a:extLst>
              <a:ext uri="{FF2B5EF4-FFF2-40B4-BE49-F238E27FC236}">
                <a16:creationId xmlns:a16="http://schemas.microsoft.com/office/drawing/2014/main" id="{1082492E-0E6C-CE47-4740-13D1FF101525}"/>
              </a:ext>
            </a:extLst>
          </p:cNvPr>
          <p:cNvSpPr/>
          <p:nvPr/>
        </p:nvSpPr>
        <p:spPr>
          <a:xfrm>
            <a:off x="6896100" y="1446758"/>
            <a:ext cx="488251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</a:rPr>
              <a:t>Système de Relances</a:t>
            </a:r>
            <a:endParaRPr lang="en-US" sz="1650" dirty="0"/>
          </a:p>
        </p:txBody>
      </p:sp>
      <p:sp>
        <p:nvSpPr>
          <p:cNvPr id="67" name="SK-10-text-35">
            <a:extLst>
              <a:ext uri="{FF2B5EF4-FFF2-40B4-BE49-F238E27FC236}">
                <a16:creationId xmlns:a16="http://schemas.microsoft.com/office/drawing/2014/main" id="{D0051AE0-4514-05E8-0DE6-5AACF4B125FB}"/>
              </a:ext>
            </a:extLst>
          </p:cNvPr>
          <p:cNvSpPr/>
          <p:nvPr/>
        </p:nvSpPr>
        <p:spPr>
          <a:xfrm>
            <a:off x="6629400" y="1946821"/>
            <a:ext cx="5562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Procédure structurée en 3 niveaux progressifs</a:t>
            </a:r>
            <a:endParaRPr lang="en-US" sz="1200" dirty="0"/>
          </a:p>
        </p:txBody>
      </p:sp>
      <p:sp>
        <p:nvSpPr>
          <p:cNvPr id="69" name="SK-10-text-36">
            <a:extLst>
              <a:ext uri="{FF2B5EF4-FFF2-40B4-BE49-F238E27FC236}">
                <a16:creationId xmlns:a16="http://schemas.microsoft.com/office/drawing/2014/main" id="{8FC3352A-1326-ECCA-F4AC-626876FA4B81}"/>
              </a:ext>
            </a:extLst>
          </p:cNvPr>
          <p:cNvSpPr/>
          <p:nvPr/>
        </p:nvSpPr>
        <p:spPr>
          <a:xfrm>
            <a:off x="6629400" y="2255341"/>
            <a:ext cx="5562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Calcul automatique des pénalités (ex: +20€ au niv. 2)</a:t>
            </a:r>
            <a:endParaRPr lang="en-US" sz="1200" dirty="0"/>
          </a:p>
        </p:txBody>
      </p:sp>
      <p:sp>
        <p:nvSpPr>
          <p:cNvPr id="71" name="SK-10-text-37">
            <a:extLst>
              <a:ext uri="{FF2B5EF4-FFF2-40B4-BE49-F238E27FC236}">
                <a16:creationId xmlns:a16="http://schemas.microsoft.com/office/drawing/2014/main" id="{6F023231-564F-6E9A-B3FC-E41C4096B473}"/>
              </a:ext>
            </a:extLst>
          </p:cNvPr>
          <p:cNvSpPr/>
          <p:nvPr/>
        </p:nvSpPr>
        <p:spPr>
          <a:xfrm>
            <a:off x="6629400" y="2563862"/>
            <a:ext cx="5562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Suivi en temps réel de l'état de recouvrement</a:t>
            </a:r>
            <a:endParaRPr lang="en-US" sz="1200" dirty="0"/>
          </a:p>
        </p:txBody>
      </p:sp>
      <p:sp>
        <p:nvSpPr>
          <p:cNvPr id="73" name="SK-10-text-38">
            <a:extLst>
              <a:ext uri="{FF2B5EF4-FFF2-40B4-BE49-F238E27FC236}">
                <a16:creationId xmlns:a16="http://schemas.microsoft.com/office/drawing/2014/main" id="{12FD2543-A410-321C-143C-9A1CA82A00B6}"/>
              </a:ext>
            </a:extLst>
          </p:cNvPr>
          <p:cNvSpPr/>
          <p:nvPr/>
        </p:nvSpPr>
        <p:spPr>
          <a:xfrm>
            <a:off x="6629400" y="2872383"/>
            <a:ext cx="5562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Génération PDF immédiate via Puppeteer</a:t>
            </a:r>
            <a:endParaRPr lang="en-US" sz="1200" dirty="0"/>
          </a:p>
        </p:txBody>
      </p:sp>
      <p:sp>
        <p:nvSpPr>
          <p:cNvPr id="75" name="SK-10-text-39">
            <a:extLst>
              <a:ext uri="{FF2B5EF4-FFF2-40B4-BE49-F238E27FC236}">
                <a16:creationId xmlns:a16="http://schemas.microsoft.com/office/drawing/2014/main" id="{BAC3F814-74FC-C73D-797F-ACB0C3ACAE61}"/>
              </a:ext>
            </a:extLst>
          </p:cNvPr>
          <p:cNvSpPr/>
          <p:nvPr/>
        </p:nvSpPr>
        <p:spPr>
          <a:xfrm>
            <a:off x="6496050" y="3199954"/>
            <a:ext cx="2142952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66534"/>
                </a:solidFill>
                <a:ea typeface="Inter" pitchFamily="34" charset="-122"/>
                <a:cs typeface="Inter" pitchFamily="34" charset="-120"/>
              </a:rPr>
              <a:t>Niveaux 1, 2, 3</a:t>
            </a:r>
            <a:endParaRPr lang="en-US" sz="975" dirty="0"/>
          </a:p>
        </p:txBody>
      </p:sp>
      <p:sp>
        <p:nvSpPr>
          <p:cNvPr id="77" name="SK-10-text-40">
            <a:extLst>
              <a:ext uri="{FF2B5EF4-FFF2-40B4-BE49-F238E27FC236}">
                <a16:creationId xmlns:a16="http://schemas.microsoft.com/office/drawing/2014/main" id="{2D7686EB-6EBB-0BE7-FE3F-55A265C96FB3}"/>
              </a:ext>
            </a:extLst>
          </p:cNvPr>
          <p:cNvSpPr/>
          <p:nvPr/>
        </p:nvSpPr>
        <p:spPr>
          <a:xfrm>
            <a:off x="7620000" y="3199954"/>
            <a:ext cx="1066157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66534"/>
                </a:solidFill>
                <a:ea typeface="Inter" pitchFamily="34" charset="-122"/>
                <a:cs typeface="Inter" pitchFamily="34" charset="-120"/>
              </a:rPr>
              <a:t>Pénalités</a:t>
            </a:r>
            <a:endParaRPr lang="en-US" sz="975" dirty="0"/>
          </a:p>
        </p:txBody>
      </p:sp>
      <p:sp>
        <p:nvSpPr>
          <p:cNvPr id="79" name="SK-10-text-41">
            <a:extLst>
              <a:ext uri="{FF2B5EF4-FFF2-40B4-BE49-F238E27FC236}">
                <a16:creationId xmlns:a16="http://schemas.microsoft.com/office/drawing/2014/main" id="{9BD1A802-3F89-DA2A-3E64-658082C04D88}"/>
              </a:ext>
            </a:extLst>
          </p:cNvPr>
          <p:cNvSpPr/>
          <p:nvPr/>
        </p:nvSpPr>
        <p:spPr>
          <a:xfrm>
            <a:off x="8429625" y="3199954"/>
            <a:ext cx="956162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66534"/>
                </a:solidFill>
                <a:ea typeface="Inter" pitchFamily="34" charset="-122"/>
                <a:cs typeface="Inter" pitchFamily="34" charset="-120"/>
              </a:rPr>
              <a:t>API REST</a:t>
            </a:r>
            <a:endParaRPr lang="en-US" sz="975" dirty="0"/>
          </a:p>
        </p:txBody>
      </p:sp>
      <p:sp>
        <p:nvSpPr>
          <p:cNvPr id="81" name="SK-10-text-42">
            <a:extLst>
              <a:ext uri="{FF2B5EF4-FFF2-40B4-BE49-F238E27FC236}">
                <a16:creationId xmlns:a16="http://schemas.microsoft.com/office/drawing/2014/main" id="{B72C51B8-FD92-53CC-5188-39110A17BEE6}"/>
              </a:ext>
            </a:extLst>
          </p:cNvPr>
          <p:cNvSpPr/>
          <p:nvPr/>
        </p:nvSpPr>
        <p:spPr>
          <a:xfrm>
            <a:off x="6400800" y="3762375"/>
            <a:ext cx="57912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Les documents de relance incluent les mentions légales et délais.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4993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11-img-1" descr="preencoded.png">
            <a:extLst>
              <a:ext uri="{FF2B5EF4-FFF2-40B4-BE49-F238E27FC236}">
                <a16:creationId xmlns:a16="http://schemas.microsoft.com/office/drawing/2014/main" id="{4E8C8F4A-BA7E-6827-ED5B-5F380B46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1-img-2" descr="preencoded.png">
            <a:extLst>
              <a:ext uri="{FF2B5EF4-FFF2-40B4-BE49-F238E27FC236}">
                <a16:creationId xmlns:a16="http://schemas.microsoft.com/office/drawing/2014/main" id="{7F07E9B5-D0B8-C373-2768-691F85075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SK-11-img-3" descr="preencoded.png">
            <a:extLst>
              <a:ext uri="{FF2B5EF4-FFF2-40B4-BE49-F238E27FC236}">
                <a16:creationId xmlns:a16="http://schemas.microsoft.com/office/drawing/2014/main" id="{5C72DB09-D724-AA3B-36E5-5FD2F02B1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9" name="SK-11-img-4" descr="preencoded.png">
            <a:extLst>
              <a:ext uri="{FF2B5EF4-FFF2-40B4-BE49-F238E27FC236}">
                <a16:creationId xmlns:a16="http://schemas.microsoft.com/office/drawing/2014/main" id="{74A9BAE7-41AA-B954-F91A-633AA97EA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11" name="SK-11-img-5" descr="preencoded.png">
            <a:extLst>
              <a:ext uri="{FF2B5EF4-FFF2-40B4-BE49-F238E27FC236}">
                <a16:creationId xmlns:a16="http://schemas.microsoft.com/office/drawing/2014/main" id="{4742951B-B515-F234-9BC2-8CA990E665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25798"/>
            <a:ext cx="5372100" cy="3467100"/>
          </a:xfrm>
          <a:prstGeom prst="rect">
            <a:avLst/>
          </a:prstGeom>
        </p:spPr>
      </p:pic>
      <p:pic>
        <p:nvPicPr>
          <p:cNvPr id="13" name="SK-11-img-6" descr="preencoded.png">
            <a:extLst>
              <a:ext uri="{FF2B5EF4-FFF2-40B4-BE49-F238E27FC236}">
                <a16:creationId xmlns:a16="http://schemas.microsoft.com/office/drawing/2014/main" id="{47FC0A76-6B04-BE07-4022-4A46B8B0A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921073"/>
            <a:ext cx="190500" cy="152400"/>
          </a:xfrm>
          <a:prstGeom prst="rect">
            <a:avLst/>
          </a:prstGeom>
        </p:spPr>
      </p:pic>
      <p:pic>
        <p:nvPicPr>
          <p:cNvPr id="15" name="SK-11-img-7" descr="preencoded.png">
            <a:extLst>
              <a:ext uri="{FF2B5EF4-FFF2-40B4-BE49-F238E27FC236}">
                <a16:creationId xmlns:a16="http://schemas.microsoft.com/office/drawing/2014/main" id="{1A142558-C580-CDB3-1CF7-23333118B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130748"/>
            <a:ext cx="4914900" cy="1733550"/>
          </a:xfrm>
          <a:prstGeom prst="rect">
            <a:avLst/>
          </a:prstGeom>
        </p:spPr>
      </p:pic>
      <p:pic>
        <p:nvPicPr>
          <p:cNvPr id="17" name="SK-11-img-8" descr="preencoded.png">
            <a:extLst>
              <a:ext uri="{FF2B5EF4-FFF2-40B4-BE49-F238E27FC236}">
                <a16:creationId xmlns:a16="http://schemas.microsoft.com/office/drawing/2014/main" id="{34362994-61FC-37F7-5098-625ACEC23F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333899"/>
            <a:ext cx="190500" cy="126950"/>
          </a:xfrm>
          <a:prstGeom prst="rect">
            <a:avLst/>
          </a:prstGeom>
        </p:spPr>
      </p:pic>
      <p:pic>
        <p:nvPicPr>
          <p:cNvPr id="19" name="SK-11-img-9" descr="preencoded.png">
            <a:extLst>
              <a:ext uri="{FF2B5EF4-FFF2-40B4-BE49-F238E27FC236}">
                <a16:creationId xmlns:a16="http://schemas.microsoft.com/office/drawing/2014/main" id="{A832E2C5-4CF0-8EAD-BF74-A4E03EC71F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3626048"/>
            <a:ext cx="4552950" cy="142875"/>
          </a:xfrm>
          <a:prstGeom prst="rect">
            <a:avLst/>
          </a:prstGeom>
        </p:spPr>
      </p:pic>
      <p:pic>
        <p:nvPicPr>
          <p:cNvPr id="21" name="SK-11-img-10" descr="preencoded.png">
            <a:extLst>
              <a:ext uri="{FF2B5EF4-FFF2-40B4-BE49-F238E27FC236}">
                <a16:creationId xmlns:a16="http://schemas.microsoft.com/office/drawing/2014/main" id="{98556443-8D47-FFB0-94C4-3D44351018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3933974"/>
            <a:ext cx="190500" cy="126950"/>
          </a:xfrm>
          <a:prstGeom prst="rect">
            <a:avLst/>
          </a:prstGeom>
        </p:spPr>
      </p:pic>
      <p:pic>
        <p:nvPicPr>
          <p:cNvPr id="23" name="SK-11-img-11" descr="preencoded.png">
            <a:extLst>
              <a:ext uri="{FF2B5EF4-FFF2-40B4-BE49-F238E27FC236}">
                <a16:creationId xmlns:a16="http://schemas.microsoft.com/office/drawing/2014/main" id="{97163411-4550-9D0F-12B5-10C6F6332D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4226123"/>
            <a:ext cx="4552950" cy="142875"/>
          </a:xfrm>
          <a:prstGeom prst="rect">
            <a:avLst/>
          </a:prstGeom>
        </p:spPr>
      </p:pic>
      <p:pic>
        <p:nvPicPr>
          <p:cNvPr id="25" name="SK-11-img-12" descr="preencoded.png">
            <a:extLst>
              <a:ext uri="{FF2B5EF4-FFF2-40B4-BE49-F238E27FC236}">
                <a16:creationId xmlns:a16="http://schemas.microsoft.com/office/drawing/2014/main" id="{F5B6A675-99C2-2CC7-1961-EED12AD2BC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" y="4534049"/>
            <a:ext cx="190500" cy="126950"/>
          </a:xfrm>
          <a:prstGeom prst="rect">
            <a:avLst/>
          </a:prstGeom>
        </p:spPr>
      </p:pic>
      <p:pic>
        <p:nvPicPr>
          <p:cNvPr id="27" name="SK-11-img-13" descr="preencoded.png">
            <a:extLst>
              <a:ext uri="{FF2B5EF4-FFF2-40B4-BE49-F238E27FC236}">
                <a16:creationId xmlns:a16="http://schemas.microsoft.com/office/drawing/2014/main" id="{0CCA9242-EB5D-95A5-561A-A2F952F30B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283398"/>
            <a:ext cx="5372100" cy="904875"/>
          </a:xfrm>
          <a:prstGeom prst="rect">
            <a:avLst/>
          </a:prstGeom>
        </p:spPr>
      </p:pic>
      <p:pic>
        <p:nvPicPr>
          <p:cNvPr id="29" name="SK-11-img-14" descr="preencoded.png">
            <a:extLst>
              <a:ext uri="{FF2B5EF4-FFF2-40B4-BE49-F238E27FC236}">
                <a16:creationId xmlns:a16="http://schemas.microsoft.com/office/drawing/2014/main" id="{7EBC6307-1EEC-8DB5-A6E1-A757F2C415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5435798"/>
            <a:ext cx="178594" cy="178594"/>
          </a:xfrm>
          <a:prstGeom prst="rect">
            <a:avLst/>
          </a:prstGeom>
        </p:spPr>
      </p:pic>
      <p:pic>
        <p:nvPicPr>
          <p:cNvPr id="35" name="SK-11-img-17" descr="preencoded.png">
            <a:extLst>
              <a:ext uri="{FF2B5EF4-FFF2-40B4-BE49-F238E27FC236}">
                <a16:creationId xmlns:a16="http://schemas.microsoft.com/office/drawing/2014/main" id="{6B0E5158-ED32-0774-4F7E-ADC505EE93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4447580"/>
            <a:ext cx="2628900" cy="404813"/>
          </a:xfrm>
          <a:prstGeom prst="rect">
            <a:avLst/>
          </a:prstGeom>
        </p:spPr>
      </p:pic>
      <p:pic>
        <p:nvPicPr>
          <p:cNvPr id="37" name="SK-11-img-18" descr="preencoded.png">
            <a:extLst>
              <a:ext uri="{FF2B5EF4-FFF2-40B4-BE49-F238E27FC236}">
                <a16:creationId xmlns:a16="http://schemas.microsoft.com/office/drawing/2014/main" id="{9C565B89-1177-F391-6A0B-2114EAAF48A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572000"/>
            <a:ext cx="190500" cy="155823"/>
          </a:xfrm>
          <a:prstGeom prst="rect">
            <a:avLst/>
          </a:prstGeom>
        </p:spPr>
      </p:pic>
      <p:pic>
        <p:nvPicPr>
          <p:cNvPr id="39" name="SK-11-img-19" descr="preencoded.png">
            <a:extLst>
              <a:ext uri="{FF2B5EF4-FFF2-40B4-BE49-F238E27FC236}">
                <a16:creationId xmlns:a16="http://schemas.microsoft.com/office/drawing/2014/main" id="{1CD4487E-0D81-9496-02FD-9BA1BA8D0B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91600" y="4447580"/>
            <a:ext cx="2628900" cy="404813"/>
          </a:xfrm>
          <a:prstGeom prst="rect">
            <a:avLst/>
          </a:prstGeom>
        </p:spPr>
      </p:pic>
      <p:pic>
        <p:nvPicPr>
          <p:cNvPr id="41" name="SK-11-img-20" descr="preencoded.png">
            <a:extLst>
              <a:ext uri="{FF2B5EF4-FFF2-40B4-BE49-F238E27FC236}">
                <a16:creationId xmlns:a16="http://schemas.microsoft.com/office/drawing/2014/main" id="{0571AC6C-1E07-8551-8507-0A53DB76A1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0" y="4572000"/>
            <a:ext cx="190500" cy="155823"/>
          </a:xfrm>
          <a:prstGeom prst="rect">
            <a:avLst/>
          </a:prstGeom>
        </p:spPr>
      </p:pic>
      <p:pic>
        <p:nvPicPr>
          <p:cNvPr id="43" name="SK-11-img-21" descr="preencoded.png">
            <a:extLst>
              <a:ext uri="{FF2B5EF4-FFF2-40B4-BE49-F238E27FC236}">
                <a16:creationId xmlns:a16="http://schemas.microsoft.com/office/drawing/2014/main" id="{4FAF10C6-EC59-C7B4-1A2C-C169E20DCA1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4947642"/>
            <a:ext cx="2628900" cy="404813"/>
          </a:xfrm>
          <a:prstGeom prst="rect">
            <a:avLst/>
          </a:prstGeom>
        </p:spPr>
      </p:pic>
      <p:pic>
        <p:nvPicPr>
          <p:cNvPr id="45" name="SK-11-img-22" descr="preencoded.png">
            <a:extLst>
              <a:ext uri="{FF2B5EF4-FFF2-40B4-BE49-F238E27FC236}">
                <a16:creationId xmlns:a16="http://schemas.microsoft.com/office/drawing/2014/main" id="{71552078-6035-9702-FF53-6DA06783F86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072063"/>
            <a:ext cx="190500" cy="155823"/>
          </a:xfrm>
          <a:prstGeom prst="rect">
            <a:avLst/>
          </a:prstGeom>
        </p:spPr>
      </p:pic>
      <p:pic>
        <p:nvPicPr>
          <p:cNvPr id="47" name="SK-11-img-23" descr="preencoded.png">
            <a:extLst>
              <a:ext uri="{FF2B5EF4-FFF2-40B4-BE49-F238E27FC236}">
                <a16:creationId xmlns:a16="http://schemas.microsoft.com/office/drawing/2014/main" id="{A5123E25-5B7C-30DF-9721-1B6955E3025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91600" y="4947642"/>
            <a:ext cx="2628900" cy="404813"/>
          </a:xfrm>
          <a:prstGeom prst="rect">
            <a:avLst/>
          </a:prstGeom>
        </p:spPr>
      </p:pic>
      <p:pic>
        <p:nvPicPr>
          <p:cNvPr id="49" name="SK-11-img-24" descr="preencoded.png">
            <a:extLst>
              <a:ext uri="{FF2B5EF4-FFF2-40B4-BE49-F238E27FC236}">
                <a16:creationId xmlns:a16="http://schemas.microsoft.com/office/drawing/2014/main" id="{2F4FA8C5-C143-4FF6-EAC7-DE7C398673D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0" y="5072063"/>
            <a:ext cx="190500" cy="155823"/>
          </a:xfrm>
          <a:prstGeom prst="rect">
            <a:avLst/>
          </a:prstGeom>
        </p:spPr>
      </p:pic>
      <p:pic>
        <p:nvPicPr>
          <p:cNvPr id="51" name="SK-11-img-25" descr="preencoded.png">
            <a:extLst>
              <a:ext uri="{FF2B5EF4-FFF2-40B4-BE49-F238E27FC236}">
                <a16:creationId xmlns:a16="http://schemas.microsoft.com/office/drawing/2014/main" id="{7E99EEC9-628C-3824-B5D1-5E5CAC3CD32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5504855"/>
            <a:ext cx="5372100" cy="909638"/>
          </a:xfrm>
          <a:prstGeom prst="rect">
            <a:avLst/>
          </a:prstGeom>
        </p:spPr>
      </p:pic>
      <p:pic>
        <p:nvPicPr>
          <p:cNvPr id="53" name="SK-11-img-26" descr="preencoded.png">
            <a:extLst>
              <a:ext uri="{FF2B5EF4-FFF2-40B4-BE49-F238E27FC236}">
                <a16:creationId xmlns:a16="http://schemas.microsoft.com/office/drawing/2014/main" id="{6EADCA07-B6EF-1562-C04B-5380B4E66DF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5842992"/>
            <a:ext cx="5143500" cy="223838"/>
          </a:xfrm>
          <a:prstGeom prst="rect">
            <a:avLst/>
          </a:prstGeom>
        </p:spPr>
      </p:pic>
      <p:pic>
        <p:nvPicPr>
          <p:cNvPr id="55" name="SK-11-img-27" descr="preencoded.png">
            <a:extLst>
              <a:ext uri="{FF2B5EF4-FFF2-40B4-BE49-F238E27FC236}">
                <a16:creationId xmlns:a16="http://schemas.microsoft.com/office/drawing/2014/main" id="{28ADE75E-6575-D79E-0406-06F215C5220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62700" y="6095405"/>
            <a:ext cx="5143500" cy="223838"/>
          </a:xfrm>
          <a:prstGeom prst="rect">
            <a:avLst/>
          </a:prstGeom>
        </p:spPr>
      </p:pic>
      <p:sp>
        <p:nvSpPr>
          <p:cNvPr id="57" name="SK-11-text-28">
            <a:extLst>
              <a:ext uri="{FF2B5EF4-FFF2-40B4-BE49-F238E27FC236}">
                <a16:creationId xmlns:a16="http://schemas.microsoft.com/office/drawing/2014/main" id="{78817412-B018-05CA-892D-B0E7A13C1D66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59" name="SK-11-text-29">
            <a:extLst>
              <a:ext uri="{FF2B5EF4-FFF2-40B4-BE49-F238E27FC236}">
                <a16:creationId xmlns:a16="http://schemas.microsoft.com/office/drawing/2014/main" id="{4C28C148-4047-6F80-56BC-BA1BAF741FBA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Génération PDF automatique</a:t>
            </a:r>
            <a:endParaRPr lang="en-US" sz="2400" dirty="0"/>
          </a:p>
        </p:txBody>
      </p:sp>
      <p:sp>
        <p:nvSpPr>
          <p:cNvPr id="61" name="SK-11-text-30">
            <a:extLst>
              <a:ext uri="{FF2B5EF4-FFF2-40B4-BE49-F238E27FC236}">
                <a16:creationId xmlns:a16="http://schemas.microsoft.com/office/drawing/2014/main" id="{33CB5CD8-2408-C187-1EF0-04E7554B5F47}"/>
              </a:ext>
            </a:extLst>
          </p:cNvPr>
          <p:cNvSpPr/>
          <p:nvPr/>
        </p:nvSpPr>
        <p:spPr>
          <a:xfrm>
            <a:off x="1104900" y="1854398"/>
            <a:ext cx="4895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</a:rPr>
              <a:t>Technologie Puppeteer</a:t>
            </a:r>
            <a:endParaRPr lang="en-US" sz="1500" dirty="0"/>
          </a:p>
        </p:txBody>
      </p:sp>
      <p:sp>
        <p:nvSpPr>
          <p:cNvPr id="63" name="SK-11-text-31">
            <a:extLst>
              <a:ext uri="{FF2B5EF4-FFF2-40B4-BE49-F238E27FC236}">
                <a16:creationId xmlns:a16="http://schemas.microsoft.com/office/drawing/2014/main" id="{D9817E32-A631-6E54-2FF0-A2E424EBE2E8}"/>
              </a:ext>
            </a:extLst>
          </p:cNvPr>
          <p:cNvSpPr/>
          <p:nvPr/>
        </p:nvSpPr>
        <p:spPr>
          <a:xfrm>
            <a:off x="800100" y="2292548"/>
            <a:ext cx="49149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Utilisation d'un navigateur </a:t>
            </a:r>
            <a:r>
              <a:rPr lang="en-US" sz="120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Chrome Headless</a:t>
            </a: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côté serveur pour convertir fidèlement des structures HTML/CSS complexes en documents PDF haute définition.</a:t>
            </a:r>
            <a:endParaRPr lang="en-US" sz="1200" dirty="0"/>
          </a:p>
        </p:txBody>
      </p:sp>
      <p:sp>
        <p:nvSpPr>
          <p:cNvPr id="65" name="SK-11-text-32">
            <a:extLst>
              <a:ext uri="{FF2B5EF4-FFF2-40B4-BE49-F238E27FC236}">
                <a16:creationId xmlns:a16="http://schemas.microsoft.com/office/drawing/2014/main" id="{324C3915-69FA-F435-A42F-0B3FEC4E4E75}"/>
              </a:ext>
            </a:extLst>
          </p:cNvPr>
          <p:cNvSpPr/>
          <p:nvPr/>
        </p:nvSpPr>
        <p:spPr>
          <a:xfrm>
            <a:off x="1257300" y="3283148"/>
            <a:ext cx="4282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Données BDD (Sequelize)</a:t>
            </a:r>
            <a:endParaRPr lang="en-US" sz="1200" dirty="0"/>
          </a:p>
        </p:txBody>
      </p:sp>
      <p:sp>
        <p:nvSpPr>
          <p:cNvPr id="67" name="SK-11-text-33">
            <a:extLst>
              <a:ext uri="{FF2B5EF4-FFF2-40B4-BE49-F238E27FC236}">
                <a16:creationId xmlns:a16="http://schemas.microsoft.com/office/drawing/2014/main" id="{56EE85F2-2110-CAB2-A5B0-D3498EEFE827}"/>
              </a:ext>
            </a:extLst>
          </p:cNvPr>
          <p:cNvSpPr/>
          <p:nvPr/>
        </p:nvSpPr>
        <p:spPr>
          <a:xfrm>
            <a:off x="1257300" y="3883223"/>
            <a:ext cx="6294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Templates HTML / CSS Personnalisés</a:t>
            </a:r>
            <a:endParaRPr lang="en-US" sz="1200" dirty="0"/>
          </a:p>
        </p:txBody>
      </p:sp>
      <p:sp>
        <p:nvSpPr>
          <p:cNvPr id="69" name="SK-11-text-34">
            <a:extLst>
              <a:ext uri="{FF2B5EF4-FFF2-40B4-BE49-F238E27FC236}">
                <a16:creationId xmlns:a16="http://schemas.microsoft.com/office/drawing/2014/main" id="{AA946C5A-9113-BB01-6562-33BA8DCE29C3}"/>
              </a:ext>
            </a:extLst>
          </p:cNvPr>
          <p:cNvSpPr/>
          <p:nvPr/>
        </p:nvSpPr>
        <p:spPr>
          <a:xfrm>
            <a:off x="1257300" y="4483298"/>
            <a:ext cx="6659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Rendu Puppeteer → PDF Téléchargeable</a:t>
            </a:r>
            <a:endParaRPr lang="en-US" sz="1200" dirty="0"/>
          </a:p>
        </p:txBody>
      </p:sp>
      <p:sp>
        <p:nvSpPr>
          <p:cNvPr id="71" name="SK-11-text-35">
            <a:extLst>
              <a:ext uri="{FF2B5EF4-FFF2-40B4-BE49-F238E27FC236}">
                <a16:creationId xmlns:a16="http://schemas.microsoft.com/office/drawing/2014/main" id="{1A1ABC1E-229A-939C-8F93-38DE6519B78D}"/>
              </a:ext>
            </a:extLst>
          </p:cNvPr>
          <p:cNvSpPr/>
          <p:nvPr/>
        </p:nvSpPr>
        <p:spPr>
          <a:xfrm>
            <a:off x="1016794" y="5435798"/>
            <a:ext cx="4774406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Impact Métier :</a:t>
            </a:r>
            <a:r>
              <a:rPr lang="en-US" sz="1125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 Automatisation complète supprimant les saisies manuelles sur Word/Excel. Uniformité garantie et respect des mentions légales (Art. 293B CGI).</a:t>
            </a:r>
            <a:endParaRPr lang="en-US" sz="1125" dirty="0"/>
          </a:p>
        </p:txBody>
      </p:sp>
      <p:sp>
        <p:nvSpPr>
          <p:cNvPr id="73" name="SK-11-text-36">
            <a:extLst>
              <a:ext uri="{FF2B5EF4-FFF2-40B4-BE49-F238E27FC236}">
                <a16:creationId xmlns:a16="http://schemas.microsoft.com/office/drawing/2014/main" id="{5DE3341D-70CA-B5BC-A9AE-AA865FAEA049}"/>
              </a:ext>
            </a:extLst>
          </p:cNvPr>
          <p:cNvSpPr/>
          <p:nvPr/>
        </p:nvSpPr>
        <p:spPr>
          <a:xfrm>
            <a:off x="6705600" y="4542830"/>
            <a:ext cx="3505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Devis Professionnels</a:t>
            </a:r>
            <a:endParaRPr lang="en-US" sz="1125" dirty="0"/>
          </a:p>
        </p:txBody>
      </p:sp>
      <p:sp>
        <p:nvSpPr>
          <p:cNvPr id="75" name="SK-11-text-37">
            <a:extLst>
              <a:ext uri="{FF2B5EF4-FFF2-40B4-BE49-F238E27FC236}">
                <a16:creationId xmlns:a16="http://schemas.microsoft.com/office/drawing/2014/main" id="{38E006A9-2DA2-6817-13D9-CA0DA97AD21E}"/>
              </a:ext>
            </a:extLst>
          </p:cNvPr>
          <p:cNvSpPr/>
          <p:nvPr/>
        </p:nvSpPr>
        <p:spPr>
          <a:xfrm>
            <a:off x="9448800" y="4542830"/>
            <a:ext cx="2743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Factures de Vente</a:t>
            </a:r>
            <a:endParaRPr lang="en-US" sz="1125" dirty="0"/>
          </a:p>
        </p:txBody>
      </p:sp>
      <p:sp>
        <p:nvSpPr>
          <p:cNvPr id="77" name="SK-11-text-38">
            <a:extLst>
              <a:ext uri="{FF2B5EF4-FFF2-40B4-BE49-F238E27FC236}">
                <a16:creationId xmlns:a16="http://schemas.microsoft.com/office/drawing/2014/main" id="{E5E5269E-BB6B-6141-899D-800FDE733718}"/>
              </a:ext>
            </a:extLst>
          </p:cNvPr>
          <p:cNvSpPr/>
          <p:nvPr/>
        </p:nvSpPr>
        <p:spPr>
          <a:xfrm>
            <a:off x="6705600" y="5042892"/>
            <a:ext cx="28194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Relances Impayés</a:t>
            </a:r>
            <a:endParaRPr lang="en-US" sz="1125" dirty="0"/>
          </a:p>
        </p:txBody>
      </p:sp>
      <p:sp>
        <p:nvSpPr>
          <p:cNvPr id="79" name="SK-11-text-39">
            <a:extLst>
              <a:ext uri="{FF2B5EF4-FFF2-40B4-BE49-F238E27FC236}">
                <a16:creationId xmlns:a16="http://schemas.microsoft.com/office/drawing/2014/main" id="{CB722E80-4273-F542-E0EE-93D4A456107E}"/>
              </a:ext>
            </a:extLst>
          </p:cNvPr>
          <p:cNvSpPr/>
          <p:nvPr/>
        </p:nvSpPr>
        <p:spPr>
          <a:xfrm>
            <a:off x="9448800" y="5042892"/>
            <a:ext cx="24765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Fiches Clients</a:t>
            </a:r>
            <a:endParaRPr lang="en-US" sz="1125" dirty="0"/>
          </a:p>
        </p:txBody>
      </p:sp>
      <p:sp>
        <p:nvSpPr>
          <p:cNvPr id="81" name="SK-11-text-40">
            <a:extLst>
              <a:ext uri="{FF2B5EF4-FFF2-40B4-BE49-F238E27FC236}">
                <a16:creationId xmlns:a16="http://schemas.microsoft.com/office/drawing/2014/main" id="{2DFEFF88-A648-A649-CF54-FAF686672632}"/>
              </a:ext>
            </a:extLst>
          </p:cNvPr>
          <p:cNvSpPr/>
          <p:nvPr/>
        </p:nvSpPr>
        <p:spPr>
          <a:xfrm>
            <a:off x="6362700" y="5600105"/>
            <a:ext cx="52197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ENDPOINTS API REST (SWAGGER)</a:t>
            </a:r>
            <a:endParaRPr lang="en-US" sz="975" dirty="0"/>
          </a:p>
        </p:txBody>
      </p:sp>
      <p:sp>
        <p:nvSpPr>
          <p:cNvPr id="83" name="SK-11-text-41">
            <a:extLst>
              <a:ext uri="{FF2B5EF4-FFF2-40B4-BE49-F238E27FC236}">
                <a16:creationId xmlns:a16="http://schemas.microsoft.com/office/drawing/2014/main" id="{81EAA72B-2BD5-D24B-4471-1D7815202BE3}"/>
              </a:ext>
            </a:extLst>
          </p:cNvPr>
          <p:cNvSpPr/>
          <p:nvPr/>
        </p:nvSpPr>
        <p:spPr>
          <a:xfrm>
            <a:off x="6419850" y="5842992"/>
            <a:ext cx="510540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2563EB"/>
                </a:solidFill>
              </a:rPr>
              <a:t>GET /api/pdf/devis/{id}</a:t>
            </a:r>
            <a:endParaRPr lang="en-US" sz="975" dirty="0"/>
          </a:p>
        </p:txBody>
      </p:sp>
      <p:sp>
        <p:nvSpPr>
          <p:cNvPr id="85" name="SK-11-text-42">
            <a:extLst>
              <a:ext uri="{FF2B5EF4-FFF2-40B4-BE49-F238E27FC236}">
                <a16:creationId xmlns:a16="http://schemas.microsoft.com/office/drawing/2014/main" id="{E41AD242-AE95-DF9F-97D4-C0D035415EDA}"/>
              </a:ext>
            </a:extLst>
          </p:cNvPr>
          <p:cNvSpPr/>
          <p:nvPr/>
        </p:nvSpPr>
        <p:spPr>
          <a:xfrm>
            <a:off x="6419850" y="6095405"/>
            <a:ext cx="510540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2563EB"/>
                </a:solidFill>
              </a:rPr>
              <a:t>GET /api/pdf/facture/{id}</a:t>
            </a:r>
            <a:endParaRPr lang="en-US" sz="975" dirty="0"/>
          </a:p>
        </p:txBody>
      </p:sp>
      <p:pic>
        <p:nvPicPr>
          <p:cNvPr id="87" name="Image 86">
            <a:extLst>
              <a:ext uri="{FF2B5EF4-FFF2-40B4-BE49-F238E27FC236}">
                <a16:creationId xmlns:a16="http://schemas.microsoft.com/office/drawing/2014/main" id="{5C3DFBDE-72BB-9E1E-47CF-EA1BBF8CAF3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22593"/>
            <a:ext cx="2733457" cy="3874968"/>
          </a:xfrm>
          <a:prstGeom prst="rect">
            <a:avLst/>
          </a:prstGeom>
        </p:spPr>
      </p:pic>
      <p:pic>
        <p:nvPicPr>
          <p:cNvPr id="88" name="Image 87">
            <a:extLst>
              <a:ext uri="{FF2B5EF4-FFF2-40B4-BE49-F238E27FC236}">
                <a16:creationId xmlns:a16="http://schemas.microsoft.com/office/drawing/2014/main" id="{77E9844A-4D46-77F0-6A1D-C9D9EAD32F0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746" y="418840"/>
            <a:ext cx="2826554" cy="391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12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K-12-img-3" descr="preencoded.png">
            <a:extLst>
              <a:ext uri="{FF2B5EF4-FFF2-40B4-BE49-F238E27FC236}">
                <a16:creationId xmlns:a16="http://schemas.microsoft.com/office/drawing/2014/main" id="{79B87B2F-D2FF-1A23-7B9A-12D62F29C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9" name="SK-12-img-4" descr="preencoded.png">
            <a:extLst>
              <a:ext uri="{FF2B5EF4-FFF2-40B4-BE49-F238E27FC236}">
                <a16:creationId xmlns:a16="http://schemas.microsoft.com/office/drawing/2014/main" id="{C13F5B55-FEFB-4CB7-6F94-4CA17B3B9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11" name="SK-12-img-5" descr="preencoded.png">
            <a:extLst>
              <a:ext uri="{FF2B5EF4-FFF2-40B4-BE49-F238E27FC236}">
                <a16:creationId xmlns:a16="http://schemas.microsoft.com/office/drawing/2014/main" id="{BD71BFD6-249C-6880-34EC-0B0434BC8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61021"/>
            <a:ext cx="5818882" cy="1237357"/>
          </a:xfrm>
          <a:prstGeom prst="rect">
            <a:avLst/>
          </a:prstGeom>
        </p:spPr>
      </p:pic>
      <p:pic>
        <p:nvPicPr>
          <p:cNvPr id="13" name="SK-12-img-6" descr="preencoded.png">
            <a:extLst>
              <a:ext uri="{FF2B5EF4-FFF2-40B4-BE49-F238E27FC236}">
                <a16:creationId xmlns:a16="http://schemas.microsoft.com/office/drawing/2014/main" id="{BBA9A1F5-B184-82D4-B156-2975E7C62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651099"/>
            <a:ext cx="457200" cy="457200"/>
          </a:xfrm>
          <a:prstGeom prst="rect">
            <a:avLst/>
          </a:prstGeom>
        </p:spPr>
      </p:pic>
      <p:pic>
        <p:nvPicPr>
          <p:cNvPr id="15" name="SK-12-img-7" descr="preencoded.png">
            <a:extLst>
              <a:ext uri="{FF2B5EF4-FFF2-40B4-BE49-F238E27FC236}">
                <a16:creationId xmlns:a16="http://schemas.microsoft.com/office/drawing/2014/main" id="{43904127-7F3E-C58D-71BB-03EC74C974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765399"/>
            <a:ext cx="285750" cy="228600"/>
          </a:xfrm>
          <a:prstGeom prst="rect">
            <a:avLst/>
          </a:prstGeom>
        </p:spPr>
      </p:pic>
      <p:pic>
        <p:nvPicPr>
          <p:cNvPr id="17" name="SK-12-img-8" descr="preencoded.png">
            <a:extLst>
              <a:ext uri="{FF2B5EF4-FFF2-40B4-BE49-F238E27FC236}">
                <a16:creationId xmlns:a16="http://schemas.microsoft.com/office/drawing/2014/main" id="{BD3F7942-A2D8-DE3E-7801-C87021D135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12678"/>
            <a:ext cx="5818882" cy="1237357"/>
          </a:xfrm>
          <a:prstGeom prst="rect">
            <a:avLst/>
          </a:prstGeom>
        </p:spPr>
      </p:pic>
      <p:pic>
        <p:nvPicPr>
          <p:cNvPr id="19" name="SK-12-img-9" descr="preencoded.png">
            <a:extLst>
              <a:ext uri="{FF2B5EF4-FFF2-40B4-BE49-F238E27FC236}">
                <a16:creationId xmlns:a16="http://schemas.microsoft.com/office/drawing/2014/main" id="{94FCFA7D-0C3A-F9F8-CC54-A520ED811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002756"/>
            <a:ext cx="457200" cy="457200"/>
          </a:xfrm>
          <a:prstGeom prst="rect">
            <a:avLst/>
          </a:prstGeom>
        </p:spPr>
      </p:pic>
      <p:pic>
        <p:nvPicPr>
          <p:cNvPr id="21" name="SK-12-img-10" descr="preencoded.png">
            <a:extLst>
              <a:ext uri="{FF2B5EF4-FFF2-40B4-BE49-F238E27FC236}">
                <a16:creationId xmlns:a16="http://schemas.microsoft.com/office/drawing/2014/main" id="{3AF97240-3AB0-3D48-B4FB-D6BEC75772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3117056"/>
            <a:ext cx="285750" cy="228600"/>
          </a:xfrm>
          <a:prstGeom prst="rect">
            <a:avLst/>
          </a:prstGeom>
        </p:spPr>
      </p:pic>
      <p:pic>
        <p:nvPicPr>
          <p:cNvPr id="23" name="SK-12-img-11" descr="preencoded.png">
            <a:extLst>
              <a:ext uri="{FF2B5EF4-FFF2-40B4-BE49-F238E27FC236}">
                <a16:creationId xmlns:a16="http://schemas.microsoft.com/office/drawing/2014/main" id="{B2DD31D0-C4E7-8358-B9EA-284C0136CA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964335"/>
            <a:ext cx="5818882" cy="1237357"/>
          </a:xfrm>
          <a:prstGeom prst="rect">
            <a:avLst/>
          </a:prstGeom>
        </p:spPr>
      </p:pic>
      <p:pic>
        <p:nvPicPr>
          <p:cNvPr id="25" name="SK-12-img-12" descr="preencoded.png">
            <a:extLst>
              <a:ext uri="{FF2B5EF4-FFF2-40B4-BE49-F238E27FC236}">
                <a16:creationId xmlns:a16="http://schemas.microsoft.com/office/drawing/2014/main" id="{E708D61D-EDE7-35DD-7772-CA5824B98D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354413"/>
            <a:ext cx="457200" cy="457200"/>
          </a:xfrm>
          <a:prstGeom prst="rect">
            <a:avLst/>
          </a:prstGeom>
        </p:spPr>
      </p:pic>
      <p:pic>
        <p:nvPicPr>
          <p:cNvPr id="27" name="SK-12-img-13" descr="preencoded.png">
            <a:extLst>
              <a:ext uri="{FF2B5EF4-FFF2-40B4-BE49-F238E27FC236}">
                <a16:creationId xmlns:a16="http://schemas.microsoft.com/office/drawing/2014/main" id="{FDD74D91-6328-24AA-7553-389F48EA4A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" y="4468713"/>
            <a:ext cx="285750" cy="228600"/>
          </a:xfrm>
          <a:prstGeom prst="rect">
            <a:avLst/>
          </a:prstGeom>
        </p:spPr>
      </p:pic>
      <p:pic>
        <p:nvPicPr>
          <p:cNvPr id="29" name="SK-12-img-14" descr="preencoded.png">
            <a:extLst>
              <a:ext uri="{FF2B5EF4-FFF2-40B4-BE49-F238E27FC236}">
                <a16:creationId xmlns:a16="http://schemas.microsoft.com/office/drawing/2014/main" id="{8BECF995-826D-6B47-A99F-54BC9701DE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315992"/>
            <a:ext cx="5818882" cy="1237357"/>
          </a:xfrm>
          <a:prstGeom prst="rect">
            <a:avLst/>
          </a:prstGeom>
        </p:spPr>
      </p:pic>
      <p:pic>
        <p:nvPicPr>
          <p:cNvPr id="31" name="SK-12-img-15" descr="preencoded.png">
            <a:extLst>
              <a:ext uri="{FF2B5EF4-FFF2-40B4-BE49-F238E27FC236}">
                <a16:creationId xmlns:a16="http://schemas.microsoft.com/office/drawing/2014/main" id="{9120A59D-A6C3-4860-AA75-7A38C12E70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706070"/>
            <a:ext cx="457200" cy="457200"/>
          </a:xfrm>
          <a:prstGeom prst="rect">
            <a:avLst/>
          </a:prstGeom>
        </p:spPr>
      </p:pic>
      <p:pic>
        <p:nvPicPr>
          <p:cNvPr id="33" name="SK-12-img-16" descr="preencoded.png">
            <a:extLst>
              <a:ext uri="{FF2B5EF4-FFF2-40B4-BE49-F238E27FC236}">
                <a16:creationId xmlns:a16="http://schemas.microsoft.com/office/drawing/2014/main" id="{AA6B1C2A-FDC0-BFF8-5E28-E57391470F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25" y="5820370"/>
            <a:ext cx="285750" cy="228600"/>
          </a:xfrm>
          <a:prstGeom prst="rect">
            <a:avLst/>
          </a:prstGeom>
        </p:spPr>
      </p:pic>
      <p:sp>
        <p:nvSpPr>
          <p:cNvPr id="47" name="SK-12-text-23">
            <a:extLst>
              <a:ext uri="{FF2B5EF4-FFF2-40B4-BE49-F238E27FC236}">
                <a16:creationId xmlns:a16="http://schemas.microsoft.com/office/drawing/2014/main" id="{A8E00302-CFBF-5ABA-9042-E66D8594CDB7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49" name="SK-12-text-24">
            <a:extLst>
              <a:ext uri="{FF2B5EF4-FFF2-40B4-BE49-F238E27FC236}">
                <a16:creationId xmlns:a16="http://schemas.microsoft.com/office/drawing/2014/main" id="{D476A334-DE54-1BF1-A0D7-65182C4CEE06}"/>
              </a:ext>
            </a:extLst>
          </p:cNvPr>
          <p:cNvSpPr/>
          <p:nvPr/>
        </p:nvSpPr>
        <p:spPr>
          <a:xfrm>
            <a:off x="571500" y="704850"/>
            <a:ext cx="11620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Sécurité &amp; Protection des Données</a:t>
            </a:r>
            <a:endParaRPr lang="en-US" sz="2400" dirty="0"/>
          </a:p>
        </p:txBody>
      </p:sp>
      <p:sp>
        <p:nvSpPr>
          <p:cNvPr id="51" name="SK-12-text-25">
            <a:extLst>
              <a:ext uri="{FF2B5EF4-FFF2-40B4-BE49-F238E27FC236}">
                <a16:creationId xmlns:a16="http://schemas.microsoft.com/office/drawing/2014/main" id="{1AA6B3C2-EC4C-FA8E-F4C6-2AA1A84A4446}"/>
              </a:ext>
            </a:extLst>
          </p:cNvPr>
          <p:cNvSpPr/>
          <p:nvPr/>
        </p:nvSpPr>
        <p:spPr>
          <a:xfrm>
            <a:off x="1409700" y="1532037"/>
            <a:ext cx="60521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Authentification par sessions</a:t>
            </a:r>
            <a:endParaRPr lang="en-US" sz="1350" dirty="0"/>
          </a:p>
        </p:txBody>
      </p:sp>
      <p:sp>
        <p:nvSpPr>
          <p:cNvPr id="53" name="SK-12-text-26">
            <a:extLst>
              <a:ext uri="{FF2B5EF4-FFF2-40B4-BE49-F238E27FC236}">
                <a16:creationId xmlns:a16="http://schemas.microsoft.com/office/drawing/2014/main" id="{F15A9606-01B1-AE58-244A-D6ACA49F9B30}"/>
              </a:ext>
            </a:extLst>
          </p:cNvPr>
          <p:cNvSpPr/>
          <p:nvPr/>
        </p:nvSpPr>
        <p:spPr>
          <a:xfrm>
            <a:off x="1409700" y="1827312"/>
            <a:ext cx="4790182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Express-session pour une gestion d'état sécurisée et invalidation automatique à la déconnexion.</a:t>
            </a:r>
            <a:endParaRPr lang="en-US" sz="1125" dirty="0"/>
          </a:p>
        </p:txBody>
      </p:sp>
      <p:sp>
        <p:nvSpPr>
          <p:cNvPr id="55" name="SK-12-text-27">
            <a:extLst>
              <a:ext uri="{FF2B5EF4-FFF2-40B4-BE49-F238E27FC236}">
                <a16:creationId xmlns:a16="http://schemas.microsoft.com/office/drawing/2014/main" id="{45F691B6-A28B-ABF8-4817-B3EA8522736A}"/>
              </a:ext>
            </a:extLst>
          </p:cNvPr>
          <p:cNvSpPr/>
          <p:nvPr/>
        </p:nvSpPr>
        <p:spPr>
          <a:xfrm>
            <a:off x="1409700" y="2883694"/>
            <a:ext cx="4875907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Chiffrement Bcrypt</a:t>
            </a:r>
            <a:endParaRPr lang="en-US" sz="1350" dirty="0"/>
          </a:p>
        </p:txBody>
      </p:sp>
      <p:sp>
        <p:nvSpPr>
          <p:cNvPr id="57" name="SK-12-text-28">
            <a:extLst>
              <a:ext uri="{FF2B5EF4-FFF2-40B4-BE49-F238E27FC236}">
                <a16:creationId xmlns:a16="http://schemas.microsoft.com/office/drawing/2014/main" id="{99153DE8-1F56-4783-53C5-9D9E28044345}"/>
              </a:ext>
            </a:extLst>
          </p:cNvPr>
          <p:cNvSpPr/>
          <p:nvPr/>
        </p:nvSpPr>
        <p:spPr>
          <a:xfrm>
            <a:off x="1409700" y="3178969"/>
            <a:ext cx="4790182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Hachage des mots de passe avec sel (salt). Aucune donnée sensible n'est stockée en clair.</a:t>
            </a:r>
            <a:endParaRPr lang="en-US" sz="1125" dirty="0"/>
          </a:p>
        </p:txBody>
      </p:sp>
      <p:sp>
        <p:nvSpPr>
          <p:cNvPr id="59" name="SK-12-text-29">
            <a:extLst>
              <a:ext uri="{FF2B5EF4-FFF2-40B4-BE49-F238E27FC236}">
                <a16:creationId xmlns:a16="http://schemas.microsoft.com/office/drawing/2014/main" id="{B8363DDC-7B8D-E8AB-89A2-5051DE849906}"/>
              </a:ext>
            </a:extLst>
          </p:cNvPr>
          <p:cNvSpPr/>
          <p:nvPr/>
        </p:nvSpPr>
        <p:spPr>
          <a:xfrm>
            <a:off x="1409700" y="4235351"/>
            <a:ext cx="70808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Protection des routes (Middleware)</a:t>
            </a:r>
            <a:endParaRPr lang="en-US" sz="1350" dirty="0"/>
          </a:p>
        </p:txBody>
      </p:sp>
      <p:sp>
        <p:nvSpPr>
          <p:cNvPr id="61" name="SK-12-text-30">
            <a:extLst>
              <a:ext uri="{FF2B5EF4-FFF2-40B4-BE49-F238E27FC236}">
                <a16:creationId xmlns:a16="http://schemas.microsoft.com/office/drawing/2014/main" id="{E33D115C-F3C6-B7A0-AC70-4A5C3C1E7DB5}"/>
              </a:ext>
            </a:extLst>
          </p:cNvPr>
          <p:cNvSpPr/>
          <p:nvPr/>
        </p:nvSpPr>
        <p:spPr>
          <a:xfrm>
            <a:off x="1409700" y="4530626"/>
            <a:ext cx="4790182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Contrôle d'accès systématique avant chaque endpoint API sensible (Devis, Factures, PDF).</a:t>
            </a:r>
            <a:endParaRPr lang="en-US" sz="1125" dirty="0"/>
          </a:p>
        </p:txBody>
      </p:sp>
      <p:sp>
        <p:nvSpPr>
          <p:cNvPr id="63" name="SK-12-text-31">
            <a:extLst>
              <a:ext uri="{FF2B5EF4-FFF2-40B4-BE49-F238E27FC236}">
                <a16:creationId xmlns:a16="http://schemas.microsoft.com/office/drawing/2014/main" id="{8200BC10-A3E5-AFCF-8F6F-71E951653331}"/>
              </a:ext>
            </a:extLst>
          </p:cNvPr>
          <p:cNvSpPr/>
          <p:nvPr/>
        </p:nvSpPr>
        <p:spPr>
          <a:xfrm>
            <a:off x="1409700" y="5587008"/>
            <a:ext cx="64636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Anti-Injection SQL &amp; Validation</a:t>
            </a:r>
            <a:endParaRPr lang="en-US" sz="1350" dirty="0"/>
          </a:p>
        </p:txBody>
      </p:sp>
      <p:sp>
        <p:nvSpPr>
          <p:cNvPr id="65" name="SK-12-text-32">
            <a:extLst>
              <a:ext uri="{FF2B5EF4-FFF2-40B4-BE49-F238E27FC236}">
                <a16:creationId xmlns:a16="http://schemas.microsoft.com/office/drawing/2014/main" id="{3EA1CAB8-CB1F-D0DF-9B3D-70B0ACA5F8B5}"/>
              </a:ext>
            </a:extLst>
          </p:cNvPr>
          <p:cNvSpPr/>
          <p:nvPr/>
        </p:nvSpPr>
        <p:spPr>
          <a:xfrm>
            <a:off x="1409700" y="5882283"/>
            <a:ext cx="4790182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Utilisation de requêtes paramétrées via Sequelize ORM et validation stricte côté serveur.</a:t>
            </a:r>
            <a:endParaRPr lang="en-US" sz="1125" dirty="0"/>
          </a:p>
        </p:txBody>
      </p:sp>
      <p:sp>
        <p:nvSpPr>
          <p:cNvPr id="67" name="SK-12-text-33">
            <a:extLst>
              <a:ext uri="{FF2B5EF4-FFF2-40B4-BE49-F238E27FC236}">
                <a16:creationId xmlns:a16="http://schemas.microsoft.com/office/drawing/2014/main" id="{C4978CB7-DBD6-682C-93BA-D443E8367A3B}"/>
              </a:ext>
            </a:extLst>
          </p:cNvPr>
          <p:cNvSpPr/>
          <p:nvPr/>
        </p:nvSpPr>
        <p:spPr>
          <a:xfrm>
            <a:off x="7119258" y="5724355"/>
            <a:ext cx="4501242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r>
              <a:rPr lang="en-US" sz="1000" dirty="0">
                <a:solidFill>
                  <a:srgbClr val="888888"/>
                </a:solidFill>
                <a:ea typeface="Montserrat" pitchFamily="34" charset="-122"/>
                <a:cs typeface="Montserrat" pitchFamily="34" charset="-120"/>
              </a:rPr>
              <a:t>Extrait — </a:t>
            </a:r>
            <a:r>
              <a:rPr lang="en-US" sz="1000" dirty="0" err="1">
                <a:solidFill>
                  <a:srgbClr val="888888"/>
                </a:solidFill>
                <a:ea typeface="Montserrat" pitchFamily="34" charset="-122"/>
                <a:cs typeface="Montserrat" pitchFamily="34" charset="-120"/>
              </a:rPr>
              <a:t>Authentification</a:t>
            </a:r>
            <a:r>
              <a:rPr lang="en-US" sz="1000" dirty="0">
                <a:solidFill>
                  <a:srgbClr val="888888"/>
                </a:solidFill>
                <a:ea typeface="Montserrat" pitchFamily="34" charset="-122"/>
                <a:cs typeface="Montserrat" pitchFamily="34" charset="-120"/>
              </a:rPr>
              <a:t> &amp; </a:t>
            </a:r>
            <a:r>
              <a:rPr lang="en-US" sz="1000" dirty="0" err="1">
                <a:solidFill>
                  <a:srgbClr val="888888"/>
                </a:solidFill>
                <a:ea typeface="Montserrat" pitchFamily="34" charset="-122"/>
                <a:cs typeface="Montserrat" pitchFamily="34" charset="-120"/>
              </a:rPr>
              <a:t>vérification</a:t>
            </a:r>
            <a:r>
              <a:rPr lang="en-US" sz="1000" dirty="0">
                <a:solidFill>
                  <a:srgbClr val="888888"/>
                </a:solidFill>
                <a:ea typeface="Montserrat" pitchFamily="34" charset="-122"/>
                <a:cs typeface="Montserrat" pitchFamily="34" charset="-120"/>
              </a:rPr>
              <a:t> bcrypt (login.js)</a:t>
            </a:r>
            <a:endParaRPr lang="en-US" sz="1000" dirty="0"/>
          </a:p>
        </p:txBody>
      </p:sp>
      <p:sp>
        <p:nvSpPr>
          <p:cNvPr id="77" name="SK-12-text-38">
            <a:extLst>
              <a:ext uri="{FF2B5EF4-FFF2-40B4-BE49-F238E27FC236}">
                <a16:creationId xmlns:a16="http://schemas.microsoft.com/office/drawing/2014/main" id="{D25AA126-7C14-4ED1-7087-16497A6AF2FD}"/>
              </a:ext>
            </a:extLst>
          </p:cNvPr>
          <p:cNvSpPr/>
          <p:nvPr/>
        </p:nvSpPr>
        <p:spPr>
          <a:xfrm>
            <a:off x="6771382" y="6009680"/>
            <a:ext cx="4849118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L'architecture privilégie la protection des données client et la conformité aux bonnes pratiques OWASP pour Node.js.</a:t>
            </a:r>
            <a:endParaRPr lang="en-US" sz="1050" dirty="0"/>
          </a:p>
        </p:txBody>
      </p:sp>
      <p:pic>
        <p:nvPicPr>
          <p:cNvPr id="81" name="SK-8-img-13" descr="preencoded.png">
            <a:extLst>
              <a:ext uri="{FF2B5EF4-FFF2-40B4-BE49-F238E27FC236}">
                <a16:creationId xmlns:a16="http://schemas.microsoft.com/office/drawing/2014/main" id="{255D6165-23A8-194E-D298-9CF5F23ED8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80957" y="286341"/>
            <a:ext cx="4249043" cy="539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49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13-img-3" descr="preencoded.png">
            <a:extLst>
              <a:ext uri="{FF2B5EF4-FFF2-40B4-BE49-F238E27FC236}">
                <a16:creationId xmlns:a16="http://schemas.microsoft.com/office/drawing/2014/main" id="{0688E2CC-627A-D087-ADB3-54FD00B5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5" name="SK-13-img-4" descr="preencoded.png">
            <a:extLst>
              <a:ext uri="{FF2B5EF4-FFF2-40B4-BE49-F238E27FC236}">
                <a16:creationId xmlns:a16="http://schemas.microsoft.com/office/drawing/2014/main" id="{AEDDA804-9C1C-D157-4648-2BF453ADA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7" name="SK-13-img-5" descr="preencoded.png">
            <a:extLst>
              <a:ext uri="{FF2B5EF4-FFF2-40B4-BE49-F238E27FC236}">
                <a16:creationId xmlns:a16="http://schemas.microsoft.com/office/drawing/2014/main" id="{978F194E-04B7-E03F-D3A4-98817F9C2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70596"/>
            <a:ext cx="6446490" cy="4139654"/>
          </a:xfrm>
          <a:prstGeom prst="rect">
            <a:avLst/>
          </a:prstGeom>
        </p:spPr>
      </p:pic>
      <p:pic>
        <p:nvPicPr>
          <p:cNvPr id="9" name="SK-13-img-6" descr="preencoded.png">
            <a:extLst>
              <a:ext uri="{FF2B5EF4-FFF2-40B4-BE49-F238E27FC236}">
                <a16:creationId xmlns:a16="http://schemas.microsoft.com/office/drawing/2014/main" id="{E9DD3B5C-F7EF-FFB0-F382-B5B704EF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70596"/>
            <a:ext cx="1611511" cy="533400"/>
          </a:xfrm>
          <a:prstGeom prst="rect">
            <a:avLst/>
          </a:prstGeom>
        </p:spPr>
      </p:pic>
      <p:pic>
        <p:nvPicPr>
          <p:cNvPr id="11" name="SK-13-img-7" descr="preencoded.png">
            <a:extLst>
              <a:ext uri="{FF2B5EF4-FFF2-40B4-BE49-F238E27FC236}">
                <a16:creationId xmlns:a16="http://schemas.microsoft.com/office/drawing/2014/main" id="{9551A265-8F8D-4986-ACFA-327E2A6B8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011" y="1670596"/>
            <a:ext cx="1933873" cy="533400"/>
          </a:xfrm>
          <a:prstGeom prst="rect">
            <a:avLst/>
          </a:prstGeom>
        </p:spPr>
      </p:pic>
      <p:pic>
        <p:nvPicPr>
          <p:cNvPr id="13" name="SK-13-img-8" descr="preencoded.png">
            <a:extLst>
              <a:ext uri="{FF2B5EF4-FFF2-40B4-BE49-F238E27FC236}">
                <a16:creationId xmlns:a16="http://schemas.microsoft.com/office/drawing/2014/main" id="{A9C0857A-7E2F-1141-6AFE-B1D7905DF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6884" y="1670596"/>
            <a:ext cx="2901107" cy="533400"/>
          </a:xfrm>
          <a:prstGeom prst="rect">
            <a:avLst/>
          </a:prstGeom>
        </p:spPr>
      </p:pic>
      <p:pic>
        <p:nvPicPr>
          <p:cNvPr id="15" name="SK-13-img-9" descr="preencoded.png">
            <a:extLst>
              <a:ext uri="{FF2B5EF4-FFF2-40B4-BE49-F238E27FC236}">
                <a16:creationId xmlns:a16="http://schemas.microsoft.com/office/drawing/2014/main" id="{885B15BF-4B8C-87DB-3FFF-6B199ADE9C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203996"/>
            <a:ext cx="1611511" cy="1202085"/>
          </a:xfrm>
          <a:prstGeom prst="rect">
            <a:avLst/>
          </a:prstGeom>
        </p:spPr>
      </p:pic>
      <p:pic>
        <p:nvPicPr>
          <p:cNvPr id="17" name="SK-13-img-10" descr="preencoded.png">
            <a:extLst>
              <a:ext uri="{FF2B5EF4-FFF2-40B4-BE49-F238E27FC236}">
                <a16:creationId xmlns:a16="http://schemas.microsoft.com/office/drawing/2014/main" id="{20B0DBB7-7A60-6A92-EF18-C8ED122C6A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744242"/>
            <a:ext cx="190500" cy="152400"/>
          </a:xfrm>
          <a:prstGeom prst="rect">
            <a:avLst/>
          </a:prstGeom>
        </p:spPr>
      </p:pic>
      <p:pic>
        <p:nvPicPr>
          <p:cNvPr id="19" name="SK-13-img-11" descr="preencoded.png">
            <a:extLst>
              <a:ext uri="{FF2B5EF4-FFF2-40B4-BE49-F238E27FC236}">
                <a16:creationId xmlns:a16="http://schemas.microsoft.com/office/drawing/2014/main" id="{6E7AF18B-0718-B690-34F8-75F74D2738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3011" y="2203996"/>
            <a:ext cx="1933873" cy="1202085"/>
          </a:xfrm>
          <a:prstGeom prst="rect">
            <a:avLst/>
          </a:prstGeom>
        </p:spPr>
      </p:pic>
      <p:pic>
        <p:nvPicPr>
          <p:cNvPr id="21" name="SK-13-img-12" descr="preencoded.png">
            <a:extLst>
              <a:ext uri="{FF2B5EF4-FFF2-40B4-BE49-F238E27FC236}">
                <a16:creationId xmlns:a16="http://schemas.microsoft.com/office/drawing/2014/main" id="{E4CE66DA-965C-64D7-8242-1CFD0999D4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6884" y="2203996"/>
            <a:ext cx="2901107" cy="1202085"/>
          </a:xfrm>
          <a:prstGeom prst="rect">
            <a:avLst/>
          </a:prstGeom>
        </p:spPr>
      </p:pic>
      <p:pic>
        <p:nvPicPr>
          <p:cNvPr id="23" name="SK-13-img-13" descr="preencoded.png">
            <a:extLst>
              <a:ext uri="{FF2B5EF4-FFF2-40B4-BE49-F238E27FC236}">
                <a16:creationId xmlns:a16="http://schemas.microsoft.com/office/drawing/2014/main" id="{790D5D4E-9071-AA0C-8C8B-6DC9F74887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406080"/>
            <a:ext cx="1611511" cy="1202085"/>
          </a:xfrm>
          <a:prstGeom prst="rect">
            <a:avLst/>
          </a:prstGeom>
        </p:spPr>
      </p:pic>
      <p:pic>
        <p:nvPicPr>
          <p:cNvPr id="25" name="SK-13-img-14" descr="preencoded.png">
            <a:extLst>
              <a:ext uri="{FF2B5EF4-FFF2-40B4-BE49-F238E27FC236}">
                <a16:creationId xmlns:a16="http://schemas.microsoft.com/office/drawing/2014/main" id="{B96B5527-1BCD-BABC-48CC-ECB1632728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3946327"/>
            <a:ext cx="190500" cy="152400"/>
          </a:xfrm>
          <a:prstGeom prst="rect">
            <a:avLst/>
          </a:prstGeom>
        </p:spPr>
      </p:pic>
      <p:pic>
        <p:nvPicPr>
          <p:cNvPr id="27" name="SK-13-img-15" descr="preencoded.png">
            <a:extLst>
              <a:ext uri="{FF2B5EF4-FFF2-40B4-BE49-F238E27FC236}">
                <a16:creationId xmlns:a16="http://schemas.microsoft.com/office/drawing/2014/main" id="{3D80FD86-AD12-8E60-C443-AB728EB375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3011" y="3406080"/>
            <a:ext cx="1933873" cy="1202085"/>
          </a:xfrm>
          <a:prstGeom prst="rect">
            <a:avLst/>
          </a:prstGeom>
        </p:spPr>
      </p:pic>
      <p:pic>
        <p:nvPicPr>
          <p:cNvPr id="29" name="SK-13-img-16" descr="preencoded.png">
            <a:extLst>
              <a:ext uri="{FF2B5EF4-FFF2-40B4-BE49-F238E27FC236}">
                <a16:creationId xmlns:a16="http://schemas.microsoft.com/office/drawing/2014/main" id="{7DA59520-D5C2-8E17-C08B-159B9954912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16884" y="3406080"/>
            <a:ext cx="2901107" cy="1202085"/>
          </a:xfrm>
          <a:prstGeom prst="rect">
            <a:avLst/>
          </a:prstGeom>
        </p:spPr>
      </p:pic>
      <p:pic>
        <p:nvPicPr>
          <p:cNvPr id="31" name="SK-13-img-17" descr="preencoded.png">
            <a:extLst>
              <a:ext uri="{FF2B5EF4-FFF2-40B4-BE49-F238E27FC236}">
                <a16:creationId xmlns:a16="http://schemas.microsoft.com/office/drawing/2014/main" id="{CCBB2842-55B5-7406-4BAC-C65F38E82FA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5148411"/>
            <a:ext cx="190500" cy="152400"/>
          </a:xfrm>
          <a:prstGeom prst="rect">
            <a:avLst/>
          </a:prstGeom>
        </p:spPr>
      </p:pic>
      <p:pic>
        <p:nvPicPr>
          <p:cNvPr id="33" name="SK-13-img-18" descr="preencoded.png">
            <a:extLst>
              <a:ext uri="{FF2B5EF4-FFF2-40B4-BE49-F238E27FC236}">
                <a16:creationId xmlns:a16="http://schemas.microsoft.com/office/drawing/2014/main" id="{FBE2DB05-560C-7417-DDA0-394F9FA0F8E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6057900"/>
            <a:ext cx="6446490" cy="419100"/>
          </a:xfrm>
          <a:prstGeom prst="rect">
            <a:avLst/>
          </a:prstGeom>
        </p:spPr>
      </p:pic>
      <p:pic>
        <p:nvPicPr>
          <p:cNvPr id="35" name="SK-13-img-19" descr="preencoded.png">
            <a:extLst>
              <a:ext uri="{FF2B5EF4-FFF2-40B4-BE49-F238E27FC236}">
                <a16:creationId xmlns:a16="http://schemas.microsoft.com/office/drawing/2014/main" id="{E7211C6C-A439-BA7D-9D16-FE91E97127A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6301978"/>
            <a:ext cx="190500" cy="152400"/>
          </a:xfrm>
          <a:prstGeom prst="rect">
            <a:avLst/>
          </a:prstGeom>
        </p:spPr>
      </p:pic>
      <p:pic>
        <p:nvPicPr>
          <p:cNvPr id="37" name="SK-13-img-20" descr="preencoded.png">
            <a:extLst>
              <a:ext uri="{FF2B5EF4-FFF2-40B4-BE49-F238E27FC236}">
                <a16:creationId xmlns:a16="http://schemas.microsoft.com/office/drawing/2014/main" id="{2B662FBB-622B-8196-08C8-6FFC7388A84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22790" y="1701998"/>
            <a:ext cx="4297710" cy="1395413"/>
          </a:xfrm>
          <a:prstGeom prst="rect">
            <a:avLst/>
          </a:prstGeom>
        </p:spPr>
      </p:pic>
      <p:pic>
        <p:nvPicPr>
          <p:cNvPr id="39" name="SK-13-img-21" descr="preencoded.png">
            <a:extLst>
              <a:ext uri="{FF2B5EF4-FFF2-40B4-BE49-F238E27FC236}">
                <a16:creationId xmlns:a16="http://schemas.microsoft.com/office/drawing/2014/main" id="{91987260-0E96-A534-1A44-3E4E3D27188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13290" y="1944886"/>
            <a:ext cx="190500" cy="152400"/>
          </a:xfrm>
          <a:prstGeom prst="rect">
            <a:avLst/>
          </a:prstGeom>
        </p:spPr>
      </p:pic>
      <p:pic>
        <p:nvPicPr>
          <p:cNvPr id="41" name="SK-13-img-22" descr="preencoded.png">
            <a:extLst>
              <a:ext uri="{FF2B5EF4-FFF2-40B4-BE49-F238E27FC236}">
                <a16:creationId xmlns:a16="http://schemas.microsoft.com/office/drawing/2014/main" id="{FB4DA83F-6951-BA7F-DD06-28E5ED5ABAC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22790" y="3287911"/>
            <a:ext cx="4297710" cy="1395413"/>
          </a:xfrm>
          <a:prstGeom prst="rect">
            <a:avLst/>
          </a:prstGeom>
        </p:spPr>
      </p:pic>
      <p:pic>
        <p:nvPicPr>
          <p:cNvPr id="43" name="SK-13-img-23" descr="preencoded.png">
            <a:extLst>
              <a:ext uri="{FF2B5EF4-FFF2-40B4-BE49-F238E27FC236}">
                <a16:creationId xmlns:a16="http://schemas.microsoft.com/office/drawing/2014/main" id="{125D8A16-8B97-CBBA-69E0-3F571B6F7EA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13290" y="3530798"/>
            <a:ext cx="190500" cy="152400"/>
          </a:xfrm>
          <a:prstGeom prst="rect">
            <a:avLst/>
          </a:prstGeom>
        </p:spPr>
      </p:pic>
      <p:pic>
        <p:nvPicPr>
          <p:cNvPr id="45" name="SK-13-img-24" descr="preencoded.png">
            <a:extLst>
              <a:ext uri="{FF2B5EF4-FFF2-40B4-BE49-F238E27FC236}">
                <a16:creationId xmlns:a16="http://schemas.microsoft.com/office/drawing/2014/main" id="{55011D3E-E5CD-CE8A-FB28-78B8CB3CA89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22790" y="4873823"/>
            <a:ext cx="4297710" cy="1162050"/>
          </a:xfrm>
          <a:prstGeom prst="rect">
            <a:avLst/>
          </a:prstGeom>
        </p:spPr>
      </p:pic>
      <p:pic>
        <p:nvPicPr>
          <p:cNvPr id="47" name="SK-13-img-25" descr="preencoded.png">
            <a:extLst>
              <a:ext uri="{FF2B5EF4-FFF2-40B4-BE49-F238E27FC236}">
                <a16:creationId xmlns:a16="http://schemas.microsoft.com/office/drawing/2014/main" id="{138430C8-F0A0-3FEF-5449-23313D58ACA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51390" y="5150048"/>
            <a:ext cx="76200" cy="76200"/>
          </a:xfrm>
          <a:prstGeom prst="rect">
            <a:avLst/>
          </a:prstGeom>
        </p:spPr>
      </p:pic>
      <p:sp>
        <p:nvSpPr>
          <p:cNvPr id="49" name="SK-13-text-26">
            <a:extLst>
              <a:ext uri="{FF2B5EF4-FFF2-40B4-BE49-F238E27FC236}">
                <a16:creationId xmlns:a16="http://schemas.microsoft.com/office/drawing/2014/main" id="{CA187A94-8D00-65CB-F207-5012B144EA90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51" name="SK-13-text-27">
            <a:extLst>
              <a:ext uri="{FF2B5EF4-FFF2-40B4-BE49-F238E27FC236}">
                <a16:creationId xmlns:a16="http://schemas.microsoft.com/office/drawing/2014/main" id="{58BC403A-02B4-419A-CE1C-94CAFE0ACB94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Déploiement en Production</a:t>
            </a:r>
            <a:endParaRPr lang="en-US" sz="2400" dirty="0"/>
          </a:p>
        </p:txBody>
      </p:sp>
      <p:sp>
        <p:nvSpPr>
          <p:cNvPr id="53" name="SK-13-text-28">
            <a:extLst>
              <a:ext uri="{FF2B5EF4-FFF2-40B4-BE49-F238E27FC236}">
                <a16:creationId xmlns:a16="http://schemas.microsoft.com/office/drawing/2014/main" id="{840E9817-B69B-A1A6-622A-2456509E59BF}"/>
              </a:ext>
            </a:extLst>
          </p:cNvPr>
          <p:cNvSpPr/>
          <p:nvPr/>
        </p:nvSpPr>
        <p:spPr>
          <a:xfrm>
            <a:off x="571500" y="1261021"/>
            <a:ext cx="653221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kern="0" spc="30" dirty="0">
                <a:solidFill>
                  <a:srgbClr val="166534"/>
                </a:solidFill>
              </a:rPr>
              <a:t>INFRASTRUCTURE CLOUD</a:t>
            </a:r>
            <a:endParaRPr lang="en-US" sz="1350" dirty="0"/>
          </a:p>
        </p:txBody>
      </p:sp>
      <p:sp>
        <p:nvSpPr>
          <p:cNvPr id="55" name="SK-13-text-29">
            <a:extLst>
              <a:ext uri="{FF2B5EF4-FFF2-40B4-BE49-F238E27FC236}">
                <a16:creationId xmlns:a16="http://schemas.microsoft.com/office/drawing/2014/main" id="{65A613C6-64A1-CEE8-AC0E-7F6C618D22A3}"/>
              </a:ext>
            </a:extLst>
          </p:cNvPr>
          <p:cNvSpPr/>
          <p:nvPr/>
        </p:nvSpPr>
        <p:spPr>
          <a:xfrm>
            <a:off x="723900" y="1670596"/>
            <a:ext cx="138291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Service</a:t>
            </a:r>
            <a:endParaRPr lang="en-US" sz="1200" dirty="0"/>
          </a:p>
        </p:txBody>
      </p:sp>
      <p:sp>
        <p:nvSpPr>
          <p:cNvPr id="57" name="SK-13-text-30">
            <a:extLst>
              <a:ext uri="{FF2B5EF4-FFF2-40B4-BE49-F238E27FC236}">
                <a16:creationId xmlns:a16="http://schemas.microsoft.com/office/drawing/2014/main" id="{6515503D-9F81-7D72-9537-56D4D93BC165}"/>
              </a:ext>
            </a:extLst>
          </p:cNvPr>
          <p:cNvSpPr/>
          <p:nvPr/>
        </p:nvSpPr>
        <p:spPr>
          <a:xfrm>
            <a:off x="2335411" y="1670596"/>
            <a:ext cx="170527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Rôle</a:t>
            </a:r>
            <a:endParaRPr lang="en-US" sz="1200" dirty="0"/>
          </a:p>
        </p:txBody>
      </p:sp>
      <p:sp>
        <p:nvSpPr>
          <p:cNvPr id="59" name="SK-13-text-31">
            <a:extLst>
              <a:ext uri="{FF2B5EF4-FFF2-40B4-BE49-F238E27FC236}">
                <a16:creationId xmlns:a16="http://schemas.microsoft.com/office/drawing/2014/main" id="{4429EBE2-FAF4-016B-6ACC-C16EFFE28854}"/>
              </a:ext>
            </a:extLst>
          </p:cNvPr>
          <p:cNvSpPr/>
          <p:nvPr/>
        </p:nvSpPr>
        <p:spPr>
          <a:xfrm>
            <a:off x="4269284" y="1670596"/>
            <a:ext cx="269485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Détail Technique</a:t>
            </a:r>
            <a:endParaRPr lang="en-US" sz="1200" dirty="0"/>
          </a:p>
        </p:txBody>
      </p:sp>
      <p:sp>
        <p:nvSpPr>
          <p:cNvPr id="61" name="SK-13-text-32">
            <a:extLst>
              <a:ext uri="{FF2B5EF4-FFF2-40B4-BE49-F238E27FC236}">
                <a16:creationId xmlns:a16="http://schemas.microsoft.com/office/drawing/2014/main" id="{BB589F5C-7F73-C5A3-4D7E-9FE8096BFD6B}"/>
              </a:ext>
            </a:extLst>
          </p:cNvPr>
          <p:cNvSpPr/>
          <p:nvPr/>
        </p:nvSpPr>
        <p:spPr>
          <a:xfrm>
            <a:off x="914400" y="2203996"/>
            <a:ext cx="1306711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Render</a:t>
            </a:r>
            <a:endParaRPr lang="en-US" sz="1200" dirty="0"/>
          </a:p>
        </p:txBody>
      </p:sp>
      <p:sp>
        <p:nvSpPr>
          <p:cNvPr id="63" name="SK-13-text-33">
            <a:extLst>
              <a:ext uri="{FF2B5EF4-FFF2-40B4-BE49-F238E27FC236}">
                <a16:creationId xmlns:a16="http://schemas.microsoft.com/office/drawing/2014/main" id="{D493C303-DBF6-99E7-0D18-CCE0421C9E85}"/>
              </a:ext>
            </a:extLst>
          </p:cNvPr>
          <p:cNvSpPr/>
          <p:nvPr/>
        </p:nvSpPr>
        <p:spPr>
          <a:xfrm>
            <a:off x="2335411" y="2203996"/>
            <a:ext cx="3003265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Hébergement Serveur</a:t>
            </a:r>
            <a:endParaRPr lang="en-US" sz="1200" dirty="0"/>
          </a:p>
        </p:txBody>
      </p:sp>
      <p:sp>
        <p:nvSpPr>
          <p:cNvPr id="65" name="SK-13-text-34">
            <a:extLst>
              <a:ext uri="{FF2B5EF4-FFF2-40B4-BE49-F238E27FC236}">
                <a16:creationId xmlns:a16="http://schemas.microsoft.com/office/drawing/2014/main" id="{B5A5BBF3-D1C7-2C54-8B37-13DEF2F891C6}"/>
              </a:ext>
            </a:extLst>
          </p:cNvPr>
          <p:cNvSpPr/>
          <p:nvPr/>
        </p:nvSpPr>
        <p:spPr>
          <a:xfrm>
            <a:off x="4269284" y="2203996"/>
            <a:ext cx="2596307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Application Node.js / Express déployée en continu (CI/CD)</a:t>
            </a:r>
            <a:endParaRPr lang="en-US" sz="1200" dirty="0"/>
          </a:p>
        </p:txBody>
      </p:sp>
      <p:sp>
        <p:nvSpPr>
          <p:cNvPr id="67" name="SK-13-text-35">
            <a:extLst>
              <a:ext uri="{FF2B5EF4-FFF2-40B4-BE49-F238E27FC236}">
                <a16:creationId xmlns:a16="http://schemas.microsoft.com/office/drawing/2014/main" id="{A3883DF2-C322-AE09-F377-7F7D93B8D1EB}"/>
              </a:ext>
            </a:extLst>
          </p:cNvPr>
          <p:cNvSpPr/>
          <p:nvPr/>
        </p:nvSpPr>
        <p:spPr>
          <a:xfrm>
            <a:off x="914400" y="3406080"/>
            <a:ext cx="1306711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Aiven</a:t>
            </a:r>
            <a:endParaRPr lang="en-US" sz="1200" dirty="0"/>
          </a:p>
        </p:txBody>
      </p:sp>
      <p:sp>
        <p:nvSpPr>
          <p:cNvPr id="69" name="SK-13-text-36">
            <a:extLst>
              <a:ext uri="{FF2B5EF4-FFF2-40B4-BE49-F238E27FC236}">
                <a16:creationId xmlns:a16="http://schemas.microsoft.com/office/drawing/2014/main" id="{4481828D-B8C6-BD8C-2946-022158648600}"/>
              </a:ext>
            </a:extLst>
          </p:cNvPr>
          <p:cNvSpPr/>
          <p:nvPr/>
        </p:nvSpPr>
        <p:spPr>
          <a:xfrm>
            <a:off x="2335411" y="3406080"/>
            <a:ext cx="2387041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71" name="SK-13-text-37">
            <a:extLst>
              <a:ext uri="{FF2B5EF4-FFF2-40B4-BE49-F238E27FC236}">
                <a16:creationId xmlns:a16="http://schemas.microsoft.com/office/drawing/2014/main" id="{E1E76AD6-5F39-97B0-4A50-3A7A5B748040}"/>
              </a:ext>
            </a:extLst>
          </p:cNvPr>
          <p:cNvSpPr/>
          <p:nvPr/>
        </p:nvSpPr>
        <p:spPr>
          <a:xfrm>
            <a:off x="4269284" y="3406080"/>
            <a:ext cx="2596307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Instance MySQL managée en production avec connexion SSL</a:t>
            </a:r>
            <a:endParaRPr lang="en-US" sz="1200" dirty="0"/>
          </a:p>
        </p:txBody>
      </p:sp>
      <p:sp>
        <p:nvSpPr>
          <p:cNvPr id="73" name="SK-13-text-38">
            <a:extLst>
              <a:ext uri="{FF2B5EF4-FFF2-40B4-BE49-F238E27FC236}">
                <a16:creationId xmlns:a16="http://schemas.microsoft.com/office/drawing/2014/main" id="{CCADB933-E1EE-1882-122D-256BEDCA6CE5}"/>
              </a:ext>
            </a:extLst>
          </p:cNvPr>
          <p:cNvSpPr/>
          <p:nvPr/>
        </p:nvSpPr>
        <p:spPr>
          <a:xfrm>
            <a:off x="914400" y="4608165"/>
            <a:ext cx="1306711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GitHub</a:t>
            </a:r>
            <a:endParaRPr lang="en-US" sz="1200" dirty="0"/>
          </a:p>
        </p:txBody>
      </p:sp>
      <p:sp>
        <p:nvSpPr>
          <p:cNvPr id="75" name="SK-13-text-39">
            <a:extLst>
              <a:ext uri="{FF2B5EF4-FFF2-40B4-BE49-F238E27FC236}">
                <a16:creationId xmlns:a16="http://schemas.microsoft.com/office/drawing/2014/main" id="{FD673451-3BA9-0F38-54F2-879DC3707948}"/>
              </a:ext>
            </a:extLst>
          </p:cNvPr>
          <p:cNvSpPr/>
          <p:nvPr/>
        </p:nvSpPr>
        <p:spPr>
          <a:xfrm>
            <a:off x="2335411" y="4608165"/>
            <a:ext cx="2387041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Versioning &amp; CI</a:t>
            </a:r>
            <a:endParaRPr lang="en-US" sz="1200" dirty="0"/>
          </a:p>
        </p:txBody>
      </p:sp>
      <p:sp>
        <p:nvSpPr>
          <p:cNvPr id="77" name="SK-13-text-40">
            <a:extLst>
              <a:ext uri="{FF2B5EF4-FFF2-40B4-BE49-F238E27FC236}">
                <a16:creationId xmlns:a16="http://schemas.microsoft.com/office/drawing/2014/main" id="{9F74A0DC-EDDF-258A-1592-0CDB08F84A2B}"/>
              </a:ext>
            </a:extLst>
          </p:cNvPr>
          <p:cNvSpPr/>
          <p:nvPr/>
        </p:nvSpPr>
        <p:spPr>
          <a:xfrm>
            <a:off x="4269284" y="4608165"/>
            <a:ext cx="2596307" cy="12020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Pipeline automatisé depuis la branche main (116 commits)</a:t>
            </a:r>
            <a:endParaRPr lang="en-US" sz="1200" dirty="0"/>
          </a:p>
        </p:txBody>
      </p:sp>
      <p:sp>
        <p:nvSpPr>
          <p:cNvPr id="79" name="SK-13-text-41">
            <a:extLst>
              <a:ext uri="{FF2B5EF4-FFF2-40B4-BE49-F238E27FC236}">
                <a16:creationId xmlns:a16="http://schemas.microsoft.com/office/drawing/2014/main" id="{6FB3BDF3-520F-657C-F3A6-27DF32C05170}"/>
              </a:ext>
            </a:extLst>
          </p:cNvPr>
          <p:cNvSpPr/>
          <p:nvPr/>
        </p:nvSpPr>
        <p:spPr>
          <a:xfrm>
            <a:off x="838200" y="6248400"/>
            <a:ext cx="11353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166534"/>
                </a:solidFill>
                <a:ea typeface="Inter" pitchFamily="34" charset="-122"/>
                <a:cs typeface="Inter" pitchFamily="34" charset="-120"/>
              </a:rPr>
              <a:t> Projet réel utilisé quotidiennement par la micro-entreprise FM Abattage.</a:t>
            </a:r>
            <a:endParaRPr lang="en-US" sz="1200" dirty="0"/>
          </a:p>
        </p:txBody>
      </p:sp>
      <p:sp>
        <p:nvSpPr>
          <p:cNvPr id="81" name="SK-13-text-42">
            <a:extLst>
              <a:ext uri="{FF2B5EF4-FFF2-40B4-BE49-F238E27FC236}">
                <a16:creationId xmlns:a16="http://schemas.microsoft.com/office/drawing/2014/main" id="{9C7BC272-3E16-01F4-9945-4D65FE76058F}"/>
              </a:ext>
            </a:extLst>
          </p:cNvPr>
          <p:cNvSpPr/>
          <p:nvPr/>
        </p:nvSpPr>
        <p:spPr>
          <a:xfrm>
            <a:off x="7818090" y="1892498"/>
            <a:ext cx="35833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Documentation API</a:t>
            </a:r>
            <a:endParaRPr lang="en-US" sz="1350" dirty="0"/>
          </a:p>
        </p:txBody>
      </p:sp>
      <p:sp>
        <p:nvSpPr>
          <p:cNvPr id="83" name="SK-13-text-43">
            <a:extLst>
              <a:ext uri="{FF2B5EF4-FFF2-40B4-BE49-F238E27FC236}">
                <a16:creationId xmlns:a16="http://schemas.microsoft.com/office/drawing/2014/main" id="{61957B2F-AB51-179B-FBC4-B8516FE1BECD}"/>
              </a:ext>
            </a:extLst>
          </p:cNvPr>
          <p:cNvSpPr/>
          <p:nvPr/>
        </p:nvSpPr>
        <p:spPr>
          <a:xfrm>
            <a:off x="7513290" y="2263973"/>
            <a:ext cx="391671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Intégration de </a:t>
            </a:r>
            <a:r>
              <a:rPr lang="en-US" sz="1125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Swagger (OpenAPI)</a:t>
            </a: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pour une documentation interactive et testable de tous les endpoints en ligne.</a:t>
            </a:r>
            <a:endParaRPr lang="en-US" sz="1125" dirty="0"/>
          </a:p>
        </p:txBody>
      </p:sp>
      <p:sp>
        <p:nvSpPr>
          <p:cNvPr id="85" name="SK-13-text-44">
            <a:extLst>
              <a:ext uri="{FF2B5EF4-FFF2-40B4-BE49-F238E27FC236}">
                <a16:creationId xmlns:a16="http://schemas.microsoft.com/office/drawing/2014/main" id="{077C98A3-4740-416B-198C-727764340EA5}"/>
              </a:ext>
            </a:extLst>
          </p:cNvPr>
          <p:cNvSpPr/>
          <p:nvPr/>
        </p:nvSpPr>
        <p:spPr>
          <a:xfrm>
            <a:off x="7818090" y="3478411"/>
            <a:ext cx="437391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Configuration Sécurisée</a:t>
            </a:r>
            <a:endParaRPr lang="en-US" sz="1350" dirty="0"/>
          </a:p>
        </p:txBody>
      </p:sp>
      <p:sp>
        <p:nvSpPr>
          <p:cNvPr id="87" name="SK-13-text-45">
            <a:extLst>
              <a:ext uri="{FF2B5EF4-FFF2-40B4-BE49-F238E27FC236}">
                <a16:creationId xmlns:a16="http://schemas.microsoft.com/office/drawing/2014/main" id="{06C41003-4F33-D7A8-A6DB-292D18D7E535}"/>
              </a:ext>
            </a:extLst>
          </p:cNvPr>
          <p:cNvSpPr/>
          <p:nvPr/>
        </p:nvSpPr>
        <p:spPr>
          <a:xfrm>
            <a:off x="7513290" y="3849886"/>
            <a:ext cx="391671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Variables d'environnement protégées, certificats SSL pour la BDD et gestion dynamique des contextes (Local vs Production).</a:t>
            </a:r>
            <a:endParaRPr lang="en-US" sz="1125" dirty="0"/>
          </a:p>
        </p:txBody>
      </p:sp>
      <p:sp>
        <p:nvSpPr>
          <p:cNvPr id="89" name="SK-13-text-46">
            <a:extLst>
              <a:ext uri="{FF2B5EF4-FFF2-40B4-BE49-F238E27FC236}">
                <a16:creationId xmlns:a16="http://schemas.microsoft.com/office/drawing/2014/main" id="{A575F731-1A9C-2CF9-4A5E-0F3EFF7EA6F5}"/>
              </a:ext>
            </a:extLst>
          </p:cNvPr>
          <p:cNvSpPr/>
          <p:nvPr/>
        </p:nvSpPr>
        <p:spPr>
          <a:xfrm>
            <a:off x="7703790" y="5102423"/>
            <a:ext cx="384051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APPLICATION EN LIGNE</a:t>
            </a:r>
            <a:endParaRPr lang="en-US" sz="900" dirty="0"/>
          </a:p>
        </p:txBody>
      </p:sp>
      <p:sp>
        <p:nvSpPr>
          <p:cNvPr id="91" name="SK-13-text-47">
            <a:extLst>
              <a:ext uri="{FF2B5EF4-FFF2-40B4-BE49-F238E27FC236}">
                <a16:creationId xmlns:a16="http://schemas.microsoft.com/office/drawing/2014/main" id="{07BF5324-A6FB-714E-1559-4ED75AE35942}"/>
              </a:ext>
            </a:extLst>
          </p:cNvPr>
          <p:cNvSpPr/>
          <p:nvPr/>
        </p:nvSpPr>
        <p:spPr>
          <a:xfrm>
            <a:off x="7551390" y="5350073"/>
            <a:ext cx="384051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F4F0"/>
                </a:solidFill>
              </a:rPr>
              <a:t>https://fmabattage-management-app-1.onrender.com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7050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K-9-img-4" descr="preencoded.png">
            <a:extLst>
              <a:ext uri="{FF2B5EF4-FFF2-40B4-BE49-F238E27FC236}">
                <a16:creationId xmlns:a16="http://schemas.microsoft.com/office/drawing/2014/main" id="{04BD8E7A-6C39-DEE1-625B-C7FED4F83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18" y="1714500"/>
            <a:ext cx="11070282" cy="1714500"/>
          </a:xfrm>
          <a:prstGeom prst="rect">
            <a:avLst/>
          </a:prstGeom>
        </p:spPr>
      </p:pic>
      <p:pic>
        <p:nvPicPr>
          <p:cNvPr id="11" name="SK-9-img-5" descr="preencoded.png">
            <a:extLst>
              <a:ext uri="{FF2B5EF4-FFF2-40B4-BE49-F238E27FC236}">
                <a16:creationId xmlns:a16="http://schemas.microsoft.com/office/drawing/2014/main" id="{84A34DEB-3774-410C-A284-7918F53AC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18" y="5315545"/>
            <a:ext cx="10972800" cy="1042392"/>
          </a:xfrm>
          <a:prstGeom prst="rect">
            <a:avLst/>
          </a:prstGeom>
        </p:spPr>
      </p:pic>
      <p:pic>
        <p:nvPicPr>
          <p:cNvPr id="13" name="SK-9-img-6" descr="preencoded.png">
            <a:extLst>
              <a:ext uri="{FF2B5EF4-FFF2-40B4-BE49-F238E27FC236}">
                <a16:creationId xmlns:a16="http://schemas.microsoft.com/office/drawing/2014/main" id="{F3712250-FB90-E4B2-39E2-E4B59122D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655" y="5493990"/>
            <a:ext cx="9525" cy="685800"/>
          </a:xfrm>
          <a:prstGeom prst="rect">
            <a:avLst/>
          </a:prstGeom>
        </p:spPr>
      </p:pic>
      <p:pic>
        <p:nvPicPr>
          <p:cNvPr id="15" name="SK-9-img-7" descr="preencoded.png">
            <a:extLst>
              <a:ext uri="{FF2B5EF4-FFF2-40B4-BE49-F238E27FC236}">
                <a16:creationId xmlns:a16="http://schemas.microsoft.com/office/drawing/2014/main" id="{DBCF84EE-F77A-1A28-CA4F-EC93801CB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855" y="5493990"/>
            <a:ext cx="9525" cy="685800"/>
          </a:xfrm>
          <a:prstGeom prst="rect">
            <a:avLst/>
          </a:prstGeom>
        </p:spPr>
      </p:pic>
      <p:pic>
        <p:nvPicPr>
          <p:cNvPr id="17" name="SK-9-img-8" descr="preencoded.png">
            <a:extLst>
              <a:ext uri="{FF2B5EF4-FFF2-40B4-BE49-F238E27FC236}">
                <a16:creationId xmlns:a16="http://schemas.microsoft.com/office/drawing/2014/main" id="{B4F6C629-7A6C-BACB-6964-52BA4C9A9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055" y="5493990"/>
            <a:ext cx="9525" cy="685800"/>
          </a:xfrm>
          <a:prstGeom prst="rect">
            <a:avLst/>
          </a:prstGeom>
        </p:spPr>
      </p:pic>
      <p:pic>
        <p:nvPicPr>
          <p:cNvPr id="19" name="SK-9-img-9" descr="preencoded.png">
            <a:extLst>
              <a:ext uri="{FF2B5EF4-FFF2-40B4-BE49-F238E27FC236}">
                <a16:creationId xmlns:a16="http://schemas.microsoft.com/office/drawing/2014/main" id="{4EE35A17-B836-F1D3-0C2E-B665B899F0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063"/>
          <a:stretch>
            <a:fillRect/>
          </a:stretch>
        </p:blipFill>
        <p:spPr>
          <a:xfrm>
            <a:off x="461803" y="2244323"/>
            <a:ext cx="6205856" cy="1424623"/>
          </a:xfrm>
          <a:prstGeom prst="rect">
            <a:avLst/>
          </a:prstGeom>
        </p:spPr>
      </p:pic>
      <p:sp>
        <p:nvSpPr>
          <p:cNvPr id="23" name="SK-9-text-11">
            <a:extLst>
              <a:ext uri="{FF2B5EF4-FFF2-40B4-BE49-F238E27FC236}">
                <a16:creationId xmlns:a16="http://schemas.microsoft.com/office/drawing/2014/main" id="{0B168BFB-4D4E-5F6A-9C6A-7A2F46C90AB4}"/>
              </a:ext>
            </a:extLst>
          </p:cNvPr>
          <p:cNvSpPr/>
          <p:nvPr/>
        </p:nvSpPr>
        <p:spPr>
          <a:xfrm>
            <a:off x="571500" y="821754"/>
            <a:ext cx="3487383" cy="32027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Validation par Jeu d'Essai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K-9-text-13">
            <a:extLst>
              <a:ext uri="{FF2B5EF4-FFF2-40B4-BE49-F238E27FC236}">
                <a16:creationId xmlns:a16="http://schemas.microsoft.com/office/drawing/2014/main" id="{45075A51-1732-F9F1-C02D-ADAF9DE35BDD}"/>
              </a:ext>
            </a:extLst>
          </p:cNvPr>
          <p:cNvSpPr/>
          <p:nvPr/>
        </p:nvSpPr>
        <p:spPr>
          <a:xfrm>
            <a:off x="684312" y="5569297"/>
            <a:ext cx="2194471" cy="5691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0F172A"/>
                </a:solidFill>
                <a:ea typeface="Inter" pitchFamily="34" charset="-122"/>
                <a:cs typeface="Inter" pitchFamily="34" charset="-120"/>
              </a:rPr>
              <a:t>Montants calculés</a:t>
            </a:r>
            <a:endParaRPr lang="en-US" sz="1875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0F172A"/>
                </a:solidFill>
                <a:ea typeface="Inter" pitchFamily="34" charset="-122"/>
                <a:cs typeface="Inter" pitchFamily="34" charset="-120"/>
              </a:rPr>
              <a:t>automatiquement</a:t>
            </a:r>
            <a:endParaRPr lang="en-US" sz="1875" dirty="0"/>
          </a:p>
        </p:txBody>
      </p:sp>
      <p:sp>
        <p:nvSpPr>
          <p:cNvPr id="29" name="SK-9-text-14">
            <a:extLst>
              <a:ext uri="{FF2B5EF4-FFF2-40B4-BE49-F238E27FC236}">
                <a16:creationId xmlns:a16="http://schemas.microsoft.com/office/drawing/2014/main" id="{FD3E64D5-55BA-D1E0-384F-53DA0C6B3516}"/>
              </a:ext>
            </a:extLst>
          </p:cNvPr>
          <p:cNvSpPr/>
          <p:nvPr/>
        </p:nvSpPr>
        <p:spPr>
          <a:xfrm>
            <a:off x="3537347" y="5569297"/>
            <a:ext cx="2157859" cy="5622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0F172A"/>
                </a:solidFill>
                <a:ea typeface="Inter" pitchFamily="34" charset="-122"/>
                <a:cs typeface="Inter" pitchFamily="34" charset="-120"/>
              </a:rPr>
              <a:t>Relations entre</a:t>
            </a:r>
            <a:endParaRPr lang="en-US" sz="1875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0F172A"/>
                </a:solidFill>
                <a:ea typeface="Inter" pitchFamily="34" charset="-122"/>
                <a:cs typeface="Inter" pitchFamily="34" charset="-120"/>
              </a:rPr>
              <a:t>tables respectées</a:t>
            </a:r>
            <a:endParaRPr lang="en-US" sz="1875" dirty="0"/>
          </a:p>
        </p:txBody>
      </p:sp>
      <p:sp>
        <p:nvSpPr>
          <p:cNvPr id="31" name="SK-9-text-15">
            <a:extLst>
              <a:ext uri="{FF2B5EF4-FFF2-40B4-BE49-F238E27FC236}">
                <a16:creationId xmlns:a16="http://schemas.microsoft.com/office/drawing/2014/main" id="{E9BE9CA5-1FCC-44AC-7744-624F34B4816D}"/>
              </a:ext>
            </a:extLst>
          </p:cNvPr>
          <p:cNvSpPr/>
          <p:nvPr/>
        </p:nvSpPr>
        <p:spPr>
          <a:xfrm>
            <a:off x="6390233" y="5569297"/>
            <a:ext cx="1743373" cy="5691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0F172A"/>
                </a:solidFill>
                <a:ea typeface="Inter" pitchFamily="34" charset="-122"/>
                <a:cs typeface="Inter" pitchFamily="34" charset="-120"/>
              </a:rPr>
              <a:t>Statut facture</a:t>
            </a:r>
            <a:endParaRPr lang="en-US" sz="1875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0F172A"/>
                </a:solidFill>
                <a:ea typeface="Inter" pitchFamily="34" charset="-122"/>
                <a:cs typeface="Inter" pitchFamily="34" charset="-120"/>
              </a:rPr>
              <a:t>→ "payée"</a:t>
            </a:r>
            <a:endParaRPr lang="en-US" sz="1875" dirty="0"/>
          </a:p>
        </p:txBody>
      </p:sp>
      <p:sp>
        <p:nvSpPr>
          <p:cNvPr id="33" name="SK-9-text-16">
            <a:extLst>
              <a:ext uri="{FF2B5EF4-FFF2-40B4-BE49-F238E27FC236}">
                <a16:creationId xmlns:a16="http://schemas.microsoft.com/office/drawing/2014/main" id="{D00D0CDB-717A-9ABC-C6CE-09160E867B3F}"/>
              </a:ext>
            </a:extLst>
          </p:cNvPr>
          <p:cNvSpPr/>
          <p:nvPr/>
        </p:nvSpPr>
        <p:spPr>
          <a:xfrm>
            <a:off x="9060210" y="5569297"/>
            <a:ext cx="2133600" cy="5622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0F172A"/>
                </a:solidFill>
                <a:ea typeface="Inter" pitchFamily="34" charset="-122"/>
                <a:cs typeface="Inter" pitchFamily="34" charset="-120"/>
              </a:rPr>
              <a:t>PDF générés</a:t>
            </a:r>
            <a:endParaRPr lang="en-US" sz="1875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0F172A"/>
                </a:solidFill>
                <a:ea typeface="Inter" pitchFamily="34" charset="-122"/>
                <a:cs typeface="Inter" pitchFamily="34" charset="-120"/>
              </a:rPr>
              <a:t>automatiquement</a:t>
            </a:r>
            <a:endParaRPr lang="en-US" sz="1875" dirty="0"/>
          </a:p>
        </p:txBody>
      </p:sp>
      <p:pic>
        <p:nvPicPr>
          <p:cNvPr id="35" name="SK-13-img-3" descr="preencoded.png">
            <a:extLst>
              <a:ext uri="{FF2B5EF4-FFF2-40B4-BE49-F238E27FC236}">
                <a16:creationId xmlns:a16="http://schemas.microsoft.com/office/drawing/2014/main" id="{E06AAF61-C551-B8FC-36FF-769E25A662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37" name="SK-13-img-4" descr="preencoded.png">
            <a:extLst>
              <a:ext uri="{FF2B5EF4-FFF2-40B4-BE49-F238E27FC236}">
                <a16:creationId xmlns:a16="http://schemas.microsoft.com/office/drawing/2014/main" id="{337BCD9B-3987-313B-1936-3C77D5E208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sp>
        <p:nvSpPr>
          <p:cNvPr id="39" name="SK-13-text-26">
            <a:extLst>
              <a:ext uri="{FF2B5EF4-FFF2-40B4-BE49-F238E27FC236}">
                <a16:creationId xmlns:a16="http://schemas.microsoft.com/office/drawing/2014/main" id="{59773C65-9F3A-DE37-BEA2-EE14BF099B44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pic>
        <p:nvPicPr>
          <p:cNvPr id="41" name="SK-9-img-9" descr="preencoded.png">
            <a:extLst>
              <a:ext uri="{FF2B5EF4-FFF2-40B4-BE49-F238E27FC236}">
                <a16:creationId xmlns:a16="http://schemas.microsoft.com/office/drawing/2014/main" id="{1F2A5CFD-19D8-4DB1-DDEA-C56E121580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518"/>
          <a:stretch>
            <a:fillRect/>
          </a:stretch>
        </p:blipFill>
        <p:spPr>
          <a:xfrm>
            <a:off x="6736769" y="1769268"/>
            <a:ext cx="5252932" cy="2374735"/>
          </a:xfrm>
          <a:prstGeom prst="rect">
            <a:avLst/>
          </a:prstGeom>
        </p:spPr>
      </p:pic>
      <p:sp>
        <p:nvSpPr>
          <p:cNvPr id="25" name="SK-9-text-12">
            <a:extLst>
              <a:ext uri="{FF2B5EF4-FFF2-40B4-BE49-F238E27FC236}">
                <a16:creationId xmlns:a16="http://schemas.microsoft.com/office/drawing/2014/main" id="{09CAF37F-4952-7088-23A3-C87EB2BE0FF9}"/>
              </a:ext>
            </a:extLst>
          </p:cNvPr>
          <p:cNvSpPr/>
          <p:nvPr/>
        </p:nvSpPr>
        <p:spPr>
          <a:xfrm>
            <a:off x="9080004" y="1769268"/>
            <a:ext cx="2380357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ea typeface="Inter" pitchFamily="34" charset="-122"/>
                <a:cs typeface="Inter" pitchFamily="34" charset="-120"/>
              </a:rPr>
              <a:t>*Interface réelle de l'application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1511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14-img-1" descr="preencoded.png">
            <a:extLst>
              <a:ext uri="{FF2B5EF4-FFF2-40B4-BE49-F238E27FC236}">
                <a16:creationId xmlns:a16="http://schemas.microsoft.com/office/drawing/2014/main" id="{A9E3D6C3-3BC2-AA0D-75C1-564332A9A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4-img-2" descr="preencoded.png">
            <a:extLst>
              <a:ext uri="{FF2B5EF4-FFF2-40B4-BE49-F238E27FC236}">
                <a16:creationId xmlns:a16="http://schemas.microsoft.com/office/drawing/2014/main" id="{76D08A5C-E8E0-B297-5F4F-8EE272227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SK-14-img-3" descr="preencoded.png">
            <a:extLst>
              <a:ext uri="{FF2B5EF4-FFF2-40B4-BE49-F238E27FC236}">
                <a16:creationId xmlns:a16="http://schemas.microsoft.com/office/drawing/2014/main" id="{36E70FFF-D041-20FA-1F82-6322C85F7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9" name="SK-14-img-4" descr="preencoded.png">
            <a:extLst>
              <a:ext uri="{FF2B5EF4-FFF2-40B4-BE49-F238E27FC236}">
                <a16:creationId xmlns:a16="http://schemas.microsoft.com/office/drawing/2014/main" id="{69D8840C-EB0B-F527-EAC8-B3F08E3D2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11" name="SK-14-img-5" descr="preencoded.png">
            <a:extLst>
              <a:ext uri="{FF2B5EF4-FFF2-40B4-BE49-F238E27FC236}">
                <a16:creationId xmlns:a16="http://schemas.microsoft.com/office/drawing/2014/main" id="{B9B10AED-BA0D-48D6-542A-C0D222022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506289"/>
            <a:ext cx="309563" cy="247650"/>
          </a:xfrm>
          <a:prstGeom prst="rect">
            <a:avLst/>
          </a:prstGeom>
        </p:spPr>
      </p:pic>
      <p:pic>
        <p:nvPicPr>
          <p:cNvPr id="13" name="SK-14-img-6" descr="preencoded.png">
            <a:extLst>
              <a:ext uri="{FF2B5EF4-FFF2-40B4-BE49-F238E27FC236}">
                <a16:creationId xmlns:a16="http://schemas.microsoft.com/office/drawing/2014/main" id="{66E1D182-AF83-138D-6C57-1931FA922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71217"/>
            <a:ext cx="309563" cy="247650"/>
          </a:xfrm>
          <a:prstGeom prst="rect">
            <a:avLst/>
          </a:prstGeom>
        </p:spPr>
      </p:pic>
      <p:pic>
        <p:nvPicPr>
          <p:cNvPr id="15" name="SK-14-img-7" descr="preencoded.png">
            <a:extLst>
              <a:ext uri="{FF2B5EF4-FFF2-40B4-BE49-F238E27FC236}">
                <a16:creationId xmlns:a16="http://schemas.microsoft.com/office/drawing/2014/main" id="{46802A99-5BBA-8957-49F5-71FD12F5E9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4636145"/>
            <a:ext cx="309563" cy="247650"/>
          </a:xfrm>
          <a:prstGeom prst="rect">
            <a:avLst/>
          </a:prstGeom>
        </p:spPr>
      </p:pic>
      <p:pic>
        <p:nvPicPr>
          <p:cNvPr id="17" name="SK-14-img-8" descr="preencoded.png">
            <a:extLst>
              <a:ext uri="{FF2B5EF4-FFF2-40B4-BE49-F238E27FC236}">
                <a16:creationId xmlns:a16="http://schemas.microsoft.com/office/drawing/2014/main" id="{0A5053CB-B528-FCB0-04B2-9F9EBA218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6011614"/>
            <a:ext cx="11049000" cy="390525"/>
          </a:xfrm>
          <a:prstGeom prst="rect">
            <a:avLst/>
          </a:prstGeom>
        </p:spPr>
      </p:pic>
      <p:pic>
        <p:nvPicPr>
          <p:cNvPr id="19" name="SK-14-img-9" descr="preencoded.png">
            <a:extLst>
              <a:ext uri="{FF2B5EF4-FFF2-40B4-BE49-F238E27FC236}">
                <a16:creationId xmlns:a16="http://schemas.microsoft.com/office/drawing/2014/main" id="{D6562796-000D-09DA-60E4-3BFC13C1D9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154192"/>
            <a:ext cx="166688" cy="137220"/>
          </a:xfrm>
          <a:prstGeom prst="rect">
            <a:avLst/>
          </a:prstGeom>
        </p:spPr>
      </p:pic>
      <p:sp>
        <p:nvSpPr>
          <p:cNvPr id="21" name="SK-14-text-10">
            <a:extLst>
              <a:ext uri="{FF2B5EF4-FFF2-40B4-BE49-F238E27FC236}">
                <a16:creationId xmlns:a16="http://schemas.microsoft.com/office/drawing/2014/main" id="{DB62AC58-0DD6-4D06-1D2D-C296DF2D62BD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23" name="SK-14-text-11">
            <a:extLst>
              <a:ext uri="{FF2B5EF4-FFF2-40B4-BE49-F238E27FC236}">
                <a16:creationId xmlns:a16="http://schemas.microsoft.com/office/drawing/2014/main" id="{C5690576-A893-9730-CE0A-341CFE83386A}"/>
              </a:ext>
            </a:extLst>
          </p:cNvPr>
          <p:cNvSpPr/>
          <p:nvPr/>
        </p:nvSpPr>
        <p:spPr>
          <a:xfrm>
            <a:off x="571500" y="704850"/>
            <a:ext cx="116205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Difficultés rencontrées &amp; Retour d'expérience</a:t>
            </a:r>
            <a:endParaRPr lang="en-US" sz="2400" dirty="0"/>
          </a:p>
        </p:txBody>
      </p:sp>
      <p:sp>
        <p:nvSpPr>
          <p:cNvPr id="25" name="SK-14-text-12">
            <a:extLst>
              <a:ext uri="{FF2B5EF4-FFF2-40B4-BE49-F238E27FC236}">
                <a16:creationId xmlns:a16="http://schemas.microsoft.com/office/drawing/2014/main" id="{144DB45E-DD29-6127-F914-DCC64B2B3224}"/>
              </a:ext>
            </a:extLst>
          </p:cNvPr>
          <p:cNvSpPr/>
          <p:nvPr/>
        </p:nvSpPr>
        <p:spPr>
          <a:xfrm>
            <a:off x="190500" y="1412081"/>
            <a:ext cx="13335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563EB">
                    <a:alpha val="20000"/>
                  </a:srgbClr>
                </a:solidFill>
              </a:rPr>
              <a:t>01</a:t>
            </a:r>
            <a:endParaRPr lang="en-US" sz="6000" dirty="0"/>
          </a:p>
        </p:txBody>
      </p:sp>
      <p:sp>
        <p:nvSpPr>
          <p:cNvPr id="27" name="SK-14-text-13">
            <a:extLst>
              <a:ext uri="{FF2B5EF4-FFF2-40B4-BE49-F238E27FC236}">
                <a16:creationId xmlns:a16="http://schemas.microsoft.com/office/drawing/2014/main" id="{9CB910FA-1620-48FE-EEA4-34775B5F0586}"/>
              </a:ext>
            </a:extLst>
          </p:cNvPr>
          <p:cNvSpPr/>
          <p:nvPr/>
        </p:nvSpPr>
        <p:spPr>
          <a:xfrm>
            <a:off x="2328863" y="1469231"/>
            <a:ext cx="9806940" cy="3219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166534"/>
                </a:solidFill>
              </a:rPr>
              <a:t>Logique métier &amp; Architecture BDD</a:t>
            </a:r>
            <a:endParaRPr lang="en-US" sz="1950" dirty="0"/>
          </a:p>
        </p:txBody>
      </p:sp>
      <p:sp>
        <p:nvSpPr>
          <p:cNvPr id="29" name="SK-14-text-14">
            <a:extLst>
              <a:ext uri="{FF2B5EF4-FFF2-40B4-BE49-F238E27FC236}">
                <a16:creationId xmlns:a16="http://schemas.microsoft.com/office/drawing/2014/main" id="{46BCE172-67D2-1C61-737E-2E55FDF8AAB2}"/>
              </a:ext>
            </a:extLst>
          </p:cNvPr>
          <p:cNvSpPr/>
          <p:nvPr/>
        </p:nvSpPr>
        <p:spPr>
          <a:xfrm>
            <a:off x="2085975" y="1886396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Gestion complexe de l'enchaînement des statuts (Devis → Facture → Paiement → Relance).</a:t>
            </a:r>
            <a:endParaRPr lang="en-US" sz="1275" dirty="0"/>
          </a:p>
        </p:txBody>
      </p:sp>
      <p:sp>
        <p:nvSpPr>
          <p:cNvPr id="31" name="SK-14-text-15">
            <a:extLst>
              <a:ext uri="{FF2B5EF4-FFF2-40B4-BE49-F238E27FC236}">
                <a16:creationId xmlns:a16="http://schemas.microsoft.com/office/drawing/2014/main" id="{D038B449-3616-B3CE-F706-E95AF4FC28D0}"/>
              </a:ext>
            </a:extLst>
          </p:cNvPr>
          <p:cNvSpPr/>
          <p:nvPr/>
        </p:nvSpPr>
        <p:spPr>
          <a:xfrm>
            <a:off x="2085975" y="2186434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Modélisation des relations SQL avec Sequelize (8 tables, cascades, jointures multiples).</a:t>
            </a:r>
            <a:endParaRPr lang="en-US" sz="1275" dirty="0"/>
          </a:p>
        </p:txBody>
      </p:sp>
      <p:sp>
        <p:nvSpPr>
          <p:cNvPr id="33" name="SK-14-text-16">
            <a:extLst>
              <a:ext uri="{FF2B5EF4-FFF2-40B4-BE49-F238E27FC236}">
                <a16:creationId xmlns:a16="http://schemas.microsoft.com/office/drawing/2014/main" id="{CD22ACCC-784F-2DF5-EE63-98F453A84CAF}"/>
              </a:ext>
            </a:extLst>
          </p:cNvPr>
          <p:cNvSpPr/>
          <p:nvPr/>
        </p:nvSpPr>
        <p:spPr>
          <a:xfrm>
            <a:off x="2085975" y="2486471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Automatisation des calculs financiers (taxes, pénalités de retard, frais de déplacement).</a:t>
            </a:r>
            <a:endParaRPr lang="en-US" sz="1275" dirty="0"/>
          </a:p>
        </p:txBody>
      </p:sp>
      <p:sp>
        <p:nvSpPr>
          <p:cNvPr id="35" name="SK-14-text-17">
            <a:extLst>
              <a:ext uri="{FF2B5EF4-FFF2-40B4-BE49-F238E27FC236}">
                <a16:creationId xmlns:a16="http://schemas.microsoft.com/office/drawing/2014/main" id="{D689685C-5214-EFE1-F909-BF544EFACC38}"/>
              </a:ext>
            </a:extLst>
          </p:cNvPr>
          <p:cNvSpPr/>
          <p:nvPr/>
        </p:nvSpPr>
        <p:spPr>
          <a:xfrm>
            <a:off x="190500" y="2977009"/>
            <a:ext cx="13335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563EB">
                    <a:alpha val="20000"/>
                  </a:srgbClr>
                </a:solidFill>
              </a:rPr>
              <a:t>02</a:t>
            </a:r>
            <a:endParaRPr lang="en-US" sz="6000" dirty="0"/>
          </a:p>
        </p:txBody>
      </p:sp>
      <p:sp>
        <p:nvSpPr>
          <p:cNvPr id="37" name="SK-14-text-18">
            <a:extLst>
              <a:ext uri="{FF2B5EF4-FFF2-40B4-BE49-F238E27FC236}">
                <a16:creationId xmlns:a16="http://schemas.microsoft.com/office/drawing/2014/main" id="{86474708-738D-CAE3-F8D0-5FE7E60EF84F}"/>
              </a:ext>
            </a:extLst>
          </p:cNvPr>
          <p:cNvSpPr/>
          <p:nvPr/>
        </p:nvSpPr>
        <p:spPr>
          <a:xfrm>
            <a:off x="2328863" y="3034159"/>
            <a:ext cx="9715500" cy="3219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166534"/>
                </a:solidFill>
              </a:rPr>
              <a:t>Génération PDF &amp; Puppeteer</a:t>
            </a:r>
            <a:endParaRPr lang="en-US" sz="1950" dirty="0"/>
          </a:p>
        </p:txBody>
      </p:sp>
      <p:sp>
        <p:nvSpPr>
          <p:cNvPr id="39" name="SK-14-text-19">
            <a:extLst>
              <a:ext uri="{FF2B5EF4-FFF2-40B4-BE49-F238E27FC236}">
                <a16:creationId xmlns:a16="http://schemas.microsoft.com/office/drawing/2014/main" id="{473FAF30-A5B5-94DC-53B1-FD27118A5881}"/>
              </a:ext>
            </a:extLst>
          </p:cNvPr>
          <p:cNvSpPr/>
          <p:nvPr/>
        </p:nvSpPr>
        <p:spPr>
          <a:xfrm>
            <a:off x="2085975" y="3451324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Mise en page rigoureuse des templates HTML pour un rendu PDF professionnel fidèle.</a:t>
            </a:r>
            <a:endParaRPr lang="en-US" sz="1275" dirty="0"/>
          </a:p>
        </p:txBody>
      </p:sp>
      <p:sp>
        <p:nvSpPr>
          <p:cNvPr id="41" name="SK-14-text-20">
            <a:extLst>
              <a:ext uri="{FF2B5EF4-FFF2-40B4-BE49-F238E27FC236}">
                <a16:creationId xmlns:a16="http://schemas.microsoft.com/office/drawing/2014/main" id="{D082FEEA-76D7-AEA3-DDEB-196EFD232645}"/>
              </a:ext>
            </a:extLst>
          </p:cNvPr>
          <p:cNvSpPr/>
          <p:nvPr/>
        </p:nvSpPr>
        <p:spPr>
          <a:xfrm>
            <a:off x="2085975" y="3751362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Injection dynamique des données et correction de bugs de formatage (calculs numériques).</a:t>
            </a:r>
            <a:endParaRPr lang="en-US" sz="1275" dirty="0"/>
          </a:p>
        </p:txBody>
      </p:sp>
      <p:sp>
        <p:nvSpPr>
          <p:cNvPr id="43" name="SK-14-text-21">
            <a:extLst>
              <a:ext uri="{FF2B5EF4-FFF2-40B4-BE49-F238E27FC236}">
                <a16:creationId xmlns:a16="http://schemas.microsoft.com/office/drawing/2014/main" id="{5CED3CBA-FD10-61D9-E0DC-D5EC8A939247}"/>
              </a:ext>
            </a:extLst>
          </p:cNvPr>
          <p:cNvSpPr/>
          <p:nvPr/>
        </p:nvSpPr>
        <p:spPr>
          <a:xfrm>
            <a:off x="2085975" y="4051399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Optimisation de la génération côté serveur sans impacter les performances de l'API.</a:t>
            </a:r>
            <a:endParaRPr lang="en-US" sz="1275" dirty="0"/>
          </a:p>
        </p:txBody>
      </p:sp>
      <p:sp>
        <p:nvSpPr>
          <p:cNvPr id="45" name="SK-14-text-22">
            <a:extLst>
              <a:ext uri="{FF2B5EF4-FFF2-40B4-BE49-F238E27FC236}">
                <a16:creationId xmlns:a16="http://schemas.microsoft.com/office/drawing/2014/main" id="{0BC86D1D-8F0B-4089-24BD-1F24DBEF5564}"/>
              </a:ext>
            </a:extLst>
          </p:cNvPr>
          <p:cNvSpPr/>
          <p:nvPr/>
        </p:nvSpPr>
        <p:spPr>
          <a:xfrm>
            <a:off x="190500" y="4541937"/>
            <a:ext cx="13335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563EB">
                    <a:alpha val="20000"/>
                  </a:srgbClr>
                </a:solidFill>
              </a:rPr>
              <a:t>03</a:t>
            </a:r>
            <a:endParaRPr lang="en-US" sz="6000" dirty="0"/>
          </a:p>
        </p:txBody>
      </p:sp>
      <p:sp>
        <p:nvSpPr>
          <p:cNvPr id="47" name="SK-14-text-23">
            <a:extLst>
              <a:ext uri="{FF2B5EF4-FFF2-40B4-BE49-F238E27FC236}">
                <a16:creationId xmlns:a16="http://schemas.microsoft.com/office/drawing/2014/main" id="{DE390861-9932-123B-4E96-3C1BA5371C01}"/>
              </a:ext>
            </a:extLst>
          </p:cNvPr>
          <p:cNvSpPr/>
          <p:nvPr/>
        </p:nvSpPr>
        <p:spPr>
          <a:xfrm>
            <a:off x="2328863" y="4599087"/>
            <a:ext cx="9806940" cy="3219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166534"/>
                </a:solidFill>
              </a:rPr>
              <a:t>Déploiement &amp; Environnement Cloud</a:t>
            </a:r>
            <a:endParaRPr lang="en-US" sz="1950" dirty="0"/>
          </a:p>
        </p:txBody>
      </p:sp>
      <p:sp>
        <p:nvSpPr>
          <p:cNvPr id="49" name="SK-14-text-24">
            <a:extLst>
              <a:ext uri="{FF2B5EF4-FFF2-40B4-BE49-F238E27FC236}">
                <a16:creationId xmlns:a16="http://schemas.microsoft.com/office/drawing/2014/main" id="{4F9C2872-F06E-ECE1-CB8E-FAAC956077E3}"/>
              </a:ext>
            </a:extLst>
          </p:cNvPr>
          <p:cNvSpPr/>
          <p:nvPr/>
        </p:nvSpPr>
        <p:spPr>
          <a:xfrm>
            <a:off x="2085975" y="5016252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Configuration SSL spécifique pour la connexion sécurisée entre Render et Aiven.</a:t>
            </a:r>
            <a:endParaRPr lang="en-US" sz="1275" dirty="0"/>
          </a:p>
        </p:txBody>
      </p:sp>
      <p:sp>
        <p:nvSpPr>
          <p:cNvPr id="51" name="SK-14-text-25">
            <a:extLst>
              <a:ext uri="{FF2B5EF4-FFF2-40B4-BE49-F238E27FC236}">
                <a16:creationId xmlns:a16="http://schemas.microsoft.com/office/drawing/2014/main" id="{ABCD9319-2066-AD11-926B-6B0D74E71097}"/>
              </a:ext>
            </a:extLst>
          </p:cNvPr>
          <p:cNvSpPr/>
          <p:nvPr/>
        </p:nvSpPr>
        <p:spPr>
          <a:xfrm>
            <a:off x="2085975" y="5316289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Gestion stricte des variables d'environnement entre le local et la production.</a:t>
            </a:r>
            <a:endParaRPr lang="en-US" sz="1275" dirty="0"/>
          </a:p>
        </p:txBody>
      </p:sp>
      <p:sp>
        <p:nvSpPr>
          <p:cNvPr id="53" name="SK-14-text-26">
            <a:extLst>
              <a:ext uri="{FF2B5EF4-FFF2-40B4-BE49-F238E27FC236}">
                <a16:creationId xmlns:a16="http://schemas.microsoft.com/office/drawing/2014/main" id="{FD1C4B37-706C-CCFF-7AF2-E00FB32B2C56}"/>
              </a:ext>
            </a:extLst>
          </p:cNvPr>
          <p:cNvSpPr/>
          <p:nvPr/>
        </p:nvSpPr>
        <p:spPr>
          <a:xfrm>
            <a:off x="2085975" y="5616327"/>
            <a:ext cx="1010602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Synchronisation des flux de données asynchrones entre le Front-end et le Back-end.</a:t>
            </a:r>
            <a:endParaRPr lang="en-US" sz="1275" dirty="0"/>
          </a:p>
        </p:txBody>
      </p:sp>
      <p:sp>
        <p:nvSpPr>
          <p:cNvPr id="55" name="SK-14-text-27">
            <a:extLst>
              <a:ext uri="{FF2B5EF4-FFF2-40B4-BE49-F238E27FC236}">
                <a16:creationId xmlns:a16="http://schemas.microsoft.com/office/drawing/2014/main" id="{313B84A9-524D-4964-2092-182A5DE36125}"/>
              </a:ext>
            </a:extLst>
          </p:cNvPr>
          <p:cNvSpPr/>
          <p:nvPr/>
        </p:nvSpPr>
        <p:spPr>
          <a:xfrm>
            <a:off x="852488" y="6106864"/>
            <a:ext cx="11339513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 Le développement en autonomie complète a nécessité une priorisation constante des fonctionnalités sous contrainte de temps pour garantir un produit fini et sécurisé.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81218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15-img-1" descr="preencoded.png">
            <a:extLst>
              <a:ext uri="{FF2B5EF4-FFF2-40B4-BE49-F238E27FC236}">
                <a16:creationId xmlns:a16="http://schemas.microsoft.com/office/drawing/2014/main" id="{FB76C198-EFC7-57C9-9CAB-136F17FD9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5-img-2" descr="preencoded.png">
            <a:extLst>
              <a:ext uri="{FF2B5EF4-FFF2-40B4-BE49-F238E27FC236}">
                <a16:creationId xmlns:a16="http://schemas.microsoft.com/office/drawing/2014/main" id="{A013198A-2926-CFF4-6242-C05761E3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SK-15-img-3" descr="preencoded.png">
            <a:extLst>
              <a:ext uri="{FF2B5EF4-FFF2-40B4-BE49-F238E27FC236}">
                <a16:creationId xmlns:a16="http://schemas.microsoft.com/office/drawing/2014/main" id="{6EC8C438-945A-ECF3-F520-9E1768E29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9" name="SK-15-img-4" descr="preencoded.png">
            <a:extLst>
              <a:ext uri="{FF2B5EF4-FFF2-40B4-BE49-F238E27FC236}">
                <a16:creationId xmlns:a16="http://schemas.microsoft.com/office/drawing/2014/main" id="{66B82C5D-3717-8B0A-99DD-6BFC6CD0C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11" name="SK-15-img-5" descr="preencoded.png">
            <a:extLst>
              <a:ext uri="{FF2B5EF4-FFF2-40B4-BE49-F238E27FC236}">
                <a16:creationId xmlns:a16="http://schemas.microsoft.com/office/drawing/2014/main" id="{948D6D59-3E20-A05A-C969-AF49878F8F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61021"/>
            <a:ext cx="11049000" cy="239911"/>
          </a:xfrm>
          <a:prstGeom prst="rect">
            <a:avLst/>
          </a:prstGeom>
        </p:spPr>
      </p:pic>
      <p:pic>
        <p:nvPicPr>
          <p:cNvPr id="13" name="SK-15-img-6" descr="preencoded.png">
            <a:extLst>
              <a:ext uri="{FF2B5EF4-FFF2-40B4-BE49-F238E27FC236}">
                <a16:creationId xmlns:a16="http://schemas.microsoft.com/office/drawing/2014/main" id="{38BF48C6-BCCD-2276-18A5-1D729E66D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29532"/>
            <a:ext cx="3530650" cy="3999756"/>
          </a:xfrm>
          <a:prstGeom prst="rect">
            <a:avLst/>
          </a:prstGeom>
        </p:spPr>
      </p:pic>
      <p:pic>
        <p:nvPicPr>
          <p:cNvPr id="15" name="SK-15-img-7" descr="preencoded.png">
            <a:extLst>
              <a:ext uri="{FF2B5EF4-FFF2-40B4-BE49-F238E27FC236}">
                <a16:creationId xmlns:a16="http://schemas.microsoft.com/office/drawing/2014/main" id="{66BE78FF-5EC4-624D-FD37-19367354D7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958132"/>
            <a:ext cx="457200" cy="457200"/>
          </a:xfrm>
          <a:prstGeom prst="rect">
            <a:avLst/>
          </a:prstGeom>
        </p:spPr>
      </p:pic>
      <p:pic>
        <p:nvPicPr>
          <p:cNvPr id="17" name="SK-15-img-8" descr="preencoded.png">
            <a:extLst>
              <a:ext uri="{FF2B5EF4-FFF2-40B4-BE49-F238E27FC236}">
                <a16:creationId xmlns:a16="http://schemas.microsoft.com/office/drawing/2014/main" id="{F31EC7BA-9DEA-6C36-1277-9D5301EE22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638" y="2091482"/>
            <a:ext cx="238125" cy="190500"/>
          </a:xfrm>
          <a:prstGeom prst="rect">
            <a:avLst/>
          </a:prstGeom>
        </p:spPr>
      </p:pic>
      <p:pic>
        <p:nvPicPr>
          <p:cNvPr id="19" name="SK-15-img-9" descr="preencoded.png">
            <a:extLst>
              <a:ext uri="{FF2B5EF4-FFF2-40B4-BE49-F238E27FC236}">
                <a16:creationId xmlns:a16="http://schemas.microsoft.com/office/drawing/2014/main" id="{CEC00868-91FB-E9A0-F7C3-095CEEEBA3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653457"/>
            <a:ext cx="142875" cy="155823"/>
          </a:xfrm>
          <a:prstGeom prst="rect">
            <a:avLst/>
          </a:prstGeom>
        </p:spPr>
      </p:pic>
      <p:pic>
        <p:nvPicPr>
          <p:cNvPr id="21" name="SK-15-img-10" descr="preencoded.png">
            <a:extLst>
              <a:ext uri="{FF2B5EF4-FFF2-40B4-BE49-F238E27FC236}">
                <a16:creationId xmlns:a16="http://schemas.microsoft.com/office/drawing/2014/main" id="{0727562E-E226-AF4E-9416-F6EB72A887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194298"/>
            <a:ext cx="142875" cy="155823"/>
          </a:xfrm>
          <a:prstGeom prst="rect">
            <a:avLst/>
          </a:prstGeom>
        </p:spPr>
      </p:pic>
      <p:pic>
        <p:nvPicPr>
          <p:cNvPr id="23" name="SK-15-img-11" descr="preencoded.png">
            <a:extLst>
              <a:ext uri="{FF2B5EF4-FFF2-40B4-BE49-F238E27FC236}">
                <a16:creationId xmlns:a16="http://schemas.microsoft.com/office/drawing/2014/main" id="{E0E96034-BB45-378D-20D4-3F838ECBC6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735139"/>
            <a:ext cx="142875" cy="131862"/>
          </a:xfrm>
          <a:prstGeom prst="rect">
            <a:avLst/>
          </a:prstGeom>
        </p:spPr>
      </p:pic>
      <p:pic>
        <p:nvPicPr>
          <p:cNvPr id="25" name="SK-15-img-12" descr="preencoded.png">
            <a:extLst>
              <a:ext uri="{FF2B5EF4-FFF2-40B4-BE49-F238E27FC236}">
                <a16:creationId xmlns:a16="http://schemas.microsoft.com/office/drawing/2014/main" id="{894A4FFB-F3CB-0A3D-E4C1-6D270D6BB00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266456"/>
            <a:ext cx="1162050" cy="261937"/>
          </a:xfrm>
          <a:prstGeom prst="rect">
            <a:avLst/>
          </a:prstGeom>
        </p:spPr>
      </p:pic>
      <p:pic>
        <p:nvPicPr>
          <p:cNvPr id="27" name="SK-15-img-13" descr="preencoded.png">
            <a:extLst>
              <a:ext uri="{FF2B5EF4-FFF2-40B4-BE49-F238E27FC236}">
                <a16:creationId xmlns:a16="http://schemas.microsoft.com/office/drawing/2014/main" id="{C5FA9B4D-8396-26A4-B79A-5CEF1F3911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0750" y="1729532"/>
            <a:ext cx="3530650" cy="3999756"/>
          </a:xfrm>
          <a:prstGeom prst="rect">
            <a:avLst/>
          </a:prstGeom>
        </p:spPr>
      </p:pic>
      <p:pic>
        <p:nvPicPr>
          <p:cNvPr id="29" name="SK-15-img-14" descr="preencoded.png">
            <a:extLst>
              <a:ext uri="{FF2B5EF4-FFF2-40B4-BE49-F238E27FC236}">
                <a16:creationId xmlns:a16="http://schemas.microsoft.com/office/drawing/2014/main" id="{BCED7B57-F8C4-1801-A5E3-0C60F5A82C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350" y="1958132"/>
            <a:ext cx="457200" cy="457200"/>
          </a:xfrm>
          <a:prstGeom prst="rect">
            <a:avLst/>
          </a:prstGeom>
        </p:spPr>
      </p:pic>
      <p:pic>
        <p:nvPicPr>
          <p:cNvPr id="31" name="SK-15-img-15" descr="preencoded.png">
            <a:extLst>
              <a:ext uri="{FF2B5EF4-FFF2-40B4-BE49-F238E27FC236}">
                <a16:creationId xmlns:a16="http://schemas.microsoft.com/office/drawing/2014/main" id="{B17B5FA4-CC30-9143-D5A2-74A119BBD49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8887" y="2091482"/>
            <a:ext cx="238125" cy="190500"/>
          </a:xfrm>
          <a:prstGeom prst="rect">
            <a:avLst/>
          </a:prstGeom>
        </p:spPr>
      </p:pic>
      <p:pic>
        <p:nvPicPr>
          <p:cNvPr id="33" name="SK-15-img-16" descr="preencoded.png">
            <a:extLst>
              <a:ext uri="{FF2B5EF4-FFF2-40B4-BE49-F238E27FC236}">
                <a16:creationId xmlns:a16="http://schemas.microsoft.com/office/drawing/2014/main" id="{8D9641E2-551B-35D3-959F-BC78446C55C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59350" y="2653457"/>
            <a:ext cx="142875" cy="131862"/>
          </a:xfrm>
          <a:prstGeom prst="rect">
            <a:avLst/>
          </a:prstGeom>
        </p:spPr>
      </p:pic>
      <p:pic>
        <p:nvPicPr>
          <p:cNvPr id="35" name="SK-15-img-17" descr="preencoded.png">
            <a:extLst>
              <a:ext uri="{FF2B5EF4-FFF2-40B4-BE49-F238E27FC236}">
                <a16:creationId xmlns:a16="http://schemas.microsoft.com/office/drawing/2014/main" id="{E545A8F6-1D90-CFBD-8218-481E6A34B8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9350" y="3194298"/>
            <a:ext cx="142875" cy="155823"/>
          </a:xfrm>
          <a:prstGeom prst="rect">
            <a:avLst/>
          </a:prstGeom>
        </p:spPr>
      </p:pic>
      <p:pic>
        <p:nvPicPr>
          <p:cNvPr id="37" name="SK-15-img-18" descr="preencoded.png">
            <a:extLst>
              <a:ext uri="{FF2B5EF4-FFF2-40B4-BE49-F238E27FC236}">
                <a16:creationId xmlns:a16="http://schemas.microsoft.com/office/drawing/2014/main" id="{1BBE2949-B0D6-7173-718D-9810F77491B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9350" y="3735139"/>
            <a:ext cx="142875" cy="142875"/>
          </a:xfrm>
          <a:prstGeom prst="rect">
            <a:avLst/>
          </a:prstGeom>
        </p:spPr>
      </p:pic>
      <p:pic>
        <p:nvPicPr>
          <p:cNvPr id="39" name="SK-15-img-19" descr="preencoded.png">
            <a:extLst>
              <a:ext uri="{FF2B5EF4-FFF2-40B4-BE49-F238E27FC236}">
                <a16:creationId xmlns:a16="http://schemas.microsoft.com/office/drawing/2014/main" id="{C07A364D-C196-C922-2945-F2091259DB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9350" y="4266456"/>
            <a:ext cx="1609725" cy="261937"/>
          </a:xfrm>
          <a:prstGeom prst="rect">
            <a:avLst/>
          </a:prstGeom>
        </p:spPr>
      </p:pic>
      <p:pic>
        <p:nvPicPr>
          <p:cNvPr id="41" name="SK-15-img-20" descr="preencoded.png">
            <a:extLst>
              <a:ext uri="{FF2B5EF4-FFF2-40B4-BE49-F238E27FC236}">
                <a16:creationId xmlns:a16="http://schemas.microsoft.com/office/drawing/2014/main" id="{9474AC28-87D0-0A48-3CC4-F37C1DED8A2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9999" y="1729532"/>
            <a:ext cx="3530650" cy="3999756"/>
          </a:xfrm>
          <a:prstGeom prst="rect">
            <a:avLst/>
          </a:prstGeom>
        </p:spPr>
      </p:pic>
      <p:pic>
        <p:nvPicPr>
          <p:cNvPr id="43" name="SK-15-img-21" descr="preencoded.png">
            <a:extLst>
              <a:ext uri="{FF2B5EF4-FFF2-40B4-BE49-F238E27FC236}">
                <a16:creationId xmlns:a16="http://schemas.microsoft.com/office/drawing/2014/main" id="{F83E9E5B-37C8-B115-46A5-53501998252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8599" y="1958132"/>
            <a:ext cx="457200" cy="457200"/>
          </a:xfrm>
          <a:prstGeom prst="rect">
            <a:avLst/>
          </a:prstGeom>
        </p:spPr>
      </p:pic>
      <p:pic>
        <p:nvPicPr>
          <p:cNvPr id="45" name="SK-15-img-22" descr="preencoded.png">
            <a:extLst>
              <a:ext uri="{FF2B5EF4-FFF2-40B4-BE49-F238E27FC236}">
                <a16:creationId xmlns:a16="http://schemas.microsoft.com/office/drawing/2014/main" id="{D7598BBF-4AAA-20A6-CE23-D5A85811B51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28137" y="2091482"/>
            <a:ext cx="238125" cy="190500"/>
          </a:xfrm>
          <a:prstGeom prst="rect">
            <a:avLst/>
          </a:prstGeom>
        </p:spPr>
      </p:pic>
      <p:pic>
        <p:nvPicPr>
          <p:cNvPr id="47" name="SK-15-img-23" descr="preencoded.png">
            <a:extLst>
              <a:ext uri="{FF2B5EF4-FFF2-40B4-BE49-F238E27FC236}">
                <a16:creationId xmlns:a16="http://schemas.microsoft.com/office/drawing/2014/main" id="{1A223AC8-AF26-A7CC-0E19-F96224ACE8C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599" y="2653457"/>
            <a:ext cx="142875" cy="142875"/>
          </a:xfrm>
          <a:prstGeom prst="rect">
            <a:avLst/>
          </a:prstGeom>
        </p:spPr>
      </p:pic>
      <p:pic>
        <p:nvPicPr>
          <p:cNvPr id="49" name="SK-15-img-24" descr="preencoded.png">
            <a:extLst>
              <a:ext uri="{FF2B5EF4-FFF2-40B4-BE49-F238E27FC236}">
                <a16:creationId xmlns:a16="http://schemas.microsoft.com/office/drawing/2014/main" id="{95783BCA-2A9C-7128-B6E3-F89ECC73282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18599" y="3194298"/>
            <a:ext cx="142875" cy="131862"/>
          </a:xfrm>
          <a:prstGeom prst="rect">
            <a:avLst/>
          </a:prstGeom>
        </p:spPr>
      </p:pic>
      <p:pic>
        <p:nvPicPr>
          <p:cNvPr id="51" name="SK-15-img-25" descr="preencoded.png">
            <a:extLst>
              <a:ext uri="{FF2B5EF4-FFF2-40B4-BE49-F238E27FC236}">
                <a16:creationId xmlns:a16="http://schemas.microsoft.com/office/drawing/2014/main" id="{C6807DB9-CE2D-634E-02C2-85D3A6D3778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18599" y="3735139"/>
            <a:ext cx="142875" cy="122337"/>
          </a:xfrm>
          <a:prstGeom prst="rect">
            <a:avLst/>
          </a:prstGeom>
        </p:spPr>
      </p:pic>
      <p:pic>
        <p:nvPicPr>
          <p:cNvPr id="53" name="SK-15-img-26" descr="preencoded.png">
            <a:extLst>
              <a:ext uri="{FF2B5EF4-FFF2-40B4-BE49-F238E27FC236}">
                <a16:creationId xmlns:a16="http://schemas.microsoft.com/office/drawing/2014/main" id="{984F9DD9-6F96-2CEF-E594-5EB0833DD30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18599" y="4266456"/>
            <a:ext cx="1533525" cy="261937"/>
          </a:xfrm>
          <a:prstGeom prst="rect">
            <a:avLst/>
          </a:prstGeom>
        </p:spPr>
      </p:pic>
      <p:pic>
        <p:nvPicPr>
          <p:cNvPr id="55" name="SK-15-img-27" descr="preencoded.png">
            <a:extLst>
              <a:ext uri="{FF2B5EF4-FFF2-40B4-BE49-F238E27FC236}">
                <a16:creationId xmlns:a16="http://schemas.microsoft.com/office/drawing/2014/main" id="{EF57F143-7FE5-5ADA-92F5-34000A4A73A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5957888"/>
            <a:ext cx="11049000" cy="519113"/>
          </a:xfrm>
          <a:prstGeom prst="rect">
            <a:avLst/>
          </a:prstGeom>
        </p:spPr>
      </p:pic>
      <p:pic>
        <p:nvPicPr>
          <p:cNvPr id="57" name="SK-15-img-28" descr="preencoded.png">
            <a:extLst>
              <a:ext uri="{FF2B5EF4-FFF2-40B4-BE49-F238E27FC236}">
                <a16:creationId xmlns:a16="http://schemas.microsoft.com/office/drawing/2014/main" id="{2660DF9B-21C3-E6BF-9AB7-F0A820371F5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0100" y="6141244"/>
            <a:ext cx="190500" cy="152400"/>
          </a:xfrm>
          <a:prstGeom prst="rect">
            <a:avLst/>
          </a:prstGeom>
        </p:spPr>
      </p:pic>
      <p:sp>
        <p:nvSpPr>
          <p:cNvPr id="59" name="SK-15-text-29">
            <a:extLst>
              <a:ext uri="{FF2B5EF4-FFF2-40B4-BE49-F238E27FC236}">
                <a16:creationId xmlns:a16="http://schemas.microsoft.com/office/drawing/2014/main" id="{27812CCF-CCC5-9E88-EA46-A3BADFF7BF6C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61" name="SK-15-text-30">
            <a:extLst>
              <a:ext uri="{FF2B5EF4-FFF2-40B4-BE49-F238E27FC236}">
                <a16:creationId xmlns:a16="http://schemas.microsoft.com/office/drawing/2014/main" id="{178E5DB5-1718-9105-D100-9641067974F8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Perspectives d'évolution</a:t>
            </a:r>
            <a:endParaRPr lang="en-US" sz="2400" dirty="0"/>
          </a:p>
        </p:txBody>
      </p:sp>
      <p:sp>
        <p:nvSpPr>
          <p:cNvPr id="63" name="SK-15-text-31">
            <a:extLst>
              <a:ext uri="{FF2B5EF4-FFF2-40B4-BE49-F238E27FC236}">
                <a16:creationId xmlns:a16="http://schemas.microsoft.com/office/drawing/2014/main" id="{AC200022-1696-8B39-9B59-8BB5C6FC82AF}"/>
              </a:ext>
            </a:extLst>
          </p:cNvPr>
          <p:cNvSpPr/>
          <p:nvPr/>
        </p:nvSpPr>
        <p:spPr>
          <a:xfrm>
            <a:off x="723900" y="1261021"/>
            <a:ext cx="11468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Axes d'amélioration identifiés pour garantir la pérennité et la montée en charge de l'application.</a:t>
            </a:r>
            <a:endParaRPr lang="en-US" sz="1350" dirty="0"/>
          </a:p>
        </p:txBody>
      </p:sp>
      <p:sp>
        <p:nvSpPr>
          <p:cNvPr id="65" name="SK-15-text-32">
            <a:extLst>
              <a:ext uri="{FF2B5EF4-FFF2-40B4-BE49-F238E27FC236}">
                <a16:creationId xmlns:a16="http://schemas.microsoft.com/office/drawing/2014/main" id="{2F79C806-FFD3-BBF0-2589-E7A3CA237B06}"/>
              </a:ext>
            </a:extLst>
          </p:cNvPr>
          <p:cNvSpPr/>
          <p:nvPr/>
        </p:nvSpPr>
        <p:spPr>
          <a:xfrm>
            <a:off x="1409700" y="2043857"/>
            <a:ext cx="2609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Fonctionnel</a:t>
            </a:r>
            <a:endParaRPr lang="en-US" sz="1500" dirty="0"/>
          </a:p>
        </p:txBody>
      </p:sp>
      <p:sp>
        <p:nvSpPr>
          <p:cNvPr id="67" name="SK-15-text-33">
            <a:extLst>
              <a:ext uri="{FF2B5EF4-FFF2-40B4-BE49-F238E27FC236}">
                <a16:creationId xmlns:a16="http://schemas.microsoft.com/office/drawing/2014/main" id="{B20ACD69-4760-C619-F96A-8F00B4F72A4A}"/>
              </a:ext>
            </a:extLst>
          </p:cNvPr>
          <p:cNvSpPr/>
          <p:nvPr/>
        </p:nvSpPr>
        <p:spPr>
          <a:xfrm>
            <a:off x="1038225" y="2605832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Gestion des acomptes (déjà identifié en issue GitHub)</a:t>
            </a:r>
            <a:endParaRPr lang="en-US" sz="1200" dirty="0"/>
          </a:p>
        </p:txBody>
      </p:sp>
      <p:sp>
        <p:nvSpPr>
          <p:cNvPr id="69" name="SK-15-text-34">
            <a:extLst>
              <a:ext uri="{FF2B5EF4-FFF2-40B4-BE49-F238E27FC236}">
                <a16:creationId xmlns:a16="http://schemas.microsoft.com/office/drawing/2014/main" id="{B83B5E3B-0037-98BB-F576-64384AC3C829}"/>
              </a:ext>
            </a:extLst>
          </p:cNvPr>
          <p:cNvSpPr/>
          <p:nvPr/>
        </p:nvSpPr>
        <p:spPr>
          <a:xfrm>
            <a:off x="1038225" y="3146673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Export comptable avancé (Rapports PDF globaux)</a:t>
            </a:r>
            <a:endParaRPr lang="en-US" sz="1200" dirty="0"/>
          </a:p>
        </p:txBody>
      </p:sp>
      <p:sp>
        <p:nvSpPr>
          <p:cNvPr id="71" name="SK-15-text-35">
            <a:extLst>
              <a:ext uri="{FF2B5EF4-FFF2-40B4-BE49-F238E27FC236}">
                <a16:creationId xmlns:a16="http://schemas.microsoft.com/office/drawing/2014/main" id="{E958DCCB-7DB0-A32A-E5B4-E9F50E286AE9}"/>
              </a:ext>
            </a:extLst>
          </p:cNvPr>
          <p:cNvSpPr/>
          <p:nvPr/>
        </p:nvSpPr>
        <p:spPr>
          <a:xfrm>
            <a:off x="1038225" y="3687514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Système multi-utilisateurs avec rôles avancés</a:t>
            </a:r>
            <a:endParaRPr lang="en-US" sz="1200" dirty="0"/>
          </a:p>
        </p:txBody>
      </p:sp>
      <p:sp>
        <p:nvSpPr>
          <p:cNvPr id="73" name="SK-15-text-36">
            <a:extLst>
              <a:ext uri="{FF2B5EF4-FFF2-40B4-BE49-F238E27FC236}">
                <a16:creationId xmlns:a16="http://schemas.microsoft.com/office/drawing/2014/main" id="{BD5B759D-6786-E4CC-6C79-4CD0568DC7B1}"/>
              </a:ext>
            </a:extLst>
          </p:cNvPr>
          <p:cNvSpPr/>
          <p:nvPr/>
        </p:nvSpPr>
        <p:spPr>
          <a:xfrm>
            <a:off x="895350" y="4266456"/>
            <a:ext cx="1815434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Roadmap métier</a:t>
            </a:r>
            <a:endParaRPr lang="en-US" sz="975" dirty="0"/>
          </a:p>
        </p:txBody>
      </p:sp>
      <p:sp>
        <p:nvSpPr>
          <p:cNvPr id="75" name="SK-15-text-37">
            <a:extLst>
              <a:ext uri="{FF2B5EF4-FFF2-40B4-BE49-F238E27FC236}">
                <a16:creationId xmlns:a16="http://schemas.microsoft.com/office/drawing/2014/main" id="{E98E54C0-4127-497C-CCC9-EC923F7D2C45}"/>
              </a:ext>
            </a:extLst>
          </p:cNvPr>
          <p:cNvSpPr/>
          <p:nvPr/>
        </p:nvSpPr>
        <p:spPr>
          <a:xfrm>
            <a:off x="5168950" y="2043857"/>
            <a:ext cx="466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Qualité &amp; Robustesse</a:t>
            </a:r>
            <a:endParaRPr lang="en-US" sz="1500" dirty="0"/>
          </a:p>
        </p:txBody>
      </p:sp>
      <p:sp>
        <p:nvSpPr>
          <p:cNvPr id="77" name="SK-15-text-38">
            <a:extLst>
              <a:ext uri="{FF2B5EF4-FFF2-40B4-BE49-F238E27FC236}">
                <a16:creationId xmlns:a16="http://schemas.microsoft.com/office/drawing/2014/main" id="{30E4FD0E-FDE3-E54C-CCB4-7B7FDCF023FC}"/>
              </a:ext>
            </a:extLst>
          </p:cNvPr>
          <p:cNvSpPr/>
          <p:nvPr/>
        </p:nvSpPr>
        <p:spPr>
          <a:xfrm>
            <a:off x="4797475" y="2605832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Tests automatisés : Jest, Supertest (CI/CD)</a:t>
            </a:r>
            <a:endParaRPr lang="en-US" sz="1200" dirty="0"/>
          </a:p>
        </p:txBody>
      </p:sp>
      <p:sp>
        <p:nvSpPr>
          <p:cNvPr id="79" name="SK-15-text-39">
            <a:extLst>
              <a:ext uri="{FF2B5EF4-FFF2-40B4-BE49-F238E27FC236}">
                <a16:creationId xmlns:a16="http://schemas.microsoft.com/office/drawing/2014/main" id="{531761F1-6CB1-5B0D-86F7-744E16990332}"/>
              </a:ext>
            </a:extLst>
          </p:cNvPr>
          <p:cNvSpPr/>
          <p:nvPr/>
        </p:nvSpPr>
        <p:spPr>
          <a:xfrm>
            <a:off x="4797475" y="3146673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Optimisation des performances requêtes Sequelize</a:t>
            </a:r>
            <a:endParaRPr lang="en-US" sz="1200" dirty="0"/>
          </a:p>
        </p:txBody>
      </p:sp>
      <p:sp>
        <p:nvSpPr>
          <p:cNvPr id="81" name="SK-15-text-40">
            <a:extLst>
              <a:ext uri="{FF2B5EF4-FFF2-40B4-BE49-F238E27FC236}">
                <a16:creationId xmlns:a16="http://schemas.microsoft.com/office/drawing/2014/main" id="{0F991FB8-C4AE-1F3E-5199-80614E1AFDA7}"/>
              </a:ext>
            </a:extLst>
          </p:cNvPr>
          <p:cNvSpPr/>
          <p:nvPr/>
        </p:nvSpPr>
        <p:spPr>
          <a:xfrm>
            <a:off x="4797475" y="3687514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Sécurité : Passage des sessions à JWT (Tokens)</a:t>
            </a:r>
            <a:endParaRPr lang="en-US" sz="1200" dirty="0"/>
          </a:p>
        </p:txBody>
      </p:sp>
      <p:sp>
        <p:nvSpPr>
          <p:cNvPr id="83" name="SK-15-text-41">
            <a:extLst>
              <a:ext uri="{FF2B5EF4-FFF2-40B4-BE49-F238E27FC236}">
                <a16:creationId xmlns:a16="http://schemas.microsoft.com/office/drawing/2014/main" id="{CB5BF1E5-20B7-E6B4-89F5-E5B123832C48}"/>
              </a:ext>
            </a:extLst>
          </p:cNvPr>
          <p:cNvSpPr/>
          <p:nvPr/>
        </p:nvSpPr>
        <p:spPr>
          <a:xfrm>
            <a:off x="4654600" y="4266456"/>
            <a:ext cx="2827313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Maintenance technique</a:t>
            </a:r>
            <a:endParaRPr lang="en-US" sz="975" dirty="0"/>
          </a:p>
        </p:txBody>
      </p:sp>
      <p:sp>
        <p:nvSpPr>
          <p:cNvPr id="85" name="SK-15-text-42">
            <a:extLst>
              <a:ext uri="{FF2B5EF4-FFF2-40B4-BE49-F238E27FC236}">
                <a16:creationId xmlns:a16="http://schemas.microsoft.com/office/drawing/2014/main" id="{39587151-45F6-0A00-C65D-F0F695A4889E}"/>
              </a:ext>
            </a:extLst>
          </p:cNvPr>
          <p:cNvSpPr/>
          <p:nvPr/>
        </p:nvSpPr>
        <p:spPr>
          <a:xfrm>
            <a:off x="8928199" y="2043857"/>
            <a:ext cx="326380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6534"/>
                </a:solidFill>
              </a:rPr>
              <a:t>Expérience &amp; UI</a:t>
            </a:r>
            <a:endParaRPr lang="en-US" sz="1500" dirty="0"/>
          </a:p>
        </p:txBody>
      </p:sp>
      <p:sp>
        <p:nvSpPr>
          <p:cNvPr id="87" name="SK-15-text-43">
            <a:extLst>
              <a:ext uri="{FF2B5EF4-FFF2-40B4-BE49-F238E27FC236}">
                <a16:creationId xmlns:a16="http://schemas.microsoft.com/office/drawing/2014/main" id="{667A8FE2-A8E1-B2E5-2963-A7B87EA383DE}"/>
              </a:ext>
            </a:extLst>
          </p:cNvPr>
          <p:cNvSpPr/>
          <p:nvPr/>
        </p:nvSpPr>
        <p:spPr>
          <a:xfrm>
            <a:off x="8556724" y="2605832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Responsive design pour usage tablette/mobile</a:t>
            </a:r>
            <a:endParaRPr lang="en-US" sz="1200" dirty="0"/>
          </a:p>
        </p:txBody>
      </p:sp>
      <p:sp>
        <p:nvSpPr>
          <p:cNvPr id="89" name="SK-15-text-44">
            <a:extLst>
              <a:ext uri="{FF2B5EF4-FFF2-40B4-BE49-F238E27FC236}">
                <a16:creationId xmlns:a16="http://schemas.microsoft.com/office/drawing/2014/main" id="{5E6B6FB5-2CF5-4FED-FACE-547FCEA3074D}"/>
              </a:ext>
            </a:extLst>
          </p:cNvPr>
          <p:cNvSpPr/>
          <p:nvPr/>
        </p:nvSpPr>
        <p:spPr>
          <a:xfrm>
            <a:off x="8556724" y="3146673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Mise en conformité Accessibilité (WCAG 2.1)</a:t>
            </a:r>
            <a:endParaRPr lang="en-US" sz="1200" dirty="0"/>
          </a:p>
        </p:txBody>
      </p:sp>
      <p:sp>
        <p:nvSpPr>
          <p:cNvPr id="91" name="SK-15-text-45">
            <a:extLst>
              <a:ext uri="{FF2B5EF4-FFF2-40B4-BE49-F238E27FC236}">
                <a16:creationId xmlns:a16="http://schemas.microsoft.com/office/drawing/2014/main" id="{F95FDD90-43DA-02FB-95D7-EA30E2955EEA}"/>
              </a:ext>
            </a:extLst>
          </p:cNvPr>
          <p:cNvSpPr/>
          <p:nvPr/>
        </p:nvSpPr>
        <p:spPr>
          <a:xfrm>
            <a:off x="8556724" y="3687514"/>
            <a:ext cx="283532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ea typeface="Inter" pitchFamily="34" charset="-122"/>
                <a:cs typeface="Inter" pitchFamily="34" charset="-120"/>
              </a:rPr>
              <a:t>Optimisation SEO et temps de chargement</a:t>
            </a:r>
            <a:endParaRPr lang="en-US" sz="1200" dirty="0"/>
          </a:p>
        </p:txBody>
      </p:sp>
      <p:sp>
        <p:nvSpPr>
          <p:cNvPr id="93" name="SK-15-text-46">
            <a:extLst>
              <a:ext uri="{FF2B5EF4-FFF2-40B4-BE49-F238E27FC236}">
                <a16:creationId xmlns:a16="http://schemas.microsoft.com/office/drawing/2014/main" id="{A58C7013-7CFB-048E-C84E-483CE424F1B0}"/>
              </a:ext>
            </a:extLst>
          </p:cNvPr>
          <p:cNvSpPr/>
          <p:nvPr/>
        </p:nvSpPr>
        <p:spPr>
          <a:xfrm>
            <a:off x="8413849" y="4266456"/>
            <a:ext cx="2808964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Interface &amp; Ergonomie</a:t>
            </a:r>
            <a:endParaRPr lang="en-US" sz="975" dirty="0"/>
          </a:p>
        </p:txBody>
      </p:sp>
      <p:sp>
        <p:nvSpPr>
          <p:cNvPr id="95" name="SK-15-text-47">
            <a:extLst>
              <a:ext uri="{FF2B5EF4-FFF2-40B4-BE49-F238E27FC236}">
                <a16:creationId xmlns:a16="http://schemas.microsoft.com/office/drawing/2014/main" id="{F840F4DF-7475-B420-B155-0430F4735DBC}"/>
              </a:ext>
            </a:extLst>
          </p:cNvPr>
          <p:cNvSpPr/>
          <p:nvPr/>
        </p:nvSpPr>
        <p:spPr>
          <a:xfrm>
            <a:off x="1104900" y="6110288"/>
            <a:ext cx="11087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La prise de recul sur ces axes démontre une maturité professionnelle et une vision produit au-delà du simple développement initial.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4158238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16-img-1" descr="preencoded.png">
            <a:extLst>
              <a:ext uri="{FF2B5EF4-FFF2-40B4-BE49-F238E27FC236}">
                <a16:creationId xmlns:a16="http://schemas.microsoft.com/office/drawing/2014/main" id="{FE3C0F01-934A-7E1F-B2F4-915162004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6-img-2" descr="preencoded.png">
            <a:extLst>
              <a:ext uri="{FF2B5EF4-FFF2-40B4-BE49-F238E27FC236}">
                <a16:creationId xmlns:a16="http://schemas.microsoft.com/office/drawing/2014/main" id="{F2DBE544-594A-5D75-8F18-CFF4B66CB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SK-16-img-3" descr="preencoded.png">
            <a:extLst>
              <a:ext uri="{FF2B5EF4-FFF2-40B4-BE49-F238E27FC236}">
                <a16:creationId xmlns:a16="http://schemas.microsoft.com/office/drawing/2014/main" id="{684321D5-1878-C2E6-C512-3F5F66F95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52525" cy="247650"/>
          </a:xfrm>
          <a:prstGeom prst="rect">
            <a:avLst/>
          </a:prstGeom>
        </p:spPr>
      </p:pic>
      <p:pic>
        <p:nvPicPr>
          <p:cNvPr id="9" name="SK-16-img-4" descr="preencoded.png">
            <a:extLst>
              <a:ext uri="{FF2B5EF4-FFF2-40B4-BE49-F238E27FC236}">
                <a16:creationId xmlns:a16="http://schemas.microsoft.com/office/drawing/2014/main" id="{57CD9EB9-FC44-F3A9-3055-F4F0DED52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500063"/>
            <a:ext cx="9782175" cy="9525"/>
          </a:xfrm>
          <a:prstGeom prst="rect">
            <a:avLst/>
          </a:prstGeom>
        </p:spPr>
      </p:pic>
      <p:pic>
        <p:nvPicPr>
          <p:cNvPr id="11" name="SK-16-img-5" descr="preencoded.png">
            <a:extLst>
              <a:ext uri="{FF2B5EF4-FFF2-40B4-BE49-F238E27FC236}">
                <a16:creationId xmlns:a16="http://schemas.microsoft.com/office/drawing/2014/main" id="{3E080DC2-7FDF-7516-9283-7008F5E94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56271"/>
            <a:ext cx="11049000" cy="2996654"/>
          </a:xfrm>
          <a:prstGeom prst="rect">
            <a:avLst/>
          </a:prstGeom>
        </p:spPr>
      </p:pic>
      <p:pic>
        <p:nvPicPr>
          <p:cNvPr id="13" name="SK-16-img-6" descr="preencoded.png">
            <a:extLst>
              <a:ext uri="{FF2B5EF4-FFF2-40B4-BE49-F238E27FC236}">
                <a16:creationId xmlns:a16="http://schemas.microsoft.com/office/drawing/2014/main" id="{2993EA51-E0E4-7257-3238-DFD4E2228B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1819275"/>
            <a:ext cx="571500" cy="457200"/>
          </a:xfrm>
          <a:prstGeom prst="rect">
            <a:avLst/>
          </a:prstGeom>
        </p:spPr>
      </p:pic>
      <p:pic>
        <p:nvPicPr>
          <p:cNvPr id="15" name="SK-16-img-7" descr="preencoded.png">
            <a:extLst>
              <a:ext uri="{FF2B5EF4-FFF2-40B4-BE49-F238E27FC236}">
                <a16:creationId xmlns:a16="http://schemas.microsoft.com/office/drawing/2014/main" id="{43DA4373-5613-C180-E68F-55BB5120F3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873" y="4706391"/>
            <a:ext cx="3530650" cy="1590675"/>
          </a:xfrm>
          <a:prstGeom prst="rect">
            <a:avLst/>
          </a:prstGeom>
        </p:spPr>
      </p:pic>
      <p:pic>
        <p:nvPicPr>
          <p:cNvPr id="17" name="SK-16-img-8" descr="preencoded.png">
            <a:extLst>
              <a:ext uri="{FF2B5EF4-FFF2-40B4-BE49-F238E27FC236}">
                <a16:creationId xmlns:a16="http://schemas.microsoft.com/office/drawing/2014/main" id="{E8C893BE-F83B-C565-2DE7-974BEF9C25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73" y="4855814"/>
            <a:ext cx="226219" cy="186779"/>
          </a:xfrm>
          <a:prstGeom prst="rect">
            <a:avLst/>
          </a:prstGeom>
        </p:spPr>
      </p:pic>
      <p:pic>
        <p:nvPicPr>
          <p:cNvPr id="19" name="SK-16-img-9" descr="preencoded.png">
            <a:extLst>
              <a:ext uri="{FF2B5EF4-FFF2-40B4-BE49-F238E27FC236}">
                <a16:creationId xmlns:a16="http://schemas.microsoft.com/office/drawing/2014/main" id="{FF94E7AB-3CF4-D360-6C0F-ACE9C81DD1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7123" y="4706391"/>
            <a:ext cx="3530650" cy="1590675"/>
          </a:xfrm>
          <a:prstGeom prst="rect">
            <a:avLst/>
          </a:prstGeom>
        </p:spPr>
      </p:pic>
      <p:pic>
        <p:nvPicPr>
          <p:cNvPr id="21" name="SK-16-img-10" descr="preencoded.png">
            <a:extLst>
              <a:ext uri="{FF2B5EF4-FFF2-40B4-BE49-F238E27FC236}">
                <a16:creationId xmlns:a16="http://schemas.microsoft.com/office/drawing/2014/main" id="{D96F7091-A65E-20DB-16EC-C7AB9D7D1F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5723" y="4855814"/>
            <a:ext cx="226219" cy="186779"/>
          </a:xfrm>
          <a:prstGeom prst="rect">
            <a:avLst/>
          </a:prstGeom>
        </p:spPr>
      </p:pic>
      <p:pic>
        <p:nvPicPr>
          <p:cNvPr id="23" name="SK-16-img-11" descr="preencoded.png">
            <a:extLst>
              <a:ext uri="{FF2B5EF4-FFF2-40B4-BE49-F238E27FC236}">
                <a16:creationId xmlns:a16="http://schemas.microsoft.com/office/drawing/2014/main" id="{4BDF7FAF-D54B-C282-31F9-EF59B15FA8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6372" y="4706391"/>
            <a:ext cx="3530650" cy="1590675"/>
          </a:xfrm>
          <a:prstGeom prst="rect">
            <a:avLst/>
          </a:prstGeom>
        </p:spPr>
      </p:pic>
      <p:pic>
        <p:nvPicPr>
          <p:cNvPr id="25" name="SK-16-img-12" descr="preencoded.png">
            <a:extLst>
              <a:ext uri="{FF2B5EF4-FFF2-40B4-BE49-F238E27FC236}">
                <a16:creationId xmlns:a16="http://schemas.microsoft.com/office/drawing/2014/main" id="{02E8F277-0BBD-926D-59FD-78BEA902BE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4972" y="4855814"/>
            <a:ext cx="226219" cy="186779"/>
          </a:xfrm>
          <a:prstGeom prst="rect">
            <a:avLst/>
          </a:prstGeom>
        </p:spPr>
      </p:pic>
      <p:sp>
        <p:nvSpPr>
          <p:cNvPr id="27" name="SK-16-text-13">
            <a:extLst>
              <a:ext uri="{FF2B5EF4-FFF2-40B4-BE49-F238E27FC236}">
                <a16:creationId xmlns:a16="http://schemas.microsoft.com/office/drawing/2014/main" id="{1BFF3A33-C324-EB26-0525-08B3C21A2715}"/>
              </a:ext>
            </a:extLst>
          </p:cNvPr>
          <p:cNvSpPr/>
          <p:nvPr/>
        </p:nvSpPr>
        <p:spPr>
          <a:xfrm>
            <a:off x="685800" y="381000"/>
            <a:ext cx="168886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6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SESSION 2026</a:t>
            </a:r>
            <a:endParaRPr lang="en-US" sz="900" dirty="0"/>
          </a:p>
        </p:txBody>
      </p:sp>
      <p:sp>
        <p:nvSpPr>
          <p:cNvPr id="29" name="SK-16-text-14">
            <a:extLst>
              <a:ext uri="{FF2B5EF4-FFF2-40B4-BE49-F238E27FC236}">
                <a16:creationId xmlns:a16="http://schemas.microsoft.com/office/drawing/2014/main" id="{FD4D501F-A483-9ADD-E6DA-08E5C36DBF49}"/>
              </a:ext>
            </a:extLst>
          </p:cNvPr>
          <p:cNvSpPr/>
          <p:nvPr/>
        </p:nvSpPr>
        <p:spPr>
          <a:xfrm>
            <a:off x="571500" y="704850"/>
            <a:ext cx="112014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Conclusion &amp; Bilan du Projet</a:t>
            </a:r>
            <a:endParaRPr lang="en-US" sz="2400" dirty="0"/>
          </a:p>
        </p:txBody>
      </p:sp>
      <p:sp>
        <p:nvSpPr>
          <p:cNvPr id="31" name="SK-16-text-15">
            <a:extLst>
              <a:ext uri="{FF2B5EF4-FFF2-40B4-BE49-F238E27FC236}">
                <a16:creationId xmlns:a16="http://schemas.microsoft.com/office/drawing/2014/main" id="{25C9AAD8-27AF-CC93-8B22-9B75A7E2B2E2}"/>
              </a:ext>
            </a:extLst>
          </p:cNvPr>
          <p:cNvSpPr/>
          <p:nvPr/>
        </p:nvSpPr>
        <p:spPr>
          <a:xfrm>
            <a:off x="1381050" y="2333625"/>
            <a:ext cx="9582299" cy="12303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111827"/>
                </a:solidFill>
              </a:rPr>
              <a:t>Une maîtrise technique complète mise au service d'un besoin métier concret et immédiat.</a:t>
            </a:r>
            <a:endParaRPr lang="en-US" sz="3150" dirty="0"/>
          </a:p>
        </p:txBody>
      </p:sp>
      <p:sp>
        <p:nvSpPr>
          <p:cNvPr id="33" name="SK-16-text-16">
            <a:extLst>
              <a:ext uri="{FF2B5EF4-FFF2-40B4-BE49-F238E27FC236}">
                <a16:creationId xmlns:a16="http://schemas.microsoft.com/office/drawing/2014/main" id="{4C80F019-ADBF-B28C-E424-0A4223BB15D2}"/>
              </a:ext>
            </a:extLst>
          </p:cNvPr>
          <p:cNvSpPr/>
          <p:nvPr/>
        </p:nvSpPr>
        <p:spPr>
          <a:xfrm>
            <a:off x="1023598" y="3644131"/>
            <a:ext cx="10287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L'application FM Abattage démontre la capacité à transformer une problématique de terrain en une solution numérique fiable, sécurisée et pérenne.</a:t>
            </a:r>
            <a:endParaRPr lang="en-US" sz="1500" dirty="0"/>
          </a:p>
        </p:txBody>
      </p:sp>
      <p:sp>
        <p:nvSpPr>
          <p:cNvPr id="35" name="SK-16-text-17">
            <a:extLst>
              <a:ext uri="{FF2B5EF4-FFF2-40B4-BE49-F238E27FC236}">
                <a16:creationId xmlns:a16="http://schemas.microsoft.com/office/drawing/2014/main" id="{DAF976EA-39A2-BE9A-997F-1CC3E57306E9}"/>
              </a:ext>
            </a:extLst>
          </p:cNvPr>
          <p:cNvSpPr/>
          <p:nvPr/>
        </p:nvSpPr>
        <p:spPr>
          <a:xfrm>
            <a:off x="976992" y="4820691"/>
            <a:ext cx="4200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Expertise Full-Stack</a:t>
            </a:r>
            <a:endParaRPr lang="en-US" sz="1350" dirty="0"/>
          </a:p>
        </p:txBody>
      </p:sp>
      <p:sp>
        <p:nvSpPr>
          <p:cNvPr id="37" name="SK-16-text-18">
            <a:extLst>
              <a:ext uri="{FF2B5EF4-FFF2-40B4-BE49-F238E27FC236}">
                <a16:creationId xmlns:a16="http://schemas.microsoft.com/office/drawing/2014/main" id="{8736FE89-7750-84CC-9EA7-ABE376E9E00F}"/>
              </a:ext>
            </a:extLst>
          </p:cNvPr>
          <p:cNvSpPr/>
          <p:nvPr/>
        </p:nvSpPr>
        <p:spPr>
          <a:xfrm>
            <a:off x="636473" y="5135016"/>
            <a:ext cx="307345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Maîtrise de l'ensemble de la chaîne de valeur : conception BDD, API REST structurée et interface utilisateur réactive.</a:t>
            </a:r>
            <a:endParaRPr lang="en-US" sz="1050" dirty="0"/>
          </a:p>
        </p:txBody>
      </p:sp>
      <p:sp>
        <p:nvSpPr>
          <p:cNvPr id="39" name="SK-16-text-19">
            <a:extLst>
              <a:ext uri="{FF2B5EF4-FFF2-40B4-BE49-F238E27FC236}">
                <a16:creationId xmlns:a16="http://schemas.microsoft.com/office/drawing/2014/main" id="{8E173B58-5182-5EE5-AB86-9ACA62BF4721}"/>
              </a:ext>
            </a:extLst>
          </p:cNvPr>
          <p:cNvSpPr/>
          <p:nvPr/>
        </p:nvSpPr>
        <p:spPr>
          <a:xfrm>
            <a:off x="788873" y="5792241"/>
            <a:ext cx="3747973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Node.js, MySQL &amp; Sequelize</a:t>
            </a:r>
            <a:endParaRPr lang="en-US" sz="975" dirty="0"/>
          </a:p>
        </p:txBody>
      </p:sp>
      <p:sp>
        <p:nvSpPr>
          <p:cNvPr id="41" name="SK-16-text-20">
            <a:extLst>
              <a:ext uri="{FF2B5EF4-FFF2-40B4-BE49-F238E27FC236}">
                <a16:creationId xmlns:a16="http://schemas.microsoft.com/office/drawing/2014/main" id="{51538AC5-95A0-B642-0A4F-978F1F9BABF1}"/>
              </a:ext>
            </a:extLst>
          </p:cNvPr>
          <p:cNvSpPr/>
          <p:nvPr/>
        </p:nvSpPr>
        <p:spPr>
          <a:xfrm>
            <a:off x="788873" y="5997029"/>
            <a:ext cx="29972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Sécurité &amp; Puppeteer</a:t>
            </a:r>
            <a:endParaRPr lang="en-US" sz="975" dirty="0"/>
          </a:p>
        </p:txBody>
      </p:sp>
      <p:sp>
        <p:nvSpPr>
          <p:cNvPr id="43" name="SK-16-text-21">
            <a:extLst>
              <a:ext uri="{FF2B5EF4-FFF2-40B4-BE49-F238E27FC236}">
                <a16:creationId xmlns:a16="http://schemas.microsoft.com/office/drawing/2014/main" id="{3362B58F-AA2D-F48C-9781-D5F95592D0D4}"/>
              </a:ext>
            </a:extLst>
          </p:cNvPr>
          <p:cNvSpPr/>
          <p:nvPr/>
        </p:nvSpPr>
        <p:spPr>
          <a:xfrm>
            <a:off x="4736241" y="4820691"/>
            <a:ext cx="37890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Utilisation Réelle</a:t>
            </a:r>
            <a:endParaRPr lang="en-US" sz="1350" dirty="0"/>
          </a:p>
        </p:txBody>
      </p:sp>
      <p:sp>
        <p:nvSpPr>
          <p:cNvPr id="45" name="SK-16-text-22">
            <a:extLst>
              <a:ext uri="{FF2B5EF4-FFF2-40B4-BE49-F238E27FC236}">
                <a16:creationId xmlns:a16="http://schemas.microsoft.com/office/drawing/2014/main" id="{D7477A98-61D9-51A0-5BDE-078E1ED0D704}"/>
              </a:ext>
            </a:extLst>
          </p:cNvPr>
          <p:cNvSpPr/>
          <p:nvPr/>
        </p:nvSpPr>
        <p:spPr>
          <a:xfrm>
            <a:off x="4395723" y="5135016"/>
            <a:ext cx="307345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Projet déployé en production et utilisé quotidiennement par l'entreprise pour sa gestion administrative.</a:t>
            </a:r>
            <a:endParaRPr lang="en-US" sz="1050" dirty="0"/>
          </a:p>
        </p:txBody>
      </p:sp>
      <p:sp>
        <p:nvSpPr>
          <p:cNvPr id="47" name="SK-16-text-23">
            <a:extLst>
              <a:ext uri="{FF2B5EF4-FFF2-40B4-BE49-F238E27FC236}">
                <a16:creationId xmlns:a16="http://schemas.microsoft.com/office/drawing/2014/main" id="{0ED3844D-F8F8-D2DC-7EC3-8B28F4D38F65}"/>
              </a:ext>
            </a:extLst>
          </p:cNvPr>
          <p:cNvSpPr/>
          <p:nvPr/>
        </p:nvSpPr>
        <p:spPr>
          <a:xfrm>
            <a:off x="4548123" y="5792241"/>
            <a:ext cx="3747973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Hébergement Render &amp; Aiven</a:t>
            </a:r>
            <a:endParaRPr lang="en-US" sz="975" dirty="0"/>
          </a:p>
        </p:txBody>
      </p:sp>
      <p:sp>
        <p:nvSpPr>
          <p:cNvPr id="49" name="SK-16-text-24">
            <a:extLst>
              <a:ext uri="{FF2B5EF4-FFF2-40B4-BE49-F238E27FC236}">
                <a16:creationId xmlns:a16="http://schemas.microsoft.com/office/drawing/2014/main" id="{03CE5326-3277-5E1D-0F67-6001394047FF}"/>
              </a:ext>
            </a:extLst>
          </p:cNvPr>
          <p:cNvSpPr/>
          <p:nvPr/>
        </p:nvSpPr>
        <p:spPr>
          <a:xfrm>
            <a:off x="4548123" y="5997029"/>
            <a:ext cx="3324306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Impact métier mesurable</a:t>
            </a:r>
            <a:endParaRPr lang="en-US" sz="975" dirty="0"/>
          </a:p>
        </p:txBody>
      </p:sp>
      <p:sp>
        <p:nvSpPr>
          <p:cNvPr id="51" name="SK-16-text-25">
            <a:extLst>
              <a:ext uri="{FF2B5EF4-FFF2-40B4-BE49-F238E27FC236}">
                <a16:creationId xmlns:a16="http://schemas.microsoft.com/office/drawing/2014/main" id="{007D3904-4DB3-A6A4-DDDF-3D1AB98F5AA2}"/>
              </a:ext>
            </a:extLst>
          </p:cNvPr>
          <p:cNvSpPr/>
          <p:nvPr/>
        </p:nvSpPr>
        <p:spPr>
          <a:xfrm>
            <a:off x="8525286" y="4797155"/>
            <a:ext cx="3532882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</a:rPr>
              <a:t>Prêt pour le Métier</a:t>
            </a:r>
            <a:endParaRPr lang="en-US" sz="1350" dirty="0"/>
          </a:p>
        </p:txBody>
      </p:sp>
      <p:sp>
        <p:nvSpPr>
          <p:cNvPr id="53" name="SK-16-text-26">
            <a:extLst>
              <a:ext uri="{FF2B5EF4-FFF2-40B4-BE49-F238E27FC236}">
                <a16:creationId xmlns:a16="http://schemas.microsoft.com/office/drawing/2014/main" id="{094C39C6-B57C-2DE0-81C5-DD3FC8BACA55}"/>
              </a:ext>
            </a:extLst>
          </p:cNvPr>
          <p:cNvSpPr/>
          <p:nvPr/>
        </p:nvSpPr>
        <p:spPr>
          <a:xfrm>
            <a:off x="8237148" y="5211396"/>
            <a:ext cx="307345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ea typeface="Inter" pitchFamily="34" charset="-122"/>
                <a:cs typeface="Inter" pitchFamily="34" charset="-120"/>
              </a:rPr>
              <a:t>Expérience professionnalisante validant l'autonomie sur toutes les couches applicatives et la gestion de projet.</a:t>
            </a:r>
            <a:endParaRPr lang="en-US" sz="1050" dirty="0"/>
          </a:p>
        </p:txBody>
      </p:sp>
      <p:sp>
        <p:nvSpPr>
          <p:cNvPr id="55" name="SK-16-text-27">
            <a:extLst>
              <a:ext uri="{FF2B5EF4-FFF2-40B4-BE49-F238E27FC236}">
                <a16:creationId xmlns:a16="http://schemas.microsoft.com/office/drawing/2014/main" id="{D761AEF2-06E5-DC7F-A28B-5D7A78C4C7F5}"/>
              </a:ext>
            </a:extLst>
          </p:cNvPr>
          <p:cNvSpPr/>
          <p:nvPr/>
        </p:nvSpPr>
        <p:spPr>
          <a:xfrm>
            <a:off x="8268081" y="6087877"/>
            <a:ext cx="3721001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Développement structuré (Git)</a:t>
            </a:r>
            <a:endParaRPr lang="en-US" sz="975" dirty="0"/>
          </a:p>
        </p:txBody>
      </p:sp>
      <p:sp>
        <p:nvSpPr>
          <p:cNvPr id="57" name="SK-16-text-28">
            <a:extLst>
              <a:ext uri="{FF2B5EF4-FFF2-40B4-BE49-F238E27FC236}">
                <a16:creationId xmlns:a16="http://schemas.microsoft.com/office/drawing/2014/main" id="{DB956C96-9D04-E4AF-4BD8-DB0588B55486}"/>
              </a:ext>
            </a:extLst>
          </p:cNvPr>
          <p:cNvSpPr/>
          <p:nvPr/>
        </p:nvSpPr>
        <p:spPr>
          <a:xfrm>
            <a:off x="8307372" y="5894996"/>
            <a:ext cx="3465528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ea typeface="Inter" pitchFamily="34" charset="-122"/>
                <a:cs typeface="Inter" pitchFamily="34" charset="-120"/>
              </a:rPr>
              <a:t>Prise de recul technique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3716312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10-img-4" descr="preencoded.png">
            <a:extLst>
              <a:ext uri="{FF2B5EF4-FFF2-40B4-BE49-F238E27FC236}">
                <a16:creationId xmlns:a16="http://schemas.microsoft.com/office/drawing/2014/main" id="{8637C52F-BB63-F55E-CE47-4CA3BEC9A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8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2517203-26E7-F6BF-4C92-EDB314F1A571}"/>
              </a:ext>
            </a:extLst>
          </p:cNvPr>
          <p:cNvSpPr txBox="1"/>
          <p:nvPr/>
        </p:nvSpPr>
        <p:spPr>
          <a:xfrm>
            <a:off x="3549396" y="2459504"/>
            <a:ext cx="5093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11904832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1670</Words>
  <Application>Microsoft Office PowerPoint</Application>
  <PresentationFormat>Grand écran</PresentationFormat>
  <Paragraphs>283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Inter</vt:lpstr>
      <vt:lpstr>Montserrat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Lydie Meunier</dc:creator>
  <cp:lastModifiedBy>Lydie Meunier</cp:lastModifiedBy>
  <cp:revision>2</cp:revision>
  <dcterms:created xsi:type="dcterms:W3CDTF">2026-06-15T10:55:47Z</dcterms:created>
  <dcterms:modified xsi:type="dcterms:W3CDTF">2026-06-15T11:56:25Z</dcterms:modified>
</cp:coreProperties>
</file>