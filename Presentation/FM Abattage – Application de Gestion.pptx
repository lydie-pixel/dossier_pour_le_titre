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embeddedFontLst>
    <p:embeddedFont>
      <p:font typeface="Inter"/>
      <p:regular r:id="rId201314"/>
      <p:bold r:id="rId3013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01314" Target="fonts/201314.fntdata" Type="http://schemas.openxmlformats.org/officeDocument/2006/relationships/font"/><Relationship Id="rId301314" Target="fonts/30131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image" Target="../media/image-2-22.png"/><Relationship Id="rId23" Type="http://schemas.openxmlformats.org/officeDocument/2006/relationships/image" Target="../media/image-2-23.png"/><Relationship Id="rId24" Type="http://schemas.openxmlformats.org/officeDocument/2006/relationships/image" Target="../media/image-2-24.png"/><Relationship Id="rId25" Type="http://schemas.openxmlformats.org/officeDocument/2006/relationships/image" Target="../media/image-2-25.png"/><Relationship Id="rId26" Type="http://schemas.openxmlformats.org/officeDocument/2006/relationships/image" Target="../media/image-2-26.png"/><Relationship Id="rId27" Type="http://schemas.openxmlformats.org/officeDocument/2006/relationships/image" Target="../media/image-2-27.png"/><Relationship Id="rId28" Type="http://schemas.openxmlformats.org/officeDocument/2006/relationships/image" Target="../media/image-2-28.pn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image" Target="../media/image-3-25.png"/><Relationship Id="rId26" Type="http://schemas.openxmlformats.org/officeDocument/2006/relationships/image" Target="../media/image-3-26.png"/><Relationship Id="rId27" Type="http://schemas.openxmlformats.org/officeDocument/2006/relationships/image" Target="../media/image-3-27.png"/><Relationship Id="rId28" Type="http://schemas.openxmlformats.org/officeDocument/2006/relationships/image" Target="../media/image-3-28.png"/><Relationship Id="rId29" Type="http://schemas.openxmlformats.org/officeDocument/2006/relationships/image" Target="../media/image-3-29.png"/><Relationship Id="rId30" Type="http://schemas.openxmlformats.org/officeDocument/2006/relationships/image" Target="../media/image-3-30.png"/><Relationship Id="rId31" Type="http://schemas.openxmlformats.org/officeDocument/2006/relationships/image" Target="../media/image-3-31.png"/><Relationship Id="rId32" Type="http://schemas.openxmlformats.org/officeDocument/2006/relationships/image" Target="../media/image-3-32.png"/><Relationship Id="rId33" Type="http://schemas.openxmlformats.org/officeDocument/2006/relationships/image" Target="../media/image-3-33.png"/><Relationship Id="rId34" Type="http://schemas.openxmlformats.org/officeDocument/2006/relationships/image" Target="../media/image-3-34.png"/><Relationship Id="rId35" Type="http://schemas.openxmlformats.org/officeDocument/2006/relationships/image" Target="../media/image-3-35.png"/><Relationship Id="rId36" Type="http://schemas.openxmlformats.org/officeDocument/2006/relationships/image" Target="../media/image-3-36.png"/><Relationship Id="rId37" Type="http://schemas.openxmlformats.org/officeDocument/2006/relationships/image" Target="../media/image-3-37.png"/><Relationship Id="rId38" Type="http://schemas.openxmlformats.org/officeDocument/2006/relationships/image" Target="../media/image-3-38.png"/><Relationship Id="rId39" Type="http://schemas.openxmlformats.org/officeDocument/2006/relationships/image" Target="../media/image-3-39.png"/><Relationship Id="rId40" Type="http://schemas.openxmlformats.org/officeDocument/2006/relationships/image" Target="../media/image-3-40.png"/><Relationship Id="rId41" Type="http://schemas.openxmlformats.org/officeDocument/2006/relationships/image" Target="../media/image-3-41.png"/><Relationship Id="rId42" Type="http://schemas.openxmlformats.org/officeDocument/2006/relationships/image" Target="../media/image-3-42.png"/><Relationship Id="rId43" Type="http://schemas.openxmlformats.org/officeDocument/2006/relationships/image" Target="../media/image-3-43.png"/><Relationship Id="rId44" Type="http://schemas.openxmlformats.org/officeDocument/2006/relationships/image" Target="../media/image-3-44.png"/><Relationship Id="rId45" Type="http://schemas.openxmlformats.org/officeDocument/2006/relationships/image" Target="../media/image-3-45.png"/><Relationship Id="rId46" Type="http://schemas.openxmlformats.org/officeDocument/2006/relationships/image" Target="../media/image-3-46.png"/><Relationship Id="rId47" Type="http://schemas.openxmlformats.org/officeDocument/2006/relationships/image" Target="../media/image-3-47.png"/><Relationship Id="rId48" Type="http://schemas.openxmlformats.org/officeDocument/2006/relationships/image" Target="../media/image-3-48.png"/><Relationship Id="rId49" Type="http://schemas.openxmlformats.org/officeDocument/2006/relationships/image" Target="../media/image-3-49.png"/><Relationship Id="rId50" Type="http://schemas.openxmlformats.org/officeDocument/2006/relationships/slideLayout" Target="../slideLayouts/slideLayout1.xml"/><Relationship Id="rId5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image" Target="../media/image-4-22.png"/><Relationship Id="rId23" Type="http://schemas.openxmlformats.org/officeDocument/2006/relationships/image" Target="../media/image-4-23.png"/><Relationship Id="rId24" Type="http://schemas.openxmlformats.org/officeDocument/2006/relationships/image" Target="../media/image-4-24.png"/><Relationship Id="rId25" Type="http://schemas.openxmlformats.org/officeDocument/2006/relationships/image" Target="../media/image-4-25.png"/><Relationship Id="rId26" Type="http://schemas.openxmlformats.org/officeDocument/2006/relationships/image" Target="../media/image-4-26.png"/><Relationship Id="rId27" Type="http://schemas.openxmlformats.org/officeDocument/2006/relationships/image" Target="../media/image-4-27.png"/><Relationship Id="rId28" Type="http://schemas.openxmlformats.org/officeDocument/2006/relationships/image" Target="../media/image-4-28.png"/><Relationship Id="rId29" Type="http://schemas.openxmlformats.org/officeDocument/2006/relationships/image" Target="../media/image-4-29.png"/><Relationship Id="rId30" Type="http://schemas.openxmlformats.org/officeDocument/2006/relationships/image" Target="../media/image-4-30.png"/><Relationship Id="rId31" Type="http://schemas.openxmlformats.org/officeDocument/2006/relationships/image" Target="../media/image-4-31.png"/><Relationship Id="rId32" Type="http://schemas.openxmlformats.org/officeDocument/2006/relationships/image" Target="../media/image-4-32.png"/><Relationship Id="rId33" Type="http://schemas.openxmlformats.org/officeDocument/2006/relationships/image" Target="../media/image-4-33.png"/><Relationship Id="rId34" Type="http://schemas.openxmlformats.org/officeDocument/2006/relationships/image" Target="../media/image-4-34.png"/><Relationship Id="rId35" Type="http://schemas.openxmlformats.org/officeDocument/2006/relationships/image" Target="../media/image-4-35.png"/><Relationship Id="rId36" Type="http://schemas.openxmlformats.org/officeDocument/2006/relationships/image" Target="../media/image-4-36.png"/><Relationship Id="rId37" Type="http://schemas.openxmlformats.org/officeDocument/2006/relationships/image" Target="../media/image-4-37.png"/><Relationship Id="rId38" Type="http://schemas.openxmlformats.org/officeDocument/2006/relationships/image" Target="../media/image-4-38.png"/><Relationship Id="rId39" Type="http://schemas.openxmlformats.org/officeDocument/2006/relationships/image" Target="../media/image-4-39.png"/><Relationship Id="rId40" Type="http://schemas.openxmlformats.org/officeDocument/2006/relationships/image" Target="../media/image-4-40.png"/><Relationship Id="rId41" Type="http://schemas.openxmlformats.org/officeDocument/2006/relationships/image" Target="../media/image-4-41.png"/><Relationship Id="rId42" Type="http://schemas.openxmlformats.org/officeDocument/2006/relationships/image" Target="../media/image-4-42.png"/><Relationship Id="rId43" Type="http://schemas.openxmlformats.org/officeDocument/2006/relationships/image" Target="../media/image-4-43.png"/><Relationship Id="rId44" Type="http://schemas.openxmlformats.org/officeDocument/2006/relationships/image" Target="../media/image-4-44.png"/><Relationship Id="rId45" Type="http://schemas.openxmlformats.org/officeDocument/2006/relationships/image" Target="../media/image-4-45.png"/><Relationship Id="rId46" Type="http://schemas.openxmlformats.org/officeDocument/2006/relationships/image" Target="../media/image-4-46.png"/><Relationship Id="rId47" Type="http://schemas.openxmlformats.org/officeDocument/2006/relationships/image" Target="../media/image-4-47.png"/><Relationship Id="rId48" Type="http://schemas.openxmlformats.org/officeDocument/2006/relationships/image" Target="../media/image-4-48.png"/><Relationship Id="rId49" Type="http://schemas.openxmlformats.org/officeDocument/2006/relationships/image" Target="../media/image-4-49.png"/><Relationship Id="rId50" Type="http://schemas.openxmlformats.org/officeDocument/2006/relationships/image" Target="../media/image-4-50.png"/><Relationship Id="rId51" Type="http://schemas.openxmlformats.org/officeDocument/2006/relationships/image" Target="../media/image-4-51.png"/><Relationship Id="rId52" Type="http://schemas.openxmlformats.org/officeDocument/2006/relationships/image" Target="../media/image-4-52.png"/><Relationship Id="rId53" Type="http://schemas.openxmlformats.org/officeDocument/2006/relationships/image" Target="../media/image-4-53.png"/><Relationship Id="rId54" Type="http://schemas.openxmlformats.org/officeDocument/2006/relationships/image" Target="../media/image-4-54.png"/><Relationship Id="rId55" Type="http://schemas.openxmlformats.org/officeDocument/2006/relationships/image" Target="../media/image-4-55.png"/><Relationship Id="rId56" Type="http://schemas.openxmlformats.org/officeDocument/2006/relationships/image" Target="../media/image-4-56.png"/><Relationship Id="rId57" Type="http://schemas.openxmlformats.org/officeDocument/2006/relationships/image" Target="../media/image-4-57.png"/><Relationship Id="rId58" Type="http://schemas.openxmlformats.org/officeDocument/2006/relationships/image" Target="../media/image-4-58.png"/><Relationship Id="rId59" Type="http://schemas.openxmlformats.org/officeDocument/2006/relationships/image" Target="../media/image-4-59.png"/><Relationship Id="rId60" Type="http://schemas.openxmlformats.org/officeDocument/2006/relationships/image" Target="../media/image-4-60.png"/><Relationship Id="rId61" Type="http://schemas.openxmlformats.org/officeDocument/2006/relationships/image" Target="../media/image-4-61.png"/><Relationship Id="rId62" Type="http://schemas.openxmlformats.org/officeDocument/2006/relationships/image" Target="../media/image-4-62.png"/><Relationship Id="rId63" Type="http://schemas.openxmlformats.org/officeDocument/2006/relationships/image" Target="../media/image-4-63.png"/><Relationship Id="rId64" Type="http://schemas.openxmlformats.org/officeDocument/2006/relationships/image" Target="../media/image-4-64.png"/><Relationship Id="rId65" Type="http://schemas.openxmlformats.org/officeDocument/2006/relationships/image" Target="../media/image-4-65.png"/><Relationship Id="rId66" Type="http://schemas.openxmlformats.org/officeDocument/2006/relationships/image" Target="../media/image-4-66.png"/><Relationship Id="rId67" Type="http://schemas.openxmlformats.org/officeDocument/2006/relationships/slideLayout" Target="../slideLayouts/slideLayout1.xml"/><Relationship Id="rId6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image" Target="../media/image-5-21.png"/><Relationship Id="rId22" Type="http://schemas.openxmlformats.org/officeDocument/2006/relationships/image" Target="../media/image-5-22.png"/><Relationship Id="rId23" Type="http://schemas.openxmlformats.org/officeDocument/2006/relationships/image" Target="../media/image-5-23.png"/><Relationship Id="rId24" Type="http://schemas.openxmlformats.org/officeDocument/2006/relationships/image" Target="../media/image-5-24.png"/><Relationship Id="rId25" Type="http://schemas.openxmlformats.org/officeDocument/2006/relationships/image" Target="../media/image-5-25.png"/><Relationship Id="rId26" Type="http://schemas.openxmlformats.org/officeDocument/2006/relationships/image" Target="../media/image-5-26.png"/><Relationship Id="rId27" Type="http://schemas.openxmlformats.org/officeDocument/2006/relationships/image" Target="../media/image-5-27.png"/><Relationship Id="rId28" Type="http://schemas.openxmlformats.org/officeDocument/2006/relationships/image" Target="../media/image-5-28.png"/><Relationship Id="rId29" Type="http://schemas.openxmlformats.org/officeDocument/2006/relationships/image" Target="../media/image-5-29.png"/><Relationship Id="rId30" Type="http://schemas.openxmlformats.org/officeDocument/2006/relationships/image" Target="../media/image-5-30.png"/><Relationship Id="rId31" Type="http://schemas.openxmlformats.org/officeDocument/2006/relationships/slideLayout" Target="../slideLayouts/slideLayout1.xml"/><Relationship Id="rId3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image" Target="../media/image-6-19.png"/><Relationship Id="rId20" Type="http://schemas.openxmlformats.org/officeDocument/2006/relationships/image" Target="../media/image-6-20.png"/><Relationship Id="rId21" Type="http://schemas.openxmlformats.org/officeDocument/2006/relationships/image" Target="../media/image-6-21.png"/><Relationship Id="rId22" Type="http://schemas.openxmlformats.org/officeDocument/2006/relationships/image" Target="../media/image-6-22.png"/><Relationship Id="rId23" Type="http://schemas.openxmlformats.org/officeDocument/2006/relationships/image" Target="../media/image-6-23.png"/><Relationship Id="rId24" Type="http://schemas.openxmlformats.org/officeDocument/2006/relationships/image" Target="../media/image-6-24.png"/><Relationship Id="rId25" Type="http://schemas.openxmlformats.org/officeDocument/2006/relationships/image" Target="../media/image-6-25.png"/><Relationship Id="rId26" Type="http://schemas.openxmlformats.org/officeDocument/2006/relationships/image" Target="../media/image-6-26.png"/><Relationship Id="rId27" Type="http://schemas.openxmlformats.org/officeDocument/2006/relationships/image" Target="../media/image-6-27.png"/><Relationship Id="rId28" Type="http://schemas.openxmlformats.org/officeDocument/2006/relationships/image" Target="../media/image-6-28.png"/><Relationship Id="rId29" Type="http://schemas.openxmlformats.org/officeDocument/2006/relationships/image" Target="../media/image-6-29.png"/><Relationship Id="rId30" Type="http://schemas.openxmlformats.org/officeDocument/2006/relationships/slideLayout" Target="../slideLayouts/slideLayout1.xml"/><Relationship Id="rId3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image" Target="../media/image-7-19.png"/><Relationship Id="rId20" Type="http://schemas.openxmlformats.org/officeDocument/2006/relationships/image" Target="../media/image-7-20.png"/><Relationship Id="rId21" Type="http://schemas.openxmlformats.org/officeDocument/2006/relationships/image" Target="../media/image-7-21.png"/><Relationship Id="rId22" Type="http://schemas.openxmlformats.org/officeDocument/2006/relationships/image" Target="../media/image-7-22.png"/><Relationship Id="rId23" Type="http://schemas.openxmlformats.org/officeDocument/2006/relationships/image" Target="../media/image-7-23.png"/><Relationship Id="rId24" Type="http://schemas.openxmlformats.org/officeDocument/2006/relationships/image" Target="../media/image-7-24.png"/><Relationship Id="rId25" Type="http://schemas.openxmlformats.org/officeDocument/2006/relationships/image" Target="../media/image-7-25.png"/><Relationship Id="rId26" Type="http://schemas.openxmlformats.org/officeDocument/2006/relationships/image" Target="../media/image-7-26.png"/><Relationship Id="rId27" Type="http://schemas.openxmlformats.org/officeDocument/2006/relationships/image" Target="../media/image-7-27.png"/><Relationship Id="rId28" Type="http://schemas.openxmlformats.org/officeDocument/2006/relationships/image" Target="../media/image-7-28.png"/><Relationship Id="rId29" Type="http://schemas.openxmlformats.org/officeDocument/2006/relationships/image" Target="../media/image-7-29.png"/><Relationship Id="rId30" Type="http://schemas.openxmlformats.org/officeDocument/2006/relationships/image" Target="../media/image-7-30.png"/><Relationship Id="rId31" Type="http://schemas.openxmlformats.org/officeDocument/2006/relationships/image" Target="../media/image-7-31.png"/><Relationship Id="rId32" Type="http://schemas.openxmlformats.org/officeDocument/2006/relationships/image" Target="../media/image-7-32.png"/><Relationship Id="rId33" Type="http://schemas.openxmlformats.org/officeDocument/2006/relationships/image" Target="../media/image-7-33.png"/><Relationship Id="rId34" Type="http://schemas.openxmlformats.org/officeDocument/2006/relationships/image" Target="../media/image-7-34.png"/><Relationship Id="rId35" Type="http://schemas.openxmlformats.org/officeDocument/2006/relationships/image" Target="../media/image-7-35.png"/><Relationship Id="rId36" Type="http://schemas.openxmlformats.org/officeDocument/2006/relationships/image" Target="../media/image-7-36.png"/><Relationship Id="rId37" Type="http://schemas.openxmlformats.org/officeDocument/2006/relationships/image" Target="../media/image-7-37.png"/><Relationship Id="rId38" Type="http://schemas.openxmlformats.org/officeDocument/2006/relationships/image" Target="../media/image-7-38.png"/><Relationship Id="rId39" Type="http://schemas.openxmlformats.org/officeDocument/2006/relationships/image" Target="../media/image-7-39.png"/><Relationship Id="rId40" Type="http://schemas.openxmlformats.org/officeDocument/2006/relationships/slideLayout" Target="../slideLayouts/slideLayout1.xml"/><Relationship Id="rId4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image" Target="../media/image-8-20.png"/><Relationship Id="rId21" Type="http://schemas.openxmlformats.org/officeDocument/2006/relationships/image" Target="../media/image-8-21.png"/><Relationship Id="rId22" Type="http://schemas.openxmlformats.org/officeDocument/2006/relationships/image" Target="../media/image-8-22.png"/><Relationship Id="rId23" Type="http://schemas.openxmlformats.org/officeDocument/2006/relationships/image" Target="../media/image-8-23.png"/><Relationship Id="rId24" Type="http://schemas.openxmlformats.org/officeDocument/2006/relationships/image" Target="../media/image-8-24.png"/><Relationship Id="rId25" Type="http://schemas.openxmlformats.org/officeDocument/2006/relationships/image" Target="../media/image-8-25.png"/><Relationship Id="rId26" Type="http://schemas.openxmlformats.org/officeDocument/2006/relationships/image" Target="../media/image-8-26.png"/><Relationship Id="rId27" Type="http://schemas.openxmlformats.org/officeDocument/2006/relationships/image" Target="../media/image-8-27.png"/><Relationship Id="rId28" Type="http://schemas.openxmlformats.org/officeDocument/2006/relationships/image" Target="../media/image-8-28.png"/><Relationship Id="rId29" Type="http://schemas.openxmlformats.org/officeDocument/2006/relationships/image" Target="../media/image-8-29.png"/><Relationship Id="rId30" Type="http://schemas.openxmlformats.org/officeDocument/2006/relationships/image" Target="../media/image-8-30.png"/><Relationship Id="rId31" Type="http://schemas.openxmlformats.org/officeDocument/2006/relationships/image" Target="../media/image-8-31.png"/><Relationship Id="rId32" Type="http://schemas.openxmlformats.org/officeDocument/2006/relationships/image" Target="../media/image-8-32.png"/><Relationship Id="rId33" Type="http://schemas.openxmlformats.org/officeDocument/2006/relationships/image" Target="../media/image-8-33.png"/><Relationship Id="rId34" Type="http://schemas.openxmlformats.org/officeDocument/2006/relationships/image" Target="../media/image-8-34.png"/><Relationship Id="rId35" Type="http://schemas.openxmlformats.org/officeDocument/2006/relationships/image" Target="../media/image-8-35.png"/><Relationship Id="rId36" Type="http://schemas.openxmlformats.org/officeDocument/2006/relationships/image" Target="../media/image-8-36.png"/><Relationship Id="rId37" Type="http://schemas.openxmlformats.org/officeDocument/2006/relationships/image" Target="../media/image-8-37.png"/><Relationship Id="rId38" Type="http://schemas.openxmlformats.org/officeDocument/2006/relationships/image" Target="../media/image-8-38.png"/><Relationship Id="rId39" Type="http://schemas.openxmlformats.org/officeDocument/2006/relationships/slideLayout" Target="../slideLayouts/slideLayout1.xml"/><Relationship Id="rId4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image" Target="../media/image-9-19.png"/><Relationship Id="rId20" Type="http://schemas.openxmlformats.org/officeDocument/2006/relationships/image" Target="../media/image-9-20.png"/><Relationship Id="rId21" Type="http://schemas.openxmlformats.org/officeDocument/2006/relationships/image" Target="../media/image-9-21.png"/><Relationship Id="rId22" Type="http://schemas.openxmlformats.org/officeDocument/2006/relationships/image" Target="../media/image-9-22.png"/><Relationship Id="rId23" Type="http://schemas.openxmlformats.org/officeDocument/2006/relationships/image" Target="../media/image-9-23.png"/><Relationship Id="rId24" Type="http://schemas.openxmlformats.org/officeDocument/2006/relationships/image" Target="../media/image-9-24.png"/><Relationship Id="rId25" Type="http://schemas.openxmlformats.org/officeDocument/2006/relationships/image" Target="../media/image-9-25.png"/><Relationship Id="rId26" Type="http://schemas.openxmlformats.org/officeDocument/2006/relationships/image" Target="../media/image-9-26.pn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png"/><Relationship Id="rId19" Type="http://schemas.openxmlformats.org/officeDocument/2006/relationships/image" Target="../media/image-10-19.png"/><Relationship Id="rId20" Type="http://schemas.openxmlformats.org/officeDocument/2006/relationships/image" Target="../media/image-10-20.png"/><Relationship Id="rId21" Type="http://schemas.openxmlformats.org/officeDocument/2006/relationships/image" Target="../media/image-10-21.png"/><Relationship Id="rId22" Type="http://schemas.openxmlformats.org/officeDocument/2006/relationships/image" Target="../media/image-10-22.png"/><Relationship Id="rId23" Type="http://schemas.openxmlformats.org/officeDocument/2006/relationships/image" Target="../media/image-10-23.png"/><Relationship Id="rId24" Type="http://schemas.openxmlformats.org/officeDocument/2006/relationships/image" Target="../media/image-10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image" Target="../media/image-11-17.png"/><Relationship Id="rId18" Type="http://schemas.openxmlformats.org/officeDocument/2006/relationships/image" Target="../media/image-11-18.png"/><Relationship Id="rId19" Type="http://schemas.openxmlformats.org/officeDocument/2006/relationships/image" Target="../media/image-11-19.png"/><Relationship Id="rId20" Type="http://schemas.openxmlformats.org/officeDocument/2006/relationships/image" Target="../media/image-11-20.png"/><Relationship Id="rId21" Type="http://schemas.openxmlformats.org/officeDocument/2006/relationships/image" Target="../media/image-11-21.png"/><Relationship Id="rId22" Type="http://schemas.openxmlformats.org/officeDocument/2006/relationships/image" Target="../media/image-11-22.png"/><Relationship Id="rId23" Type="http://schemas.openxmlformats.org/officeDocument/2006/relationships/image" Target="../media/image-11-23.png"/><Relationship Id="rId24" Type="http://schemas.openxmlformats.org/officeDocument/2006/relationships/image" Target="../media/image-11-24.png"/><Relationship Id="rId25" Type="http://schemas.openxmlformats.org/officeDocument/2006/relationships/image" Target="../media/image-11-25.png"/><Relationship Id="rId26" Type="http://schemas.openxmlformats.org/officeDocument/2006/relationships/image" Target="../media/image-11-26.png"/><Relationship Id="rId27" Type="http://schemas.openxmlformats.org/officeDocument/2006/relationships/image" Target="../media/image-11-27.png"/><Relationship Id="rId28" Type="http://schemas.openxmlformats.org/officeDocument/2006/relationships/image" Target="../media/image-11-28.png"/><Relationship Id="rId29" Type="http://schemas.openxmlformats.org/officeDocument/2006/relationships/image" Target="../media/image-11-29.png"/><Relationship Id="rId30" Type="http://schemas.openxmlformats.org/officeDocument/2006/relationships/slideLayout" Target="../slideLayouts/slideLayout1.xml"/><Relationship Id="rId3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pn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png"/><Relationship Id="rId17" Type="http://schemas.openxmlformats.org/officeDocument/2006/relationships/image" Target="../media/image-12-17.png"/><Relationship Id="rId18" Type="http://schemas.openxmlformats.org/officeDocument/2006/relationships/image" Target="../media/image-12-18.png"/><Relationship Id="rId19" Type="http://schemas.openxmlformats.org/officeDocument/2006/relationships/image" Target="../media/image-12-19.png"/><Relationship Id="rId20" Type="http://schemas.openxmlformats.org/officeDocument/2006/relationships/image" Target="../media/image-12-20.png"/><Relationship Id="rId21" Type="http://schemas.openxmlformats.org/officeDocument/2006/relationships/image" Target="../media/image-12-21.png"/><Relationship Id="rId22" Type="http://schemas.openxmlformats.org/officeDocument/2006/relationships/image" Target="../media/image-12-22.png"/><Relationship Id="rId23" Type="http://schemas.openxmlformats.org/officeDocument/2006/relationships/image" Target="../media/image-12-23.png"/><Relationship Id="rId24" Type="http://schemas.openxmlformats.org/officeDocument/2006/relationships/image" Target="../media/image-12-24.png"/><Relationship Id="rId25" Type="http://schemas.openxmlformats.org/officeDocument/2006/relationships/image" Target="../media/image-12-25.png"/><Relationship Id="rId26" Type="http://schemas.openxmlformats.org/officeDocument/2006/relationships/image" Target="../media/image-12-26.png"/><Relationship Id="rId27" Type="http://schemas.openxmlformats.org/officeDocument/2006/relationships/image" Target="../media/image-12-27.png"/><Relationship Id="rId28" Type="http://schemas.openxmlformats.org/officeDocument/2006/relationships/image" Target="../media/image-12-28.png"/><Relationship Id="rId29" Type="http://schemas.openxmlformats.org/officeDocument/2006/relationships/image" Target="../media/image-12-29.png"/><Relationship Id="rId30" Type="http://schemas.openxmlformats.org/officeDocument/2006/relationships/slideLayout" Target="../slideLayouts/slideLayout1.xml"/><Relationship Id="rId3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image" Target="../media/image-13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png"/><Relationship Id="rId15" Type="http://schemas.openxmlformats.org/officeDocument/2006/relationships/image" Target="../media/image-14-15.png"/><Relationship Id="rId16" Type="http://schemas.openxmlformats.org/officeDocument/2006/relationships/image" Target="../media/image-14-16.png"/><Relationship Id="rId17" Type="http://schemas.openxmlformats.org/officeDocument/2006/relationships/image" Target="../media/image-14-17.png"/><Relationship Id="rId18" Type="http://schemas.openxmlformats.org/officeDocument/2006/relationships/image" Target="../media/image-14-18.png"/><Relationship Id="rId19" Type="http://schemas.openxmlformats.org/officeDocument/2006/relationships/image" Target="../media/image-14-19.png"/><Relationship Id="rId20" Type="http://schemas.openxmlformats.org/officeDocument/2006/relationships/image" Target="../media/image-14-20.png"/><Relationship Id="rId21" Type="http://schemas.openxmlformats.org/officeDocument/2006/relationships/image" Target="../media/image-14-21.png"/><Relationship Id="rId22" Type="http://schemas.openxmlformats.org/officeDocument/2006/relationships/image" Target="../media/image-14-22.png"/><Relationship Id="rId23" Type="http://schemas.openxmlformats.org/officeDocument/2006/relationships/image" Target="../media/image-14-23.png"/><Relationship Id="rId24" Type="http://schemas.openxmlformats.org/officeDocument/2006/relationships/image" Target="../media/image-14-24.png"/><Relationship Id="rId25" Type="http://schemas.openxmlformats.org/officeDocument/2006/relationships/image" Target="../media/image-14-25.png"/><Relationship Id="rId26" Type="http://schemas.openxmlformats.org/officeDocument/2006/relationships/image" Target="../media/image-14-26.png"/><Relationship Id="rId27" Type="http://schemas.openxmlformats.org/officeDocument/2006/relationships/image" Target="../media/image-14-27.png"/><Relationship Id="rId28" Type="http://schemas.openxmlformats.org/officeDocument/2006/relationships/image" Target="../media/image-14-28.png"/><Relationship Id="rId29" Type="http://schemas.openxmlformats.org/officeDocument/2006/relationships/image" Target="../media/image-14-29.png"/><Relationship Id="rId30" Type="http://schemas.openxmlformats.org/officeDocument/2006/relationships/image" Target="../media/image-14-30.png"/><Relationship Id="rId31" Type="http://schemas.openxmlformats.org/officeDocument/2006/relationships/image" Target="../media/image-14-31.png"/><Relationship Id="rId32" Type="http://schemas.openxmlformats.org/officeDocument/2006/relationships/image" Target="../media/image-14-32.png"/><Relationship Id="rId33" Type="http://schemas.openxmlformats.org/officeDocument/2006/relationships/image" Target="../media/image-14-33.png"/><Relationship Id="rId34" Type="http://schemas.openxmlformats.org/officeDocument/2006/relationships/image" Target="../media/image-14-34.png"/><Relationship Id="rId35" Type="http://schemas.openxmlformats.org/officeDocument/2006/relationships/image" Target="../media/image-14-35.png"/><Relationship Id="rId36" Type="http://schemas.openxmlformats.org/officeDocument/2006/relationships/slideLayout" Target="../slideLayouts/slideLayout1.xml"/><Relationship Id="rId3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SK-1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SK-1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1425" y="0"/>
            <a:ext cx="28575" cy="6858000"/>
          </a:xfrm>
          <a:prstGeom prst="rect">
            <a:avLst/>
          </a:prstGeom>
        </p:spPr>
      </p:pic>
      <p:pic>
        <p:nvPicPr>
          <p:cNvPr id="7" name="SK-1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38100"/>
          </a:xfrm>
          <a:prstGeom prst="rect">
            <a:avLst/>
          </a:prstGeom>
        </p:spPr>
      </p:pic>
      <p:pic>
        <p:nvPicPr>
          <p:cNvPr id="8" name="SK-1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609600"/>
            <a:ext cx="495300" cy="495300"/>
          </a:xfrm>
          <a:prstGeom prst="rect">
            <a:avLst/>
          </a:prstGeom>
        </p:spPr>
      </p:pic>
      <p:pic>
        <p:nvPicPr>
          <p:cNvPr id="9" name="SK-1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4637187"/>
            <a:ext cx="685800" cy="28575"/>
          </a:xfrm>
          <a:prstGeom prst="rect">
            <a:avLst/>
          </a:prstGeom>
        </p:spPr>
      </p:pic>
      <p:pic>
        <p:nvPicPr>
          <p:cNvPr id="10" name="SK-1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6062663"/>
            <a:ext cx="1543050" cy="261937"/>
          </a:xfrm>
          <a:prstGeom prst="rect">
            <a:avLst/>
          </a:prstGeom>
        </p:spPr>
      </p:pic>
      <p:pic>
        <p:nvPicPr>
          <p:cNvPr id="11" name="SK-1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24100" y="6062663"/>
            <a:ext cx="2038350" cy="261937"/>
          </a:xfrm>
          <a:prstGeom prst="rect">
            <a:avLst/>
          </a:prstGeom>
        </p:spPr>
      </p:pic>
      <p:pic>
        <p:nvPicPr>
          <p:cNvPr id="12" name="SK-1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57700" y="6062663"/>
            <a:ext cx="885825" cy="261937"/>
          </a:xfrm>
          <a:prstGeom prst="rect">
            <a:avLst/>
          </a:prstGeom>
        </p:spPr>
      </p:pic>
      <p:pic>
        <p:nvPicPr>
          <p:cNvPr id="13" name="SK-1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76071" y="1302544"/>
            <a:ext cx="4320480" cy="4000500"/>
          </a:xfrm>
          <a:prstGeom prst="rect">
            <a:avLst/>
          </a:prstGeom>
        </p:spPr>
      </p:pic>
      <p:pic>
        <p:nvPicPr>
          <p:cNvPr id="14" name="SK-1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76071" y="1302544"/>
            <a:ext cx="4320480" cy="4000500"/>
          </a:xfrm>
          <a:prstGeom prst="rect">
            <a:avLst/>
          </a:prstGeom>
        </p:spPr>
      </p:pic>
      <p:sp>
        <p:nvSpPr>
          <p:cNvPr id="15" name="SK-1-text-14"/>
          <p:cNvSpPr/>
          <p:nvPr/>
        </p:nvSpPr>
        <p:spPr>
          <a:xfrm>
            <a:off x="1314450" y="764381"/>
            <a:ext cx="453390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spc="90" kern="0" dirty="0">
                <a:solidFill>
                  <a:srgbClr val="059669"/>
                </a:solidFill>
              </a:rPr>
              <a:t>FM ABATTAGE // SOUTENANCE DWWM</a:t>
            </a:r>
            <a:endParaRPr lang="en-US" sz="975" dirty="0"/>
          </a:p>
        </p:txBody>
      </p:sp>
      <p:sp>
        <p:nvSpPr>
          <p:cNvPr id="16" name="SK-1-text-15"/>
          <p:cNvSpPr/>
          <p:nvPr/>
        </p:nvSpPr>
        <p:spPr>
          <a:xfrm>
            <a:off x="685800" y="2120801"/>
            <a:ext cx="5928271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spc="120" kern="0" dirty="0">
                <a:solidFill>
                  <a:srgbClr val="0EA5E9"/>
                </a:solidFill>
              </a:rPr>
              <a:t>TITRE PROFESSIONNEL · SESSION 2026</a:t>
            </a:r>
            <a:endParaRPr lang="en-US" sz="975" dirty="0"/>
          </a:p>
        </p:txBody>
      </p:sp>
      <p:sp>
        <p:nvSpPr>
          <p:cNvPr id="17" name="SK-1-text-16"/>
          <p:cNvSpPr/>
          <p:nvPr/>
        </p:nvSpPr>
        <p:spPr>
          <a:xfrm>
            <a:off x="685800" y="2458938"/>
            <a:ext cx="8046720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5280"/>
              </a:lnSpc>
              <a:buNone/>
            </a:pPr>
            <a:r>
              <a:rPr lang="en-US" sz="4800" b="1" spc="-90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FM </a:t>
            </a:r>
            <a:pPr indent="0" marL="0">
              <a:lnSpc>
                <a:spcPts val="5280"/>
              </a:lnSpc>
              <a:buNone/>
            </a:pPr>
            <a:r>
              <a:rPr lang="en-US" sz="4800" b="1" spc="-90" kern="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Abattage</a:t>
            </a:r>
            <a:endParaRPr lang="en-US" sz="4800" dirty="0"/>
          </a:p>
        </p:txBody>
      </p:sp>
      <p:sp>
        <p:nvSpPr>
          <p:cNvPr id="18" name="SK-1-text-17"/>
          <p:cNvSpPr/>
          <p:nvPr/>
        </p:nvSpPr>
        <p:spPr>
          <a:xfrm>
            <a:off x="685800" y="3186559"/>
            <a:ext cx="6661785" cy="32191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35"/>
              </a:lnSpc>
              <a:buNone/>
            </a:pPr>
            <a:r>
              <a:rPr lang="en-US" sz="1950" b="1" spc="-18" kern="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de Gestion</a:t>
            </a:r>
            <a:endParaRPr lang="en-US" sz="1950" dirty="0"/>
          </a:p>
        </p:txBody>
      </p:sp>
      <p:sp>
        <p:nvSpPr>
          <p:cNvPr id="19" name="SK-1-text-18"/>
          <p:cNvSpPr/>
          <p:nvPr/>
        </p:nvSpPr>
        <p:spPr>
          <a:xfrm>
            <a:off x="685800" y="3679924"/>
            <a:ext cx="4953000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Soutenance du Titre Professionnel Développeur Web et Web Mobile — Application full-stack de gestion administrative pour la micro-entreprise FM Abattage.</a:t>
            </a:r>
            <a:endParaRPr lang="en-US" sz="1275" dirty="0"/>
          </a:p>
        </p:txBody>
      </p:sp>
      <p:sp>
        <p:nvSpPr>
          <p:cNvPr id="20" name="SK-1-text-19"/>
          <p:cNvSpPr/>
          <p:nvPr/>
        </p:nvSpPr>
        <p:spPr>
          <a:xfrm>
            <a:off x="685800" y="5681663"/>
            <a:ext cx="3067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spc="-18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Lydie Meunier</a:t>
            </a:r>
            <a:endParaRPr lang="en-US" sz="1500" dirty="0"/>
          </a:p>
        </p:txBody>
      </p:sp>
      <p:sp>
        <p:nvSpPr>
          <p:cNvPr id="21" name="SK-1-text-20"/>
          <p:cNvSpPr/>
          <p:nvPr/>
        </p:nvSpPr>
        <p:spPr>
          <a:xfrm>
            <a:off x="781050" y="6062663"/>
            <a:ext cx="2898187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DWWM · Session 2026</a:t>
            </a:r>
            <a:endParaRPr lang="en-US" sz="975" dirty="0"/>
          </a:p>
        </p:txBody>
      </p:sp>
      <p:sp>
        <p:nvSpPr>
          <p:cNvPr id="22" name="SK-1-text-21"/>
          <p:cNvSpPr/>
          <p:nvPr/>
        </p:nvSpPr>
        <p:spPr>
          <a:xfrm>
            <a:off x="2419350" y="6062663"/>
            <a:ext cx="3847886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Centre Européen de Formation</a:t>
            </a:r>
            <a:endParaRPr lang="en-US" sz="975" dirty="0"/>
          </a:p>
        </p:txBody>
      </p:sp>
      <p:sp>
        <p:nvSpPr>
          <p:cNvPr id="23" name="SK-1-text-22"/>
          <p:cNvSpPr/>
          <p:nvPr/>
        </p:nvSpPr>
        <p:spPr>
          <a:xfrm>
            <a:off x="4552950" y="6062663"/>
            <a:ext cx="1942363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 juin 2026</a:t>
            </a:r>
            <a:endParaRPr lang="en-US" sz="975" dirty="0"/>
          </a:p>
        </p:txBody>
      </p:sp>
      <p:sp>
        <p:nvSpPr>
          <p:cNvPr id="24" name="SK-1-text-23"/>
          <p:cNvSpPr/>
          <p:nvPr/>
        </p:nvSpPr>
        <p:spPr>
          <a:xfrm>
            <a:off x="8499872" y="5398294"/>
            <a:ext cx="319667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238"/>
              </a:lnSpc>
              <a:buNone/>
            </a:pPr>
            <a:r>
              <a:rPr lang="en-US" sz="825" spc="48" kern="0" dirty="0">
                <a:solidFill>
                  <a:srgbClr val="94A3B8"/>
                </a:solidFill>
              </a:rPr>
              <a:t>PAYSAGISME &amp; ABATTAGE · SOLUTION NUMÉRIQUE</a:t>
            </a:r>
            <a:endParaRPr lang="en-US" sz="8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2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47650"/>
            <a:ext cx="11049000" cy="641896"/>
          </a:xfrm>
          <a:prstGeom prst="rect">
            <a:avLst/>
          </a:prstGeom>
        </p:spPr>
      </p:pic>
      <p:pic>
        <p:nvPicPr>
          <p:cNvPr id="5" name="SK-2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032421"/>
            <a:ext cx="5372100" cy="2698552"/>
          </a:xfrm>
          <a:prstGeom prst="rect">
            <a:avLst/>
          </a:prstGeom>
        </p:spPr>
      </p:pic>
      <p:pic>
        <p:nvPicPr>
          <p:cNvPr id="6" name="SK-2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1280071"/>
            <a:ext cx="190500" cy="152400"/>
          </a:xfrm>
          <a:prstGeom prst="rect">
            <a:avLst/>
          </a:prstGeom>
        </p:spPr>
      </p:pic>
      <p:pic>
        <p:nvPicPr>
          <p:cNvPr id="7" name="SK-2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1622971"/>
            <a:ext cx="190500" cy="205085"/>
          </a:xfrm>
          <a:prstGeom prst="rect">
            <a:avLst/>
          </a:prstGeom>
        </p:spPr>
      </p:pic>
      <p:pic>
        <p:nvPicPr>
          <p:cNvPr id="8" name="SK-2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2175421"/>
            <a:ext cx="190500" cy="166688"/>
          </a:xfrm>
          <a:prstGeom prst="rect">
            <a:avLst/>
          </a:prstGeom>
        </p:spPr>
      </p:pic>
      <p:pic>
        <p:nvPicPr>
          <p:cNvPr id="9" name="SK-2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2499271"/>
            <a:ext cx="190500" cy="166688"/>
          </a:xfrm>
          <a:prstGeom prst="rect">
            <a:avLst/>
          </a:prstGeom>
        </p:spPr>
      </p:pic>
      <p:pic>
        <p:nvPicPr>
          <p:cNvPr id="10" name="SK-2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2851696"/>
            <a:ext cx="4914900" cy="9525"/>
          </a:xfrm>
          <a:prstGeom prst="rect">
            <a:avLst/>
          </a:prstGeom>
        </p:spPr>
      </p:pic>
      <p:pic>
        <p:nvPicPr>
          <p:cNvPr id="11" name="SK-2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100" y="2985046"/>
            <a:ext cx="190500" cy="222200"/>
          </a:xfrm>
          <a:prstGeom prst="rect">
            <a:avLst/>
          </a:prstGeom>
        </p:spPr>
      </p:pic>
      <p:pic>
        <p:nvPicPr>
          <p:cNvPr id="12" name="SK-2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3911947"/>
            <a:ext cx="5372100" cy="2698552"/>
          </a:xfrm>
          <a:prstGeom prst="rect">
            <a:avLst/>
          </a:prstGeom>
        </p:spPr>
      </p:pic>
      <p:pic>
        <p:nvPicPr>
          <p:cNvPr id="13" name="SK-2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0100" y="4159597"/>
            <a:ext cx="190500" cy="152400"/>
          </a:xfrm>
          <a:prstGeom prst="rect">
            <a:avLst/>
          </a:prstGeom>
        </p:spPr>
      </p:pic>
      <p:pic>
        <p:nvPicPr>
          <p:cNvPr id="14" name="SK-2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0100" y="4502497"/>
            <a:ext cx="4914900" cy="228600"/>
          </a:xfrm>
          <a:prstGeom prst="rect">
            <a:avLst/>
          </a:prstGeom>
        </p:spPr>
      </p:pic>
      <p:pic>
        <p:nvPicPr>
          <p:cNvPr id="15" name="SK-2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0100" y="4912072"/>
            <a:ext cx="190500" cy="166688"/>
          </a:xfrm>
          <a:prstGeom prst="rect">
            <a:avLst/>
          </a:prstGeom>
        </p:spPr>
      </p:pic>
      <p:pic>
        <p:nvPicPr>
          <p:cNvPr id="16" name="SK-2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0100" y="5235922"/>
            <a:ext cx="190500" cy="166688"/>
          </a:xfrm>
          <a:prstGeom prst="rect">
            <a:avLst/>
          </a:prstGeom>
        </p:spPr>
      </p:pic>
      <p:pic>
        <p:nvPicPr>
          <p:cNvPr id="17" name="SK-2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0100" y="5559772"/>
            <a:ext cx="190500" cy="166688"/>
          </a:xfrm>
          <a:prstGeom prst="rect">
            <a:avLst/>
          </a:prstGeom>
        </p:spPr>
      </p:pic>
      <p:pic>
        <p:nvPicPr>
          <p:cNvPr id="18" name="SK-2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48400" y="1032421"/>
            <a:ext cx="5372100" cy="2743200"/>
          </a:xfrm>
          <a:prstGeom prst="rect">
            <a:avLst/>
          </a:prstGeom>
        </p:spPr>
      </p:pic>
      <p:pic>
        <p:nvPicPr>
          <p:cNvPr id="19" name="SK-2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77000" y="1280071"/>
            <a:ext cx="190500" cy="152400"/>
          </a:xfrm>
          <a:prstGeom prst="rect">
            <a:avLst/>
          </a:prstGeom>
        </p:spPr>
      </p:pic>
      <p:pic>
        <p:nvPicPr>
          <p:cNvPr id="20" name="SK-2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77000" y="1622971"/>
            <a:ext cx="4914900" cy="228600"/>
          </a:xfrm>
          <a:prstGeom prst="rect">
            <a:avLst/>
          </a:prstGeom>
        </p:spPr>
      </p:pic>
      <p:pic>
        <p:nvPicPr>
          <p:cNvPr id="21" name="SK-2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77000" y="2032546"/>
            <a:ext cx="190500" cy="190500"/>
          </a:xfrm>
          <a:prstGeom prst="rect">
            <a:avLst/>
          </a:prstGeom>
        </p:spPr>
      </p:pic>
      <p:pic>
        <p:nvPicPr>
          <p:cNvPr id="22" name="SK-2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77000" y="2584996"/>
            <a:ext cx="190500" cy="205085"/>
          </a:xfrm>
          <a:prstGeom prst="rect">
            <a:avLst/>
          </a:prstGeom>
        </p:spPr>
      </p:pic>
      <p:pic>
        <p:nvPicPr>
          <p:cNvPr id="23" name="SK-2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77000" y="3137446"/>
            <a:ext cx="190500" cy="166688"/>
          </a:xfrm>
          <a:prstGeom prst="rect">
            <a:avLst/>
          </a:prstGeom>
        </p:spPr>
      </p:pic>
      <p:pic>
        <p:nvPicPr>
          <p:cNvPr id="24" name="SK-2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248400" y="3918496"/>
            <a:ext cx="5372100" cy="2691854"/>
          </a:xfrm>
          <a:prstGeom prst="rect">
            <a:avLst/>
          </a:prstGeom>
        </p:spPr>
      </p:pic>
      <p:pic>
        <p:nvPicPr>
          <p:cNvPr id="25" name="SK-2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77000" y="4166146"/>
            <a:ext cx="190500" cy="152400"/>
          </a:xfrm>
          <a:prstGeom prst="rect">
            <a:avLst/>
          </a:prstGeom>
        </p:spPr>
      </p:pic>
      <p:pic>
        <p:nvPicPr>
          <p:cNvPr id="26" name="SK-2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77000" y="5418683"/>
            <a:ext cx="190500" cy="166688"/>
          </a:xfrm>
          <a:prstGeom prst="rect">
            <a:avLst/>
          </a:prstGeom>
        </p:spPr>
      </p:pic>
      <p:pic>
        <p:nvPicPr>
          <p:cNvPr id="27" name="SK-2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477000" y="5742533"/>
            <a:ext cx="190500" cy="166688"/>
          </a:xfrm>
          <a:prstGeom prst="rect">
            <a:avLst/>
          </a:prstGeom>
        </p:spPr>
      </p:pic>
      <p:pic>
        <p:nvPicPr>
          <p:cNvPr id="28" name="SK-2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477000" y="6066383"/>
            <a:ext cx="190500" cy="166688"/>
          </a:xfrm>
          <a:prstGeom prst="rect">
            <a:avLst/>
          </a:prstGeom>
        </p:spPr>
      </p:pic>
      <p:sp>
        <p:nvSpPr>
          <p:cNvPr id="29" name="SK-2-text-28"/>
          <p:cNvSpPr/>
          <p:nvPr/>
        </p:nvSpPr>
        <p:spPr>
          <a:xfrm>
            <a:off x="762000" y="247650"/>
            <a:ext cx="10934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spc="60" kern="0" dirty="0">
                <a:solidFill>
                  <a:srgbClr val="059669"/>
                </a:solidFill>
              </a:rPr>
              <a:t>DWWM 2026 // LYDIE MEUNIER</a:t>
            </a:r>
            <a:endParaRPr lang="en-US" sz="1050" dirty="0"/>
          </a:p>
        </p:txBody>
      </p:sp>
      <p:sp>
        <p:nvSpPr>
          <p:cNvPr id="30" name="SK-2-text-29"/>
          <p:cNvSpPr/>
          <p:nvPr/>
        </p:nvSpPr>
        <p:spPr>
          <a:xfrm>
            <a:off x="762000" y="523875"/>
            <a:ext cx="114300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Présentation du Projet &amp; Contexte</a:t>
            </a:r>
            <a:endParaRPr lang="en-US" sz="2400" dirty="0"/>
          </a:p>
        </p:txBody>
      </p:sp>
      <p:sp>
        <p:nvSpPr>
          <p:cNvPr id="31" name="SK-2-text-30"/>
          <p:cNvSpPr/>
          <p:nvPr/>
        </p:nvSpPr>
        <p:spPr>
          <a:xfrm>
            <a:off x="1104900" y="1213396"/>
            <a:ext cx="6496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Micro-entreprise FM Abattage</a:t>
            </a:r>
            <a:endParaRPr lang="en-US" sz="1500" dirty="0"/>
          </a:p>
        </p:txBody>
      </p:sp>
      <p:sp>
        <p:nvSpPr>
          <p:cNvPr id="32" name="SK-2-text-31"/>
          <p:cNvSpPr/>
          <p:nvPr/>
        </p:nvSpPr>
        <p:spPr>
          <a:xfrm>
            <a:off x="1085850" y="1622971"/>
            <a:ext cx="4629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Gérant :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Entrepreneur individuel spécialisé en paysagisme et abattage d'arbres.</a:t>
            </a:r>
            <a:endParaRPr lang="en-US" sz="1200" dirty="0"/>
          </a:p>
        </p:txBody>
      </p:sp>
      <p:sp>
        <p:nvSpPr>
          <p:cNvPr id="33" name="SK-2-text-32"/>
          <p:cNvSpPr/>
          <p:nvPr/>
        </p:nvSpPr>
        <p:spPr>
          <a:xfrm>
            <a:off x="1085850" y="2175421"/>
            <a:ext cx="842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rue du Thou, 01240 Saint-Paul de Varax</a:t>
            </a:r>
            <a:endParaRPr lang="en-US" sz="1200" dirty="0"/>
          </a:p>
        </p:txBody>
      </p:sp>
      <p:sp>
        <p:nvSpPr>
          <p:cNvPr id="34" name="SK-2-text-33"/>
          <p:cNvSpPr/>
          <p:nvPr/>
        </p:nvSpPr>
        <p:spPr>
          <a:xfrm>
            <a:off x="1085850" y="2499271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SIRET :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914 446 364</a:t>
            </a:r>
            <a:endParaRPr lang="en-US" sz="1200" dirty="0"/>
          </a:p>
        </p:txBody>
      </p:sp>
      <p:sp>
        <p:nvSpPr>
          <p:cNvPr id="35" name="SK-2-text-34"/>
          <p:cNvSpPr/>
          <p:nvPr/>
        </p:nvSpPr>
        <p:spPr>
          <a:xfrm>
            <a:off x="1085850" y="2985046"/>
            <a:ext cx="4629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Ancienne gestion :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Utilisation exclusive de fichiers Excel et documents manuels.</a:t>
            </a:r>
            <a:endParaRPr lang="en-US" sz="1200" dirty="0"/>
          </a:p>
        </p:txBody>
      </p:sp>
      <p:sp>
        <p:nvSpPr>
          <p:cNvPr id="36" name="SK-2-text-35"/>
          <p:cNvSpPr/>
          <p:nvPr/>
        </p:nvSpPr>
        <p:spPr>
          <a:xfrm>
            <a:off x="1104900" y="4092922"/>
            <a:ext cx="4667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Problèmes Identifiés</a:t>
            </a:r>
            <a:endParaRPr lang="en-US" sz="1500" dirty="0"/>
          </a:p>
        </p:txBody>
      </p:sp>
      <p:sp>
        <p:nvSpPr>
          <p:cNvPr id="37" name="SK-2-text-36"/>
          <p:cNvSpPr/>
          <p:nvPr/>
        </p:nvSpPr>
        <p:spPr>
          <a:xfrm>
            <a:off x="914400" y="4502497"/>
            <a:ext cx="476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spc="30" kern="0" dirty="0">
                <a:solidFill>
                  <a:srgbClr val="9240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ÉTAT INITIAL : CRITIQUE</a:t>
            </a:r>
            <a:endParaRPr lang="en-US" sz="900" dirty="0"/>
          </a:p>
        </p:txBody>
      </p:sp>
      <p:sp>
        <p:nvSpPr>
          <p:cNvPr id="38" name="SK-2-text-37"/>
          <p:cNvSpPr/>
          <p:nvPr/>
        </p:nvSpPr>
        <p:spPr>
          <a:xfrm>
            <a:off x="1085850" y="4912072"/>
            <a:ext cx="1104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Perte de temps significative et risques d'erreurs de saisie.</a:t>
            </a:r>
            <a:endParaRPr lang="en-US" sz="1200" dirty="0"/>
          </a:p>
        </p:txBody>
      </p:sp>
      <p:sp>
        <p:nvSpPr>
          <p:cNvPr id="39" name="SK-2-text-38"/>
          <p:cNvSpPr/>
          <p:nvPr/>
        </p:nvSpPr>
        <p:spPr>
          <a:xfrm>
            <a:off x="1085850" y="5235922"/>
            <a:ext cx="11106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Difficulté à retrouver et centraliser les informations clients.</a:t>
            </a:r>
            <a:endParaRPr lang="en-US" sz="1200" dirty="0"/>
          </a:p>
        </p:txBody>
      </p:sp>
      <p:sp>
        <p:nvSpPr>
          <p:cNvPr id="40" name="SK-2-text-39"/>
          <p:cNvSpPr/>
          <p:nvPr/>
        </p:nvSpPr>
        <p:spPr>
          <a:xfrm>
            <a:off x="1085850" y="5559772"/>
            <a:ext cx="1031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Utilisateur avec des compétences informatiques limitées.</a:t>
            </a:r>
            <a:endParaRPr lang="en-US" sz="1200" dirty="0"/>
          </a:p>
        </p:txBody>
      </p:sp>
      <p:sp>
        <p:nvSpPr>
          <p:cNvPr id="41" name="SK-2-text-40"/>
          <p:cNvSpPr/>
          <p:nvPr/>
        </p:nvSpPr>
        <p:spPr>
          <a:xfrm>
            <a:off x="6781800" y="1213396"/>
            <a:ext cx="44386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Objectifs du Projet</a:t>
            </a:r>
            <a:endParaRPr lang="en-US" sz="1500" dirty="0"/>
          </a:p>
        </p:txBody>
      </p:sp>
      <p:sp>
        <p:nvSpPr>
          <p:cNvPr id="42" name="SK-2-text-41"/>
          <p:cNvSpPr/>
          <p:nvPr/>
        </p:nvSpPr>
        <p:spPr>
          <a:xfrm>
            <a:off x="6591300" y="1622971"/>
            <a:ext cx="476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spc="30" kern="0" dirty="0">
                <a:solidFill>
                  <a:srgbClr val="06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 : CENTRALISÉE</a:t>
            </a:r>
            <a:endParaRPr lang="en-US" sz="900" dirty="0"/>
          </a:p>
        </p:txBody>
      </p:sp>
      <p:sp>
        <p:nvSpPr>
          <p:cNvPr id="43" name="SK-2-text-42"/>
          <p:cNvSpPr/>
          <p:nvPr/>
        </p:nvSpPr>
        <p:spPr>
          <a:xfrm>
            <a:off x="6762750" y="2032546"/>
            <a:ext cx="4629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Automatisation :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Gestion fluide des clients, devis, factures et paiements.</a:t>
            </a:r>
            <a:endParaRPr lang="en-US" sz="1200" dirty="0"/>
          </a:p>
        </p:txBody>
      </p:sp>
      <p:sp>
        <p:nvSpPr>
          <p:cNvPr id="44" name="SK-2-text-43"/>
          <p:cNvSpPr/>
          <p:nvPr/>
        </p:nvSpPr>
        <p:spPr>
          <a:xfrm>
            <a:off x="6762750" y="2584996"/>
            <a:ext cx="4629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Fiabilisation :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Réduction des erreurs humaines et sécurisation des données.</a:t>
            </a:r>
            <a:endParaRPr lang="en-US" sz="1200" dirty="0"/>
          </a:p>
        </p:txBody>
      </p:sp>
      <p:sp>
        <p:nvSpPr>
          <p:cNvPr id="45" name="SK-2-text-44"/>
          <p:cNvSpPr/>
          <p:nvPr/>
        </p:nvSpPr>
        <p:spPr>
          <a:xfrm>
            <a:off x="6762750" y="3137446"/>
            <a:ext cx="4629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Simplicité :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Interface intuitive pour une prise en main immédiate.</a:t>
            </a:r>
            <a:endParaRPr lang="en-US" sz="1200" dirty="0"/>
          </a:p>
        </p:txBody>
      </p:sp>
      <p:sp>
        <p:nvSpPr>
          <p:cNvPr id="46" name="SK-2-text-45"/>
          <p:cNvSpPr/>
          <p:nvPr/>
        </p:nvSpPr>
        <p:spPr>
          <a:xfrm>
            <a:off x="6781800" y="4099471"/>
            <a:ext cx="51244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Solution Développée</a:t>
            </a:r>
            <a:endParaRPr lang="en-US" sz="1500" dirty="0"/>
          </a:p>
        </p:txBody>
      </p:sp>
      <p:sp>
        <p:nvSpPr>
          <p:cNvPr id="47" name="SK-2-text-46"/>
          <p:cNvSpPr/>
          <p:nvPr/>
        </p:nvSpPr>
        <p:spPr>
          <a:xfrm>
            <a:off x="6477000" y="4509046"/>
            <a:ext cx="4914900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Développement d'une </a:t>
            </a:r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web full-stack</a:t>
            </a:r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sur mesure remplaçant les outils bureautiques traditionnels par une plateforme unique et collaborative.</a:t>
            </a:r>
            <a:endParaRPr lang="en-US" sz="1275" dirty="0"/>
          </a:p>
        </p:txBody>
      </p:sp>
      <p:sp>
        <p:nvSpPr>
          <p:cNvPr id="48" name="SK-2-text-47"/>
          <p:cNvSpPr/>
          <p:nvPr/>
        </p:nvSpPr>
        <p:spPr>
          <a:xfrm>
            <a:off x="6762750" y="5418683"/>
            <a:ext cx="542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de données relationnelle centralisée.</a:t>
            </a:r>
            <a:endParaRPr lang="en-US" sz="1200" dirty="0"/>
          </a:p>
        </p:txBody>
      </p:sp>
      <p:sp>
        <p:nvSpPr>
          <p:cNvPr id="49" name="SK-2-text-48"/>
          <p:cNvSpPr/>
          <p:nvPr/>
        </p:nvSpPr>
        <p:spPr>
          <a:xfrm>
            <a:off x="6762750" y="5742533"/>
            <a:ext cx="542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Génération automatique de documents PDF professionnels.</a:t>
            </a:r>
            <a:endParaRPr lang="en-US" sz="1200" dirty="0"/>
          </a:p>
        </p:txBody>
      </p:sp>
      <p:sp>
        <p:nvSpPr>
          <p:cNvPr id="50" name="SK-2-text-49"/>
          <p:cNvSpPr/>
          <p:nvPr/>
        </p:nvSpPr>
        <p:spPr>
          <a:xfrm>
            <a:off x="6762750" y="6066383"/>
            <a:ext cx="542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Suivi en temps réel de l'activité commerciale.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3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3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3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11049000" cy="641896"/>
          </a:xfrm>
          <a:prstGeom prst="rect">
            <a:avLst/>
          </a:prstGeom>
        </p:spPr>
      </p:pic>
      <p:pic>
        <p:nvPicPr>
          <p:cNvPr id="5" name="SK-3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251496"/>
            <a:ext cx="3530650" cy="2536627"/>
          </a:xfrm>
          <a:prstGeom prst="rect">
            <a:avLst/>
          </a:prstGeom>
        </p:spPr>
      </p:pic>
      <p:pic>
        <p:nvPicPr>
          <p:cNvPr id="6" name="SK-3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365796"/>
            <a:ext cx="3302050" cy="333375"/>
          </a:xfrm>
          <a:prstGeom prst="rect">
            <a:avLst/>
          </a:prstGeom>
        </p:spPr>
      </p:pic>
      <p:pic>
        <p:nvPicPr>
          <p:cNvPr id="7" name="SK-3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406723"/>
            <a:ext cx="214313" cy="175320"/>
          </a:xfrm>
          <a:prstGeom prst="rect">
            <a:avLst/>
          </a:prstGeom>
        </p:spPr>
      </p:pic>
      <p:pic>
        <p:nvPicPr>
          <p:cNvPr id="8" name="SK-3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2073027"/>
            <a:ext cx="38100" cy="38100"/>
          </a:xfrm>
          <a:prstGeom prst="rect">
            <a:avLst/>
          </a:prstGeom>
        </p:spPr>
      </p:pic>
      <p:pic>
        <p:nvPicPr>
          <p:cNvPr id="9" name="SK-3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2296864"/>
            <a:ext cx="38100" cy="38100"/>
          </a:xfrm>
          <a:prstGeom prst="rect">
            <a:avLst/>
          </a:prstGeom>
        </p:spPr>
      </p:pic>
      <p:pic>
        <p:nvPicPr>
          <p:cNvPr id="10" name="SK-3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2520702"/>
            <a:ext cx="38100" cy="38100"/>
          </a:xfrm>
          <a:prstGeom prst="rect">
            <a:avLst/>
          </a:prstGeom>
        </p:spPr>
      </p:pic>
      <p:pic>
        <p:nvPicPr>
          <p:cNvPr id="11" name="SK-3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2744539"/>
            <a:ext cx="38100" cy="38100"/>
          </a:xfrm>
          <a:prstGeom prst="rect">
            <a:avLst/>
          </a:prstGeom>
        </p:spPr>
      </p:pic>
      <p:pic>
        <p:nvPicPr>
          <p:cNvPr id="12" name="SK-3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3292822"/>
            <a:ext cx="3302050" cy="381000"/>
          </a:xfrm>
          <a:prstGeom prst="rect">
            <a:avLst/>
          </a:prstGeom>
        </p:spPr>
      </p:pic>
      <p:pic>
        <p:nvPicPr>
          <p:cNvPr id="13" name="SK-3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3940522"/>
            <a:ext cx="3530650" cy="2536627"/>
          </a:xfrm>
          <a:prstGeom prst="rect">
            <a:avLst/>
          </a:prstGeom>
        </p:spPr>
      </p:pic>
      <p:pic>
        <p:nvPicPr>
          <p:cNvPr id="14" name="SK-3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5800" y="4054822"/>
            <a:ext cx="3302050" cy="333375"/>
          </a:xfrm>
          <a:prstGeom prst="rect">
            <a:avLst/>
          </a:prstGeom>
        </p:spPr>
      </p:pic>
      <p:pic>
        <p:nvPicPr>
          <p:cNvPr id="15" name="SK-3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800" y="4095750"/>
            <a:ext cx="214313" cy="175320"/>
          </a:xfrm>
          <a:prstGeom prst="rect">
            <a:avLst/>
          </a:prstGeom>
        </p:spPr>
      </p:pic>
      <p:pic>
        <p:nvPicPr>
          <p:cNvPr id="16" name="SK-3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5800" y="4762054"/>
            <a:ext cx="38100" cy="38100"/>
          </a:xfrm>
          <a:prstGeom prst="rect">
            <a:avLst/>
          </a:prstGeom>
        </p:spPr>
      </p:pic>
      <p:pic>
        <p:nvPicPr>
          <p:cNvPr id="17" name="SK-3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5800" y="4985891"/>
            <a:ext cx="38100" cy="38100"/>
          </a:xfrm>
          <a:prstGeom prst="rect">
            <a:avLst/>
          </a:prstGeom>
        </p:spPr>
      </p:pic>
      <p:pic>
        <p:nvPicPr>
          <p:cNvPr id="18" name="SK-3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5800" y="5209729"/>
            <a:ext cx="38100" cy="38100"/>
          </a:xfrm>
          <a:prstGeom prst="rect">
            <a:avLst/>
          </a:prstGeom>
        </p:spPr>
      </p:pic>
      <p:pic>
        <p:nvPicPr>
          <p:cNvPr id="19" name="SK-3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330750" y="1251496"/>
            <a:ext cx="3530650" cy="2536627"/>
          </a:xfrm>
          <a:prstGeom prst="rect">
            <a:avLst/>
          </a:prstGeom>
        </p:spPr>
      </p:pic>
      <p:pic>
        <p:nvPicPr>
          <p:cNvPr id="20" name="SK-3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445050" y="1365796"/>
            <a:ext cx="3302050" cy="333375"/>
          </a:xfrm>
          <a:prstGeom prst="rect">
            <a:avLst/>
          </a:prstGeom>
        </p:spPr>
      </p:pic>
      <p:pic>
        <p:nvPicPr>
          <p:cNvPr id="21" name="SK-3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445050" y="1406723"/>
            <a:ext cx="214313" cy="175320"/>
          </a:xfrm>
          <a:prstGeom prst="rect">
            <a:avLst/>
          </a:prstGeom>
        </p:spPr>
      </p:pic>
      <p:pic>
        <p:nvPicPr>
          <p:cNvPr id="22" name="SK-3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445050" y="2073027"/>
            <a:ext cx="38100" cy="38100"/>
          </a:xfrm>
          <a:prstGeom prst="rect">
            <a:avLst/>
          </a:prstGeom>
        </p:spPr>
      </p:pic>
      <p:pic>
        <p:nvPicPr>
          <p:cNvPr id="23" name="SK-3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445050" y="2296864"/>
            <a:ext cx="38100" cy="38100"/>
          </a:xfrm>
          <a:prstGeom prst="rect">
            <a:avLst/>
          </a:prstGeom>
        </p:spPr>
      </p:pic>
      <p:pic>
        <p:nvPicPr>
          <p:cNvPr id="24" name="SK-3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445050" y="2520702"/>
            <a:ext cx="38100" cy="38100"/>
          </a:xfrm>
          <a:prstGeom prst="rect">
            <a:avLst/>
          </a:prstGeom>
        </p:spPr>
      </p:pic>
      <p:pic>
        <p:nvPicPr>
          <p:cNvPr id="25" name="SK-3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445050" y="2744539"/>
            <a:ext cx="38100" cy="38100"/>
          </a:xfrm>
          <a:prstGeom prst="rect">
            <a:avLst/>
          </a:prstGeom>
        </p:spPr>
      </p:pic>
      <p:pic>
        <p:nvPicPr>
          <p:cNvPr id="26" name="SK-3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445050" y="3292822"/>
            <a:ext cx="3302050" cy="381000"/>
          </a:xfrm>
          <a:prstGeom prst="rect">
            <a:avLst/>
          </a:prstGeom>
        </p:spPr>
      </p:pic>
      <p:pic>
        <p:nvPicPr>
          <p:cNvPr id="27" name="SK-3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330750" y="3940522"/>
            <a:ext cx="3530650" cy="2536627"/>
          </a:xfrm>
          <a:prstGeom prst="rect">
            <a:avLst/>
          </a:prstGeom>
        </p:spPr>
      </p:pic>
      <p:pic>
        <p:nvPicPr>
          <p:cNvPr id="28" name="SK-3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445050" y="4054822"/>
            <a:ext cx="3302050" cy="333375"/>
          </a:xfrm>
          <a:prstGeom prst="rect">
            <a:avLst/>
          </a:prstGeom>
        </p:spPr>
      </p:pic>
      <p:pic>
        <p:nvPicPr>
          <p:cNvPr id="29" name="SK-3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445050" y="4095750"/>
            <a:ext cx="214313" cy="175320"/>
          </a:xfrm>
          <a:prstGeom prst="rect">
            <a:avLst/>
          </a:prstGeom>
        </p:spPr>
      </p:pic>
      <p:pic>
        <p:nvPicPr>
          <p:cNvPr id="30" name="SK-3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445050" y="4762054"/>
            <a:ext cx="38100" cy="38100"/>
          </a:xfrm>
          <a:prstGeom prst="rect">
            <a:avLst/>
          </a:prstGeom>
        </p:spPr>
      </p:pic>
      <p:pic>
        <p:nvPicPr>
          <p:cNvPr id="31" name="SK-3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445050" y="4985891"/>
            <a:ext cx="38100" cy="38100"/>
          </a:xfrm>
          <a:prstGeom prst="rect">
            <a:avLst/>
          </a:prstGeom>
        </p:spPr>
      </p:pic>
      <p:pic>
        <p:nvPicPr>
          <p:cNvPr id="32" name="SK-3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445050" y="5209729"/>
            <a:ext cx="38100" cy="38100"/>
          </a:xfrm>
          <a:prstGeom prst="rect">
            <a:avLst/>
          </a:prstGeom>
        </p:spPr>
      </p:pic>
      <p:pic>
        <p:nvPicPr>
          <p:cNvPr id="33" name="SK-3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445050" y="5981849"/>
            <a:ext cx="3302050" cy="381000"/>
          </a:xfrm>
          <a:prstGeom prst="rect">
            <a:avLst/>
          </a:prstGeom>
        </p:spPr>
      </p:pic>
      <p:pic>
        <p:nvPicPr>
          <p:cNvPr id="34" name="SK-3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089999" y="1251496"/>
            <a:ext cx="3530650" cy="1640235"/>
          </a:xfrm>
          <a:prstGeom prst="rect">
            <a:avLst/>
          </a:prstGeom>
        </p:spPr>
      </p:pic>
      <p:pic>
        <p:nvPicPr>
          <p:cNvPr id="35" name="SK-3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204299" y="1365796"/>
            <a:ext cx="3302050" cy="333375"/>
          </a:xfrm>
          <a:prstGeom prst="rect">
            <a:avLst/>
          </a:prstGeom>
        </p:spPr>
      </p:pic>
      <p:pic>
        <p:nvPicPr>
          <p:cNvPr id="36" name="SK-3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204299" y="1406723"/>
            <a:ext cx="214313" cy="175320"/>
          </a:xfrm>
          <a:prstGeom prst="rect">
            <a:avLst/>
          </a:prstGeom>
        </p:spPr>
      </p:pic>
      <p:pic>
        <p:nvPicPr>
          <p:cNvPr id="37" name="SK-3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8204299" y="2073027"/>
            <a:ext cx="38100" cy="38100"/>
          </a:xfrm>
          <a:prstGeom prst="rect">
            <a:avLst/>
          </a:prstGeom>
        </p:spPr>
      </p:pic>
      <p:pic>
        <p:nvPicPr>
          <p:cNvPr id="38" name="SK-3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204299" y="2296864"/>
            <a:ext cx="38100" cy="38100"/>
          </a:xfrm>
          <a:prstGeom prst="rect">
            <a:avLst/>
          </a:prstGeom>
        </p:spPr>
      </p:pic>
      <p:pic>
        <p:nvPicPr>
          <p:cNvPr id="39" name="SK-3-img-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8204299" y="2520702"/>
            <a:ext cx="38100" cy="38100"/>
          </a:xfrm>
          <a:prstGeom prst="rect">
            <a:avLst/>
          </a:prstGeom>
        </p:spPr>
      </p:pic>
      <p:pic>
        <p:nvPicPr>
          <p:cNvPr id="40" name="SK-3-img-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8089999" y="3044130"/>
            <a:ext cx="3530650" cy="1640235"/>
          </a:xfrm>
          <a:prstGeom prst="rect">
            <a:avLst/>
          </a:prstGeom>
        </p:spPr>
      </p:pic>
      <p:pic>
        <p:nvPicPr>
          <p:cNvPr id="41" name="SK-3-img-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8204299" y="3158430"/>
            <a:ext cx="3302050" cy="333375"/>
          </a:xfrm>
          <a:prstGeom prst="rect">
            <a:avLst/>
          </a:prstGeom>
        </p:spPr>
      </p:pic>
      <p:pic>
        <p:nvPicPr>
          <p:cNvPr id="42" name="SK-3-img-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8204299" y="3199358"/>
            <a:ext cx="214313" cy="175320"/>
          </a:xfrm>
          <a:prstGeom prst="rect">
            <a:avLst/>
          </a:prstGeom>
        </p:spPr>
      </p:pic>
      <p:pic>
        <p:nvPicPr>
          <p:cNvPr id="43" name="SK-3-img-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8204299" y="3865662"/>
            <a:ext cx="38100" cy="38100"/>
          </a:xfrm>
          <a:prstGeom prst="rect">
            <a:avLst/>
          </a:prstGeom>
        </p:spPr>
      </p:pic>
      <p:pic>
        <p:nvPicPr>
          <p:cNvPr id="44" name="SK-3-img-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8204299" y="4089499"/>
            <a:ext cx="38100" cy="38100"/>
          </a:xfrm>
          <a:prstGeom prst="rect">
            <a:avLst/>
          </a:prstGeom>
        </p:spPr>
      </p:pic>
      <p:pic>
        <p:nvPicPr>
          <p:cNvPr id="45" name="SK-3-img-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8089999" y="4836765"/>
            <a:ext cx="3530650" cy="1640235"/>
          </a:xfrm>
          <a:prstGeom prst="rect">
            <a:avLst/>
          </a:prstGeom>
        </p:spPr>
      </p:pic>
      <p:pic>
        <p:nvPicPr>
          <p:cNvPr id="46" name="SK-3-img-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8204299" y="4951065"/>
            <a:ext cx="3302050" cy="333375"/>
          </a:xfrm>
          <a:prstGeom prst="rect">
            <a:avLst/>
          </a:prstGeom>
        </p:spPr>
      </p:pic>
      <p:pic>
        <p:nvPicPr>
          <p:cNvPr id="47" name="SK-3-img-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8204299" y="4991993"/>
            <a:ext cx="214313" cy="175320"/>
          </a:xfrm>
          <a:prstGeom prst="rect">
            <a:avLst/>
          </a:prstGeom>
        </p:spPr>
      </p:pic>
      <p:pic>
        <p:nvPicPr>
          <p:cNvPr id="48" name="SK-3-img-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8204299" y="5658296"/>
            <a:ext cx="38100" cy="38100"/>
          </a:xfrm>
          <a:prstGeom prst="rect">
            <a:avLst/>
          </a:prstGeom>
        </p:spPr>
      </p:pic>
      <p:pic>
        <p:nvPicPr>
          <p:cNvPr id="49" name="SK-3-img-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8204299" y="5882134"/>
            <a:ext cx="38100" cy="38100"/>
          </a:xfrm>
          <a:prstGeom prst="rect">
            <a:avLst/>
          </a:prstGeom>
        </p:spPr>
      </p:pic>
      <p:sp>
        <p:nvSpPr>
          <p:cNvPr id="50" name="SK-3-text-49"/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spc="60" kern="0" dirty="0">
                <a:solidFill>
                  <a:srgbClr val="059669"/>
                </a:solidFill>
              </a:rPr>
              <a:t>DWWM 2026 // LYDIE MEUNIER</a:t>
            </a:r>
            <a:endParaRPr lang="en-US" sz="1050" dirty="0"/>
          </a:p>
        </p:txBody>
      </p:sp>
      <p:sp>
        <p:nvSpPr>
          <p:cNvPr id="51" name="SK-3-text-50"/>
          <p:cNvSpPr/>
          <p:nvPr/>
        </p:nvSpPr>
        <p:spPr>
          <a:xfrm>
            <a:off x="762000" y="657225"/>
            <a:ext cx="114300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Modèle Conceptuel de Données (MCD)</a:t>
            </a:r>
            <a:endParaRPr lang="en-US" sz="2400" dirty="0"/>
          </a:p>
        </p:txBody>
      </p:sp>
      <p:sp>
        <p:nvSpPr>
          <p:cNvPr id="52" name="SK-3-text-51"/>
          <p:cNvSpPr/>
          <p:nvPr/>
        </p:nvSpPr>
        <p:spPr>
          <a:xfrm>
            <a:off x="995363" y="1365796"/>
            <a:ext cx="132016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</a:t>
            </a:r>
            <a:endParaRPr lang="en-US" sz="1350" dirty="0"/>
          </a:p>
        </p:txBody>
      </p:sp>
      <p:sp>
        <p:nvSpPr>
          <p:cNvPr id="53" name="SK-3-text-52"/>
          <p:cNvSpPr/>
          <p:nvPr/>
        </p:nvSpPr>
        <p:spPr>
          <a:xfrm>
            <a:off x="685800" y="1775371"/>
            <a:ext cx="33020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59669"/>
                </a:solidFill>
              </a:rPr>
              <a:t>PK</a:t>
            </a:r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75569"/>
                </a:solidFill>
              </a:rPr>
              <a:t>identifiant</a:t>
            </a:r>
            <a:endParaRPr lang="en-US" sz="975" dirty="0"/>
          </a:p>
        </p:txBody>
      </p:sp>
      <p:sp>
        <p:nvSpPr>
          <p:cNvPr id="54" name="SK-3-text-53"/>
          <p:cNvSpPr/>
          <p:nvPr/>
        </p:nvSpPr>
        <p:spPr>
          <a:xfrm>
            <a:off x="800100" y="1999208"/>
            <a:ext cx="33020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75569"/>
                </a:solidFill>
              </a:rPr>
              <a:t>nom / prénom</a:t>
            </a:r>
            <a:endParaRPr lang="en-US" sz="975" dirty="0"/>
          </a:p>
        </p:txBody>
      </p:sp>
      <p:sp>
        <p:nvSpPr>
          <p:cNvPr id="55" name="SK-3-text-54"/>
          <p:cNvSpPr/>
          <p:nvPr/>
        </p:nvSpPr>
        <p:spPr>
          <a:xfrm>
            <a:off x="800100" y="2223046"/>
            <a:ext cx="33020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75569"/>
                </a:solidFill>
              </a:rPr>
              <a:t>téléphone / email</a:t>
            </a:r>
            <a:endParaRPr lang="en-US" sz="975" dirty="0"/>
          </a:p>
        </p:txBody>
      </p:sp>
      <p:sp>
        <p:nvSpPr>
          <p:cNvPr id="56" name="SK-3-text-55"/>
          <p:cNvSpPr/>
          <p:nvPr/>
        </p:nvSpPr>
        <p:spPr>
          <a:xfrm>
            <a:off x="800100" y="2446883"/>
            <a:ext cx="33020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75569"/>
                </a:solidFill>
              </a:rPr>
              <a:t>adresse / CP / ville</a:t>
            </a:r>
            <a:endParaRPr lang="en-US" sz="975" dirty="0"/>
          </a:p>
        </p:txBody>
      </p:sp>
      <p:sp>
        <p:nvSpPr>
          <p:cNvPr id="57" name="SK-3-text-56"/>
          <p:cNvSpPr/>
          <p:nvPr/>
        </p:nvSpPr>
        <p:spPr>
          <a:xfrm>
            <a:off x="800100" y="2670721"/>
            <a:ext cx="33020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75569"/>
                </a:solidFill>
              </a:rPr>
              <a:t>commentaire</a:t>
            </a:r>
            <a:endParaRPr lang="en-US" sz="975" dirty="0"/>
          </a:p>
        </p:txBody>
      </p:sp>
      <p:sp>
        <p:nvSpPr>
          <p:cNvPr id="58" name="SK-3-text-57"/>
          <p:cNvSpPr/>
          <p:nvPr/>
        </p:nvSpPr>
        <p:spPr>
          <a:xfrm>
            <a:off x="800100" y="3407122"/>
            <a:ext cx="37414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client possède N devis</a:t>
            </a:r>
            <a:endParaRPr lang="en-US" sz="975" dirty="0"/>
          </a:p>
        </p:txBody>
      </p:sp>
      <p:sp>
        <p:nvSpPr>
          <p:cNvPr id="59" name="SK-3-text-58"/>
          <p:cNvSpPr/>
          <p:nvPr/>
        </p:nvSpPr>
        <p:spPr>
          <a:xfrm>
            <a:off x="995363" y="4054822"/>
            <a:ext cx="234886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Utilisateur</a:t>
            </a:r>
            <a:endParaRPr lang="en-US" sz="1350" dirty="0"/>
          </a:p>
        </p:txBody>
      </p:sp>
      <p:sp>
        <p:nvSpPr>
          <p:cNvPr id="60" name="SK-3-text-59"/>
          <p:cNvSpPr/>
          <p:nvPr/>
        </p:nvSpPr>
        <p:spPr>
          <a:xfrm>
            <a:off x="685800" y="4464397"/>
            <a:ext cx="33020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59669"/>
                </a:solidFill>
              </a:rPr>
              <a:t>PK</a:t>
            </a:r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75569"/>
                </a:solidFill>
              </a:rPr>
              <a:t>id_user</a:t>
            </a:r>
            <a:endParaRPr lang="en-US" sz="975" dirty="0"/>
          </a:p>
        </p:txBody>
      </p:sp>
      <p:sp>
        <p:nvSpPr>
          <p:cNvPr id="61" name="SK-3-text-60"/>
          <p:cNvSpPr/>
          <p:nvPr/>
        </p:nvSpPr>
        <p:spPr>
          <a:xfrm>
            <a:off x="800100" y="4688235"/>
            <a:ext cx="33020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75569"/>
                </a:solidFill>
              </a:rPr>
              <a:t>mail / username</a:t>
            </a:r>
            <a:endParaRPr lang="en-US" sz="975" dirty="0"/>
          </a:p>
        </p:txBody>
      </p:sp>
      <p:sp>
        <p:nvSpPr>
          <p:cNvPr id="62" name="SK-3-text-61"/>
          <p:cNvSpPr/>
          <p:nvPr/>
        </p:nvSpPr>
        <p:spPr>
          <a:xfrm>
            <a:off x="800100" y="4912072"/>
            <a:ext cx="33020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75569"/>
                </a:solidFill>
              </a:rPr>
              <a:t>role (admin/user)</a:t>
            </a:r>
            <a:endParaRPr lang="en-US" sz="975" dirty="0"/>
          </a:p>
        </p:txBody>
      </p:sp>
      <p:sp>
        <p:nvSpPr>
          <p:cNvPr id="63" name="SK-3-text-62"/>
          <p:cNvSpPr/>
          <p:nvPr/>
        </p:nvSpPr>
        <p:spPr>
          <a:xfrm>
            <a:off x="800100" y="5135910"/>
            <a:ext cx="33020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75569"/>
                </a:solidFill>
              </a:rPr>
              <a:t>password_hash</a:t>
            </a:r>
            <a:endParaRPr lang="en-US" sz="975" dirty="0"/>
          </a:p>
        </p:txBody>
      </p:sp>
      <p:sp>
        <p:nvSpPr>
          <p:cNvPr id="64" name="SK-3-text-63"/>
          <p:cNvSpPr/>
          <p:nvPr/>
        </p:nvSpPr>
        <p:spPr>
          <a:xfrm>
            <a:off x="4754612" y="1365796"/>
            <a:ext cx="276034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Devis &amp; Items</a:t>
            </a:r>
            <a:endParaRPr lang="en-US" sz="1350" dirty="0"/>
          </a:p>
        </p:txBody>
      </p:sp>
      <p:sp>
        <p:nvSpPr>
          <p:cNvPr id="65" name="SK-3-text-64"/>
          <p:cNvSpPr/>
          <p:nvPr/>
        </p:nvSpPr>
        <p:spPr>
          <a:xfrm>
            <a:off x="4445050" y="1775371"/>
            <a:ext cx="33020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59669"/>
                </a:solidFill>
              </a:rPr>
              <a:t>PK</a:t>
            </a:r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75569"/>
                </a:solidFill>
              </a:rPr>
              <a:t>numéro_unique</a:t>
            </a:r>
            <a:endParaRPr lang="en-US" sz="975" dirty="0"/>
          </a:p>
        </p:txBody>
      </p:sp>
      <p:sp>
        <p:nvSpPr>
          <p:cNvPr id="66" name="SK-3-text-65"/>
          <p:cNvSpPr/>
          <p:nvPr/>
        </p:nvSpPr>
        <p:spPr>
          <a:xfrm>
            <a:off x="4559350" y="1999208"/>
            <a:ext cx="33020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75569"/>
                </a:solidFill>
              </a:rPr>
              <a:t>client_id (FK)</a:t>
            </a:r>
            <a:endParaRPr lang="en-US" sz="975" dirty="0"/>
          </a:p>
        </p:txBody>
      </p:sp>
      <p:sp>
        <p:nvSpPr>
          <p:cNvPr id="67" name="SK-3-text-66"/>
          <p:cNvSpPr/>
          <p:nvPr/>
        </p:nvSpPr>
        <p:spPr>
          <a:xfrm>
            <a:off x="4559350" y="2223046"/>
            <a:ext cx="33020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75569"/>
                </a:solidFill>
              </a:rPr>
              <a:t>montant / statut</a:t>
            </a:r>
            <a:endParaRPr lang="en-US" sz="975" dirty="0"/>
          </a:p>
        </p:txBody>
      </p:sp>
      <p:sp>
        <p:nvSpPr>
          <p:cNvPr id="68" name="SK-3-text-67"/>
          <p:cNvSpPr/>
          <p:nvPr/>
        </p:nvSpPr>
        <p:spPr>
          <a:xfrm>
            <a:off x="4559350" y="2446883"/>
            <a:ext cx="33020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75569"/>
                </a:solidFill>
              </a:rPr>
              <a:t>ligne: description</a:t>
            </a:r>
            <a:endParaRPr lang="en-US" sz="975" dirty="0"/>
          </a:p>
        </p:txBody>
      </p:sp>
      <p:sp>
        <p:nvSpPr>
          <p:cNvPr id="69" name="SK-3-text-68"/>
          <p:cNvSpPr/>
          <p:nvPr/>
        </p:nvSpPr>
        <p:spPr>
          <a:xfrm>
            <a:off x="4559350" y="2670721"/>
            <a:ext cx="33020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75569"/>
                </a:solidFill>
              </a:rPr>
              <a:t>ligne: quantité / PU</a:t>
            </a:r>
            <a:endParaRPr lang="en-US" sz="975" dirty="0"/>
          </a:p>
        </p:txBody>
      </p:sp>
      <p:sp>
        <p:nvSpPr>
          <p:cNvPr id="70" name="SK-3-text-69"/>
          <p:cNvSpPr/>
          <p:nvPr/>
        </p:nvSpPr>
        <p:spPr>
          <a:xfrm>
            <a:off x="4559350" y="3407122"/>
            <a:ext cx="37414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devis = N lignes items</a:t>
            </a:r>
            <a:endParaRPr lang="en-US" sz="975" dirty="0"/>
          </a:p>
        </p:txBody>
      </p:sp>
      <p:sp>
        <p:nvSpPr>
          <p:cNvPr id="71" name="SK-3-text-70"/>
          <p:cNvSpPr/>
          <p:nvPr/>
        </p:nvSpPr>
        <p:spPr>
          <a:xfrm>
            <a:off x="4754612" y="4054822"/>
            <a:ext cx="152590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Facture</a:t>
            </a:r>
            <a:endParaRPr lang="en-US" sz="1350" dirty="0"/>
          </a:p>
        </p:txBody>
      </p:sp>
      <p:sp>
        <p:nvSpPr>
          <p:cNvPr id="72" name="SK-3-text-71"/>
          <p:cNvSpPr/>
          <p:nvPr/>
        </p:nvSpPr>
        <p:spPr>
          <a:xfrm>
            <a:off x="4445050" y="4464397"/>
            <a:ext cx="33020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59669"/>
                </a:solidFill>
              </a:rPr>
              <a:t>PK</a:t>
            </a:r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75569"/>
                </a:solidFill>
              </a:rPr>
              <a:t>id_facture</a:t>
            </a:r>
            <a:endParaRPr lang="en-US" sz="975" dirty="0"/>
          </a:p>
        </p:txBody>
      </p:sp>
      <p:sp>
        <p:nvSpPr>
          <p:cNvPr id="73" name="SK-3-text-72"/>
          <p:cNvSpPr/>
          <p:nvPr/>
        </p:nvSpPr>
        <p:spPr>
          <a:xfrm>
            <a:off x="4559350" y="4688235"/>
            <a:ext cx="33020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75569"/>
                </a:solidFill>
              </a:rPr>
              <a:t>devis_id (FK)</a:t>
            </a:r>
            <a:endParaRPr lang="en-US" sz="975" dirty="0"/>
          </a:p>
        </p:txBody>
      </p:sp>
      <p:sp>
        <p:nvSpPr>
          <p:cNvPr id="74" name="SK-3-text-73"/>
          <p:cNvSpPr/>
          <p:nvPr/>
        </p:nvSpPr>
        <p:spPr>
          <a:xfrm>
            <a:off x="4559350" y="4912072"/>
            <a:ext cx="33020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75569"/>
                </a:solidFill>
              </a:rPr>
              <a:t>client_id (FK)</a:t>
            </a:r>
            <a:endParaRPr lang="en-US" sz="975" dirty="0"/>
          </a:p>
        </p:txBody>
      </p:sp>
      <p:sp>
        <p:nvSpPr>
          <p:cNvPr id="75" name="SK-3-text-74"/>
          <p:cNvSpPr/>
          <p:nvPr/>
        </p:nvSpPr>
        <p:spPr>
          <a:xfrm>
            <a:off x="4559350" y="5135910"/>
            <a:ext cx="33020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75569"/>
                </a:solidFill>
              </a:rPr>
              <a:t>montant / statut</a:t>
            </a:r>
            <a:endParaRPr lang="en-US" sz="975" dirty="0"/>
          </a:p>
        </p:txBody>
      </p:sp>
      <p:sp>
        <p:nvSpPr>
          <p:cNvPr id="76" name="SK-3-text-75"/>
          <p:cNvSpPr/>
          <p:nvPr/>
        </p:nvSpPr>
        <p:spPr>
          <a:xfrm>
            <a:off x="4559350" y="6096149"/>
            <a:ext cx="41376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Lien direct 1-1 avec Devis</a:t>
            </a:r>
            <a:endParaRPr lang="en-US" sz="975" dirty="0"/>
          </a:p>
        </p:txBody>
      </p:sp>
      <p:sp>
        <p:nvSpPr>
          <p:cNvPr id="77" name="SK-3-text-76"/>
          <p:cNvSpPr/>
          <p:nvPr/>
        </p:nvSpPr>
        <p:spPr>
          <a:xfrm>
            <a:off x="8513862" y="1365796"/>
            <a:ext cx="173164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Paiement</a:t>
            </a:r>
            <a:endParaRPr lang="en-US" sz="1350" dirty="0"/>
          </a:p>
        </p:txBody>
      </p:sp>
      <p:sp>
        <p:nvSpPr>
          <p:cNvPr id="78" name="SK-3-text-77"/>
          <p:cNvSpPr/>
          <p:nvPr/>
        </p:nvSpPr>
        <p:spPr>
          <a:xfrm>
            <a:off x="8204299" y="1775371"/>
            <a:ext cx="33020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59669"/>
                </a:solidFill>
              </a:rPr>
              <a:t>PK</a:t>
            </a:r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75569"/>
                </a:solidFill>
              </a:rPr>
              <a:t>id_paiement</a:t>
            </a:r>
            <a:endParaRPr lang="en-US" sz="975" dirty="0"/>
          </a:p>
        </p:txBody>
      </p:sp>
      <p:sp>
        <p:nvSpPr>
          <p:cNvPr id="79" name="SK-3-text-78"/>
          <p:cNvSpPr/>
          <p:nvPr/>
        </p:nvSpPr>
        <p:spPr>
          <a:xfrm>
            <a:off x="8318599" y="1999208"/>
            <a:ext cx="33020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75569"/>
                </a:solidFill>
              </a:rPr>
              <a:t>facture_id (FK)</a:t>
            </a:r>
            <a:endParaRPr lang="en-US" sz="975" dirty="0"/>
          </a:p>
        </p:txBody>
      </p:sp>
      <p:sp>
        <p:nvSpPr>
          <p:cNvPr id="80" name="SK-3-text-79"/>
          <p:cNvSpPr/>
          <p:nvPr/>
        </p:nvSpPr>
        <p:spPr>
          <a:xfrm>
            <a:off x="8318599" y="2223046"/>
            <a:ext cx="33020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75569"/>
                </a:solidFill>
              </a:rPr>
              <a:t>montant / date</a:t>
            </a:r>
            <a:endParaRPr lang="en-US" sz="975" dirty="0"/>
          </a:p>
        </p:txBody>
      </p:sp>
      <p:sp>
        <p:nvSpPr>
          <p:cNvPr id="81" name="SK-3-text-80"/>
          <p:cNvSpPr/>
          <p:nvPr/>
        </p:nvSpPr>
        <p:spPr>
          <a:xfrm>
            <a:off x="8318599" y="2446883"/>
            <a:ext cx="33020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75569"/>
                </a:solidFill>
              </a:rPr>
              <a:t>mode_règlement</a:t>
            </a:r>
            <a:endParaRPr lang="en-US" sz="975" dirty="0"/>
          </a:p>
        </p:txBody>
      </p:sp>
      <p:sp>
        <p:nvSpPr>
          <p:cNvPr id="82" name="SK-3-text-81"/>
          <p:cNvSpPr/>
          <p:nvPr/>
        </p:nvSpPr>
        <p:spPr>
          <a:xfrm>
            <a:off x="8513862" y="3158430"/>
            <a:ext cx="152590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Relance</a:t>
            </a:r>
            <a:endParaRPr lang="en-US" sz="1350" dirty="0"/>
          </a:p>
        </p:txBody>
      </p:sp>
      <p:sp>
        <p:nvSpPr>
          <p:cNvPr id="83" name="SK-3-text-82"/>
          <p:cNvSpPr/>
          <p:nvPr/>
        </p:nvSpPr>
        <p:spPr>
          <a:xfrm>
            <a:off x="8204299" y="3568005"/>
            <a:ext cx="33020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59669"/>
                </a:solidFill>
              </a:rPr>
              <a:t>PK</a:t>
            </a:r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75569"/>
                </a:solidFill>
              </a:rPr>
              <a:t>id_relance</a:t>
            </a:r>
            <a:endParaRPr lang="en-US" sz="975" dirty="0"/>
          </a:p>
        </p:txBody>
      </p:sp>
      <p:sp>
        <p:nvSpPr>
          <p:cNvPr id="84" name="SK-3-text-83"/>
          <p:cNvSpPr/>
          <p:nvPr/>
        </p:nvSpPr>
        <p:spPr>
          <a:xfrm>
            <a:off x="8318599" y="3791843"/>
            <a:ext cx="33020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75569"/>
                </a:solidFill>
              </a:rPr>
              <a:t>niveau (1, 2, 3)</a:t>
            </a:r>
            <a:endParaRPr lang="en-US" sz="975" dirty="0"/>
          </a:p>
        </p:txBody>
      </p:sp>
      <p:sp>
        <p:nvSpPr>
          <p:cNvPr id="85" name="SK-3-text-84"/>
          <p:cNvSpPr/>
          <p:nvPr/>
        </p:nvSpPr>
        <p:spPr>
          <a:xfrm>
            <a:off x="8318599" y="4015680"/>
            <a:ext cx="33020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75569"/>
                </a:solidFill>
              </a:rPr>
              <a:t>pénalités / délais</a:t>
            </a:r>
            <a:endParaRPr lang="en-US" sz="975" dirty="0"/>
          </a:p>
        </p:txBody>
      </p:sp>
      <p:sp>
        <p:nvSpPr>
          <p:cNvPr id="86" name="SK-3-text-85"/>
          <p:cNvSpPr/>
          <p:nvPr/>
        </p:nvSpPr>
        <p:spPr>
          <a:xfrm>
            <a:off x="8513862" y="4951065"/>
            <a:ext cx="152590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Dépense</a:t>
            </a:r>
            <a:endParaRPr lang="en-US" sz="1350" dirty="0"/>
          </a:p>
        </p:txBody>
      </p:sp>
      <p:sp>
        <p:nvSpPr>
          <p:cNvPr id="87" name="SK-3-text-86"/>
          <p:cNvSpPr/>
          <p:nvPr/>
        </p:nvSpPr>
        <p:spPr>
          <a:xfrm>
            <a:off x="8204299" y="5360640"/>
            <a:ext cx="33020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59669"/>
                </a:solidFill>
              </a:rPr>
              <a:t>PK</a:t>
            </a:r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75569"/>
                </a:solidFill>
              </a:rPr>
              <a:t>id_depense</a:t>
            </a:r>
            <a:endParaRPr lang="en-US" sz="975" dirty="0"/>
          </a:p>
        </p:txBody>
      </p:sp>
      <p:sp>
        <p:nvSpPr>
          <p:cNvPr id="88" name="SK-3-text-87"/>
          <p:cNvSpPr/>
          <p:nvPr/>
        </p:nvSpPr>
        <p:spPr>
          <a:xfrm>
            <a:off x="8318599" y="5584478"/>
            <a:ext cx="33020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75569"/>
                </a:solidFill>
              </a:rPr>
              <a:t>type (carbu, matos)</a:t>
            </a:r>
            <a:endParaRPr lang="en-US" sz="975" dirty="0"/>
          </a:p>
        </p:txBody>
      </p:sp>
      <p:sp>
        <p:nvSpPr>
          <p:cNvPr id="89" name="SK-3-text-88"/>
          <p:cNvSpPr/>
          <p:nvPr/>
        </p:nvSpPr>
        <p:spPr>
          <a:xfrm>
            <a:off x="8318599" y="5808315"/>
            <a:ext cx="33020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75569"/>
                </a:solidFill>
              </a:rPr>
              <a:t>montant / date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4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4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4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04800"/>
            <a:ext cx="11049000" cy="641896"/>
          </a:xfrm>
          <a:prstGeom prst="rect">
            <a:avLst/>
          </a:prstGeom>
        </p:spPr>
      </p:pic>
      <p:pic>
        <p:nvPicPr>
          <p:cNvPr id="5" name="SK-4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099096"/>
            <a:ext cx="11049000" cy="276225"/>
          </a:xfrm>
          <a:prstGeom prst="rect">
            <a:avLst/>
          </a:prstGeom>
        </p:spPr>
      </p:pic>
      <p:pic>
        <p:nvPicPr>
          <p:cNvPr id="6" name="SK-4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850" y="1156246"/>
            <a:ext cx="228600" cy="161925"/>
          </a:xfrm>
          <a:prstGeom prst="rect">
            <a:avLst/>
          </a:prstGeom>
        </p:spPr>
      </p:pic>
      <p:pic>
        <p:nvPicPr>
          <p:cNvPr id="7" name="SK-4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1650" y="1156246"/>
            <a:ext cx="228600" cy="161925"/>
          </a:xfrm>
          <a:prstGeom prst="rect">
            <a:avLst/>
          </a:prstGeom>
        </p:spPr>
      </p:pic>
      <p:pic>
        <p:nvPicPr>
          <p:cNvPr id="8" name="SK-4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05125" y="1156246"/>
            <a:ext cx="342900" cy="161925"/>
          </a:xfrm>
          <a:prstGeom prst="rect">
            <a:avLst/>
          </a:prstGeom>
        </p:spPr>
      </p:pic>
      <p:pic>
        <p:nvPicPr>
          <p:cNvPr id="9" name="SK-4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38650" y="1156246"/>
            <a:ext cx="400050" cy="161925"/>
          </a:xfrm>
          <a:prstGeom prst="rect">
            <a:avLst/>
          </a:prstGeom>
        </p:spPr>
      </p:pic>
      <p:pic>
        <p:nvPicPr>
          <p:cNvPr id="10" name="SK-4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1508671"/>
            <a:ext cx="6538020" cy="1668810"/>
          </a:xfrm>
          <a:prstGeom prst="rect">
            <a:avLst/>
          </a:prstGeom>
        </p:spPr>
      </p:pic>
      <p:pic>
        <p:nvPicPr>
          <p:cNvPr id="11" name="SK-4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1650504"/>
            <a:ext cx="154781" cy="125760"/>
          </a:xfrm>
          <a:prstGeom prst="rect">
            <a:avLst/>
          </a:prstGeom>
        </p:spPr>
      </p:pic>
      <p:pic>
        <p:nvPicPr>
          <p:cNvPr id="12" name="SK-4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6781" y="1603921"/>
            <a:ext cx="685800" cy="219075"/>
          </a:xfrm>
          <a:prstGeom prst="rect">
            <a:avLst/>
          </a:prstGeom>
        </p:spPr>
      </p:pic>
      <p:pic>
        <p:nvPicPr>
          <p:cNvPr id="13" name="SK-4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" y="1889671"/>
            <a:ext cx="447675" cy="176213"/>
          </a:xfrm>
          <a:prstGeom prst="rect">
            <a:avLst/>
          </a:prstGeom>
        </p:spPr>
      </p:pic>
      <p:pic>
        <p:nvPicPr>
          <p:cNvPr id="14" name="SK-4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90625" y="1889671"/>
            <a:ext cx="1181100" cy="176213"/>
          </a:xfrm>
          <a:prstGeom prst="rect">
            <a:avLst/>
          </a:prstGeom>
        </p:spPr>
      </p:pic>
      <p:pic>
        <p:nvPicPr>
          <p:cNvPr id="15" name="SK-4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428875" y="1889671"/>
            <a:ext cx="1114425" cy="176213"/>
          </a:xfrm>
          <a:prstGeom prst="rect">
            <a:avLst/>
          </a:prstGeom>
        </p:spPr>
      </p:pic>
      <p:pic>
        <p:nvPicPr>
          <p:cNvPr id="16" name="SK-4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600450" y="1889671"/>
            <a:ext cx="1314450" cy="176213"/>
          </a:xfrm>
          <a:prstGeom prst="rect">
            <a:avLst/>
          </a:prstGeom>
        </p:spPr>
      </p:pic>
      <p:pic>
        <p:nvPicPr>
          <p:cNvPr id="17" name="SK-4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972050" y="1889671"/>
            <a:ext cx="1447800" cy="176213"/>
          </a:xfrm>
          <a:prstGeom prst="rect">
            <a:avLst/>
          </a:prstGeom>
        </p:spPr>
      </p:pic>
      <p:pic>
        <p:nvPicPr>
          <p:cNvPr id="18" name="SK-4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5800" y="2103983"/>
            <a:ext cx="1581150" cy="176213"/>
          </a:xfrm>
          <a:prstGeom prst="rect">
            <a:avLst/>
          </a:prstGeom>
        </p:spPr>
      </p:pic>
      <p:pic>
        <p:nvPicPr>
          <p:cNvPr id="19" name="SK-4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324100" y="2103983"/>
            <a:ext cx="1314450" cy="176213"/>
          </a:xfrm>
          <a:prstGeom prst="rect">
            <a:avLst/>
          </a:prstGeom>
        </p:spPr>
      </p:pic>
      <p:pic>
        <p:nvPicPr>
          <p:cNvPr id="20" name="SK-4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1500" y="3272730"/>
            <a:ext cx="6538020" cy="1668810"/>
          </a:xfrm>
          <a:prstGeom prst="rect">
            <a:avLst/>
          </a:prstGeom>
        </p:spPr>
      </p:pic>
      <p:pic>
        <p:nvPicPr>
          <p:cNvPr id="21" name="SK-4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85800" y="3414564"/>
            <a:ext cx="154781" cy="125760"/>
          </a:xfrm>
          <a:prstGeom prst="rect">
            <a:avLst/>
          </a:prstGeom>
        </p:spPr>
      </p:pic>
      <p:pic>
        <p:nvPicPr>
          <p:cNvPr id="22" name="SK-4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16781" y="3367980"/>
            <a:ext cx="533400" cy="219075"/>
          </a:xfrm>
          <a:prstGeom prst="rect">
            <a:avLst/>
          </a:prstGeom>
        </p:spPr>
      </p:pic>
      <p:pic>
        <p:nvPicPr>
          <p:cNvPr id="23" name="SK-4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85800" y="3653730"/>
            <a:ext cx="447675" cy="176213"/>
          </a:xfrm>
          <a:prstGeom prst="rect">
            <a:avLst/>
          </a:prstGeom>
        </p:spPr>
      </p:pic>
      <p:pic>
        <p:nvPicPr>
          <p:cNvPr id="24" name="SK-4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90625" y="3653730"/>
            <a:ext cx="981075" cy="176213"/>
          </a:xfrm>
          <a:prstGeom prst="rect">
            <a:avLst/>
          </a:prstGeom>
        </p:spPr>
      </p:pic>
      <p:pic>
        <p:nvPicPr>
          <p:cNvPr id="25" name="SK-4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228850" y="3653730"/>
            <a:ext cx="914400" cy="176213"/>
          </a:xfrm>
          <a:prstGeom prst="rect">
            <a:avLst/>
          </a:prstGeom>
        </p:spPr>
      </p:pic>
      <p:pic>
        <p:nvPicPr>
          <p:cNvPr id="26" name="SK-4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200400" y="3653730"/>
            <a:ext cx="1114425" cy="176213"/>
          </a:xfrm>
          <a:prstGeom prst="rect">
            <a:avLst/>
          </a:prstGeom>
        </p:spPr>
      </p:pic>
      <p:pic>
        <p:nvPicPr>
          <p:cNvPr id="27" name="SK-4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371975" y="3653730"/>
            <a:ext cx="1314450" cy="176213"/>
          </a:xfrm>
          <a:prstGeom prst="rect">
            <a:avLst/>
          </a:prstGeom>
        </p:spPr>
      </p:pic>
      <p:pic>
        <p:nvPicPr>
          <p:cNvPr id="28" name="SK-4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85800" y="3868043"/>
            <a:ext cx="1514475" cy="176213"/>
          </a:xfrm>
          <a:prstGeom prst="rect">
            <a:avLst/>
          </a:prstGeom>
        </p:spPr>
      </p:pic>
      <p:pic>
        <p:nvPicPr>
          <p:cNvPr id="29" name="SK-4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257425" y="3868043"/>
            <a:ext cx="1781175" cy="176213"/>
          </a:xfrm>
          <a:prstGeom prst="rect">
            <a:avLst/>
          </a:prstGeom>
        </p:spPr>
      </p:pic>
      <p:pic>
        <p:nvPicPr>
          <p:cNvPr id="30" name="SK-4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095750" y="3868043"/>
            <a:ext cx="847725" cy="176213"/>
          </a:xfrm>
          <a:prstGeom prst="rect">
            <a:avLst/>
          </a:prstGeom>
        </p:spPr>
      </p:pic>
      <p:pic>
        <p:nvPicPr>
          <p:cNvPr id="31" name="SK-4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71500" y="5036790"/>
            <a:ext cx="6538020" cy="1668810"/>
          </a:xfrm>
          <a:prstGeom prst="rect">
            <a:avLst/>
          </a:prstGeom>
        </p:spPr>
      </p:pic>
      <p:pic>
        <p:nvPicPr>
          <p:cNvPr id="32" name="SK-4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85800" y="5178623"/>
            <a:ext cx="154781" cy="125760"/>
          </a:xfrm>
          <a:prstGeom prst="rect">
            <a:avLst/>
          </a:prstGeom>
        </p:spPr>
      </p:pic>
      <p:pic>
        <p:nvPicPr>
          <p:cNvPr id="33" name="SK-4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16781" y="5132040"/>
            <a:ext cx="762000" cy="219075"/>
          </a:xfrm>
          <a:prstGeom prst="rect">
            <a:avLst/>
          </a:prstGeom>
        </p:spPr>
      </p:pic>
      <p:pic>
        <p:nvPicPr>
          <p:cNvPr id="34" name="SK-4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85800" y="5417790"/>
            <a:ext cx="447675" cy="176213"/>
          </a:xfrm>
          <a:prstGeom prst="rect">
            <a:avLst/>
          </a:prstGeom>
        </p:spPr>
      </p:pic>
      <p:pic>
        <p:nvPicPr>
          <p:cNvPr id="35" name="SK-4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190625" y="5417790"/>
            <a:ext cx="981075" cy="176213"/>
          </a:xfrm>
          <a:prstGeom prst="rect">
            <a:avLst/>
          </a:prstGeom>
        </p:spPr>
      </p:pic>
      <p:pic>
        <p:nvPicPr>
          <p:cNvPr id="36" name="SK-4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2228850" y="5417790"/>
            <a:ext cx="847725" cy="176213"/>
          </a:xfrm>
          <a:prstGeom prst="rect">
            <a:avLst/>
          </a:prstGeom>
        </p:spPr>
      </p:pic>
      <p:pic>
        <p:nvPicPr>
          <p:cNvPr id="37" name="SK-4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3133725" y="5417790"/>
            <a:ext cx="914400" cy="176213"/>
          </a:xfrm>
          <a:prstGeom prst="rect">
            <a:avLst/>
          </a:prstGeom>
        </p:spPr>
      </p:pic>
      <p:pic>
        <p:nvPicPr>
          <p:cNvPr id="38" name="SK-4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4105275" y="5417790"/>
            <a:ext cx="1247775" cy="176213"/>
          </a:xfrm>
          <a:prstGeom prst="rect">
            <a:avLst/>
          </a:prstGeom>
        </p:spPr>
      </p:pic>
      <p:pic>
        <p:nvPicPr>
          <p:cNvPr id="39" name="SK-4-img-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5410200" y="5417790"/>
            <a:ext cx="1514475" cy="176213"/>
          </a:xfrm>
          <a:prstGeom prst="rect">
            <a:avLst/>
          </a:prstGeom>
        </p:spPr>
      </p:pic>
      <p:pic>
        <p:nvPicPr>
          <p:cNvPr id="40" name="SK-4-img-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685800" y="5632103"/>
            <a:ext cx="847725" cy="176213"/>
          </a:xfrm>
          <a:prstGeom prst="rect">
            <a:avLst/>
          </a:prstGeom>
        </p:spPr>
      </p:pic>
      <p:pic>
        <p:nvPicPr>
          <p:cNvPr id="41" name="SK-4-img-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7261920" y="1508671"/>
            <a:ext cx="4358580" cy="1354634"/>
          </a:xfrm>
          <a:prstGeom prst="rect">
            <a:avLst/>
          </a:prstGeom>
        </p:spPr>
      </p:pic>
      <p:pic>
        <p:nvPicPr>
          <p:cNvPr id="42" name="SK-4-img-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7376220" y="1650504"/>
            <a:ext cx="154781" cy="125760"/>
          </a:xfrm>
          <a:prstGeom prst="rect">
            <a:avLst/>
          </a:prstGeom>
        </p:spPr>
      </p:pic>
      <p:pic>
        <p:nvPicPr>
          <p:cNvPr id="43" name="SK-4-img-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7607201" y="1603921"/>
            <a:ext cx="533400" cy="219075"/>
          </a:xfrm>
          <a:prstGeom prst="rect">
            <a:avLst/>
          </a:prstGeom>
        </p:spPr>
      </p:pic>
      <p:pic>
        <p:nvPicPr>
          <p:cNvPr id="44" name="SK-4-img-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376220" y="1889671"/>
            <a:ext cx="447675" cy="176213"/>
          </a:xfrm>
          <a:prstGeom prst="rect">
            <a:avLst/>
          </a:prstGeom>
        </p:spPr>
      </p:pic>
      <p:pic>
        <p:nvPicPr>
          <p:cNvPr id="45" name="SK-4-img-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881045" y="1889671"/>
            <a:ext cx="847725" cy="176213"/>
          </a:xfrm>
          <a:prstGeom prst="rect">
            <a:avLst/>
          </a:prstGeom>
        </p:spPr>
      </p:pic>
      <p:pic>
        <p:nvPicPr>
          <p:cNvPr id="46" name="SK-4-img-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8785920" y="1889671"/>
            <a:ext cx="1114425" cy="176213"/>
          </a:xfrm>
          <a:prstGeom prst="rect">
            <a:avLst/>
          </a:prstGeom>
        </p:spPr>
      </p:pic>
      <p:pic>
        <p:nvPicPr>
          <p:cNvPr id="47" name="SK-4-img-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9957495" y="1889671"/>
            <a:ext cx="714375" cy="176213"/>
          </a:xfrm>
          <a:prstGeom prst="rect">
            <a:avLst/>
          </a:prstGeom>
        </p:spPr>
      </p:pic>
      <p:pic>
        <p:nvPicPr>
          <p:cNvPr id="48" name="SK-4-img-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7376220" y="2103983"/>
            <a:ext cx="1847850" cy="176213"/>
          </a:xfrm>
          <a:prstGeom prst="rect">
            <a:avLst/>
          </a:prstGeom>
        </p:spPr>
      </p:pic>
      <p:pic>
        <p:nvPicPr>
          <p:cNvPr id="49" name="SK-4-img-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7261920" y="2958554"/>
            <a:ext cx="4358580" cy="1354634"/>
          </a:xfrm>
          <a:prstGeom prst="rect">
            <a:avLst/>
          </a:prstGeom>
        </p:spPr>
      </p:pic>
      <p:pic>
        <p:nvPicPr>
          <p:cNvPr id="50" name="SK-4-img-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7376220" y="3085207"/>
            <a:ext cx="166688" cy="137220"/>
          </a:xfrm>
          <a:prstGeom prst="rect">
            <a:avLst/>
          </a:prstGeom>
        </p:spPr>
      </p:pic>
      <p:pic>
        <p:nvPicPr>
          <p:cNvPr id="51" name="SK-4-img-50" descr="preencoded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7376220" y="3330029"/>
            <a:ext cx="4129980" cy="236190"/>
          </a:xfrm>
          <a:prstGeom prst="rect">
            <a:avLst/>
          </a:prstGeom>
        </p:spPr>
      </p:pic>
      <p:pic>
        <p:nvPicPr>
          <p:cNvPr id="52" name="SK-4-img-51" descr="preencoded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7376220" y="3396704"/>
            <a:ext cx="130969" cy="110728"/>
          </a:xfrm>
          <a:prstGeom prst="rect">
            <a:avLst/>
          </a:prstGeom>
        </p:spPr>
      </p:pic>
      <p:pic>
        <p:nvPicPr>
          <p:cNvPr id="53" name="SK-4-img-52" descr="preencoded.png">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7376220" y="3566220"/>
            <a:ext cx="4129980" cy="236190"/>
          </a:xfrm>
          <a:prstGeom prst="rect">
            <a:avLst/>
          </a:prstGeom>
        </p:spPr>
      </p:pic>
      <p:pic>
        <p:nvPicPr>
          <p:cNvPr id="54" name="SK-4-img-53" descr="preencoded.png">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7376220" y="3632895"/>
            <a:ext cx="130969" cy="110728"/>
          </a:xfrm>
          <a:prstGeom prst="rect">
            <a:avLst/>
          </a:prstGeom>
        </p:spPr>
      </p:pic>
      <p:pic>
        <p:nvPicPr>
          <p:cNvPr id="55" name="SK-4-img-54" descr="preencoded.png">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7376220" y="3869085"/>
            <a:ext cx="130969" cy="110728"/>
          </a:xfrm>
          <a:prstGeom prst="rect">
            <a:avLst/>
          </a:prstGeom>
        </p:spPr>
      </p:pic>
      <p:pic>
        <p:nvPicPr>
          <p:cNvPr id="56" name="SK-4-img-55" descr="preencoded.png">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7261920" y="4408438"/>
            <a:ext cx="4358580" cy="1411486"/>
          </a:xfrm>
          <a:prstGeom prst="rect">
            <a:avLst/>
          </a:prstGeom>
        </p:spPr>
      </p:pic>
      <p:pic>
        <p:nvPicPr>
          <p:cNvPr id="57" name="SK-4-img-56" descr="preencoded.png">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7376220" y="4535091"/>
            <a:ext cx="166688" cy="137220"/>
          </a:xfrm>
          <a:prstGeom prst="rect">
            <a:avLst/>
          </a:prstGeom>
        </p:spPr>
      </p:pic>
      <p:pic>
        <p:nvPicPr>
          <p:cNvPr id="58" name="SK-4-img-57" descr="preencoded.png">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7376220" y="4779913"/>
            <a:ext cx="4129980" cy="236190"/>
          </a:xfrm>
          <a:prstGeom prst="rect">
            <a:avLst/>
          </a:prstGeom>
        </p:spPr>
      </p:pic>
      <p:pic>
        <p:nvPicPr>
          <p:cNvPr id="59" name="SK-4-img-58" descr="preencoded.png">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7376220" y="4865638"/>
            <a:ext cx="57150" cy="57150"/>
          </a:xfrm>
          <a:prstGeom prst="rect">
            <a:avLst/>
          </a:prstGeom>
        </p:spPr>
      </p:pic>
      <p:pic>
        <p:nvPicPr>
          <p:cNvPr id="60" name="SK-4-img-59" descr="preencoded.png">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7376220" y="5016103"/>
            <a:ext cx="4129980" cy="236190"/>
          </a:xfrm>
          <a:prstGeom prst="rect">
            <a:avLst/>
          </a:prstGeom>
        </p:spPr>
      </p:pic>
      <p:pic>
        <p:nvPicPr>
          <p:cNvPr id="61" name="SK-4-img-60" descr="preencoded.png">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7376220" y="5101828"/>
            <a:ext cx="57150" cy="57150"/>
          </a:xfrm>
          <a:prstGeom prst="rect">
            <a:avLst/>
          </a:prstGeom>
        </p:spPr>
      </p:pic>
      <p:pic>
        <p:nvPicPr>
          <p:cNvPr id="62" name="SK-4-img-61" descr="preencoded.png">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7376220" y="5252293"/>
            <a:ext cx="4129980" cy="236190"/>
          </a:xfrm>
          <a:prstGeom prst="rect">
            <a:avLst/>
          </a:prstGeom>
        </p:spPr>
      </p:pic>
      <p:pic>
        <p:nvPicPr>
          <p:cNvPr id="63" name="SK-4-img-62" descr="preencoded.png">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7376220" y="5338018"/>
            <a:ext cx="57150" cy="57150"/>
          </a:xfrm>
          <a:prstGeom prst="rect">
            <a:avLst/>
          </a:prstGeom>
        </p:spPr>
      </p:pic>
      <p:pic>
        <p:nvPicPr>
          <p:cNvPr id="64" name="SK-4-img-63" descr="preencoded.png">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7376220" y="5574209"/>
            <a:ext cx="57150" cy="57150"/>
          </a:xfrm>
          <a:prstGeom prst="rect">
            <a:avLst/>
          </a:prstGeom>
        </p:spPr>
      </p:pic>
      <p:pic>
        <p:nvPicPr>
          <p:cNvPr id="65" name="SK-4-img-64" descr="preencoded.png">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7261920" y="5915174"/>
            <a:ext cx="4358580" cy="790575"/>
          </a:xfrm>
          <a:prstGeom prst="rect">
            <a:avLst/>
          </a:prstGeom>
        </p:spPr>
      </p:pic>
      <p:pic>
        <p:nvPicPr>
          <p:cNvPr id="66" name="SK-4-img-65" descr="preencoded.png">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7376220" y="6041827"/>
            <a:ext cx="166688" cy="137220"/>
          </a:xfrm>
          <a:prstGeom prst="rect">
            <a:avLst/>
          </a:prstGeom>
        </p:spPr>
      </p:pic>
      <p:sp>
        <p:nvSpPr>
          <p:cNvPr id="67" name="SK-4-text-66"/>
          <p:cNvSpPr/>
          <p:nvPr/>
        </p:nvSpPr>
        <p:spPr>
          <a:xfrm>
            <a:off x="762000" y="304800"/>
            <a:ext cx="10934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spc="60" kern="0" dirty="0">
                <a:solidFill>
                  <a:srgbClr val="059669"/>
                </a:solidFill>
              </a:rPr>
              <a:t>DWWM 2026 // LYDIE MEUNIER</a:t>
            </a:r>
            <a:endParaRPr lang="en-US" sz="1050" dirty="0"/>
          </a:p>
        </p:txBody>
      </p:sp>
      <p:sp>
        <p:nvSpPr>
          <p:cNvPr id="68" name="SK-4-text-67"/>
          <p:cNvSpPr/>
          <p:nvPr/>
        </p:nvSpPr>
        <p:spPr>
          <a:xfrm>
            <a:off x="762000" y="581025"/>
            <a:ext cx="110109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Modèle Logique de Données</a:t>
            </a:r>
            <a:endParaRPr lang="en-US" sz="2400" dirty="0"/>
          </a:p>
        </p:txBody>
      </p:sp>
      <p:sp>
        <p:nvSpPr>
          <p:cNvPr id="69" name="SK-4-text-68"/>
          <p:cNvSpPr/>
          <p:nvPr/>
        </p:nvSpPr>
        <p:spPr>
          <a:xfrm>
            <a:off x="762000" y="1156246"/>
            <a:ext cx="190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059669"/>
                </a:solidFill>
              </a:rPr>
              <a:t>PK</a:t>
            </a:r>
            <a:endParaRPr lang="en-US" sz="750" dirty="0"/>
          </a:p>
        </p:txBody>
      </p:sp>
      <p:sp>
        <p:nvSpPr>
          <p:cNvPr id="70" name="SK-4-text-69"/>
          <p:cNvSpPr/>
          <p:nvPr/>
        </p:nvSpPr>
        <p:spPr>
          <a:xfrm>
            <a:off x="981075" y="1158627"/>
            <a:ext cx="158496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Clé primaire</a:t>
            </a:r>
            <a:endParaRPr lang="en-US" sz="825" dirty="0"/>
          </a:p>
        </p:txBody>
      </p:sp>
      <p:sp>
        <p:nvSpPr>
          <p:cNvPr id="71" name="SK-4-text-70"/>
          <p:cNvSpPr/>
          <p:nvPr/>
        </p:nvSpPr>
        <p:spPr>
          <a:xfrm>
            <a:off x="1828800" y="1156246"/>
            <a:ext cx="190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0EA5E9"/>
                </a:solidFill>
              </a:rPr>
              <a:t>FK</a:t>
            </a:r>
            <a:endParaRPr lang="en-US" sz="750" dirty="0"/>
          </a:p>
        </p:txBody>
      </p:sp>
      <p:sp>
        <p:nvSpPr>
          <p:cNvPr id="72" name="SK-4-text-71"/>
          <p:cNvSpPr/>
          <p:nvPr/>
        </p:nvSpPr>
        <p:spPr>
          <a:xfrm>
            <a:off x="2047875" y="1158627"/>
            <a:ext cx="171069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Clé étrangère</a:t>
            </a:r>
            <a:endParaRPr lang="en-US" sz="825" dirty="0"/>
          </a:p>
        </p:txBody>
      </p:sp>
      <p:sp>
        <p:nvSpPr>
          <p:cNvPr id="73" name="SK-4-text-72"/>
          <p:cNvSpPr/>
          <p:nvPr/>
        </p:nvSpPr>
        <p:spPr>
          <a:xfrm>
            <a:off x="2962275" y="1156246"/>
            <a:ext cx="3810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6366F1"/>
                </a:solidFill>
              </a:rPr>
              <a:t>ENUM</a:t>
            </a:r>
            <a:endParaRPr lang="en-US" sz="750" dirty="0"/>
          </a:p>
        </p:txBody>
      </p:sp>
      <p:sp>
        <p:nvSpPr>
          <p:cNvPr id="74" name="SK-4-text-73"/>
          <p:cNvSpPr/>
          <p:nvPr/>
        </p:nvSpPr>
        <p:spPr>
          <a:xfrm>
            <a:off x="3295650" y="1158627"/>
            <a:ext cx="221361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Valeurs énumérées</a:t>
            </a:r>
            <a:endParaRPr lang="en-US" sz="825" dirty="0"/>
          </a:p>
        </p:txBody>
      </p:sp>
      <p:sp>
        <p:nvSpPr>
          <p:cNvPr id="75" name="SK-4-text-74"/>
          <p:cNvSpPr/>
          <p:nvPr/>
        </p:nvSpPr>
        <p:spPr>
          <a:xfrm>
            <a:off x="4495800" y="1156246"/>
            <a:ext cx="48441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475569"/>
                </a:solidFill>
              </a:rPr>
              <a:t>champ</a:t>
            </a:r>
            <a:endParaRPr lang="en-US" sz="750" dirty="0"/>
          </a:p>
        </p:txBody>
      </p:sp>
      <p:sp>
        <p:nvSpPr>
          <p:cNvPr id="76" name="SK-4-text-75"/>
          <p:cNvSpPr/>
          <p:nvPr/>
        </p:nvSpPr>
        <p:spPr>
          <a:xfrm>
            <a:off x="4886325" y="1158627"/>
            <a:ext cx="183642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Champ standard</a:t>
            </a:r>
            <a:endParaRPr lang="en-US" sz="825" dirty="0"/>
          </a:p>
        </p:txBody>
      </p:sp>
      <p:sp>
        <p:nvSpPr>
          <p:cNvPr id="77" name="SK-4-text-76"/>
          <p:cNvSpPr/>
          <p:nvPr/>
        </p:nvSpPr>
        <p:spPr>
          <a:xfrm>
            <a:off x="992981" y="1603921"/>
            <a:ext cx="94742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59669"/>
                </a:solidFill>
              </a:rPr>
              <a:t>clients</a:t>
            </a:r>
            <a:endParaRPr lang="en-US" sz="1050" dirty="0"/>
          </a:p>
        </p:txBody>
      </p:sp>
      <p:sp>
        <p:nvSpPr>
          <p:cNvPr id="78" name="SK-4-text-77"/>
          <p:cNvSpPr/>
          <p:nvPr/>
        </p:nvSpPr>
        <p:spPr>
          <a:xfrm>
            <a:off x="1678781" y="1627733"/>
            <a:ext cx="32308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Référentiel des clients</a:t>
            </a:r>
            <a:endParaRPr lang="en-US" sz="900" dirty="0"/>
          </a:p>
        </p:txBody>
      </p:sp>
      <p:sp>
        <p:nvSpPr>
          <p:cNvPr id="79" name="SK-4-text-78"/>
          <p:cNvSpPr/>
          <p:nvPr/>
        </p:nvSpPr>
        <p:spPr>
          <a:xfrm>
            <a:off x="742950" y="1889671"/>
            <a:ext cx="544344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059669"/>
                </a:solidFill>
              </a:rPr>
              <a:t>PK id</a:t>
            </a:r>
            <a:endParaRPr lang="en-US" sz="825" dirty="0"/>
          </a:p>
        </p:txBody>
      </p:sp>
      <p:sp>
        <p:nvSpPr>
          <p:cNvPr id="80" name="SK-4-text-79"/>
          <p:cNvSpPr/>
          <p:nvPr/>
        </p:nvSpPr>
        <p:spPr>
          <a:xfrm>
            <a:off x="1247775" y="1889671"/>
            <a:ext cx="2120326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475569"/>
                </a:solidFill>
              </a:rPr>
              <a:t>nom VARCHAR(500)</a:t>
            </a:r>
            <a:endParaRPr lang="en-US" sz="825" dirty="0"/>
          </a:p>
        </p:txBody>
      </p:sp>
      <p:sp>
        <p:nvSpPr>
          <p:cNvPr id="81" name="SK-4-text-80"/>
          <p:cNvSpPr/>
          <p:nvPr/>
        </p:nvSpPr>
        <p:spPr>
          <a:xfrm>
            <a:off x="2486025" y="1889671"/>
            <a:ext cx="1919165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475569"/>
                </a:solidFill>
              </a:rPr>
              <a:t>tel VARCHAR(20)</a:t>
            </a:r>
            <a:endParaRPr lang="en-US" sz="825" dirty="0"/>
          </a:p>
        </p:txBody>
      </p:sp>
      <p:sp>
        <p:nvSpPr>
          <p:cNvPr id="82" name="SK-4-text-81"/>
          <p:cNvSpPr/>
          <p:nvPr/>
        </p:nvSpPr>
        <p:spPr>
          <a:xfrm>
            <a:off x="3657600" y="1889671"/>
            <a:ext cx="2372139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475569"/>
                </a:solidFill>
              </a:rPr>
              <a:t>email VARCHAR(255)</a:t>
            </a:r>
            <a:endParaRPr lang="en-US" sz="825" dirty="0"/>
          </a:p>
        </p:txBody>
      </p:sp>
      <p:sp>
        <p:nvSpPr>
          <p:cNvPr id="83" name="SK-4-text-82"/>
          <p:cNvSpPr/>
          <p:nvPr/>
        </p:nvSpPr>
        <p:spPr>
          <a:xfrm>
            <a:off x="5029200" y="1889671"/>
            <a:ext cx="2623887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475569"/>
                </a:solidFill>
              </a:rPr>
              <a:t>adresse VARCHAR(255)</a:t>
            </a:r>
            <a:endParaRPr lang="en-US" sz="825" dirty="0"/>
          </a:p>
        </p:txBody>
      </p:sp>
      <p:sp>
        <p:nvSpPr>
          <p:cNvPr id="84" name="SK-4-text-83"/>
          <p:cNvSpPr/>
          <p:nvPr/>
        </p:nvSpPr>
        <p:spPr>
          <a:xfrm>
            <a:off x="742950" y="2103983"/>
            <a:ext cx="2720065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475569"/>
                </a:solidFill>
              </a:rPr>
              <a:t>code_postal VARCHAR(5)</a:t>
            </a:r>
            <a:endParaRPr lang="en-US" sz="825" dirty="0"/>
          </a:p>
        </p:txBody>
      </p:sp>
      <p:sp>
        <p:nvSpPr>
          <p:cNvPr id="85" name="SK-4-text-84"/>
          <p:cNvSpPr/>
          <p:nvPr/>
        </p:nvSpPr>
        <p:spPr>
          <a:xfrm>
            <a:off x="2381250" y="2103983"/>
            <a:ext cx="2372139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475569"/>
                </a:solidFill>
              </a:rPr>
              <a:t>ville VARCHAR(255)</a:t>
            </a:r>
            <a:endParaRPr lang="en-US" sz="825" dirty="0"/>
          </a:p>
        </p:txBody>
      </p:sp>
      <p:sp>
        <p:nvSpPr>
          <p:cNvPr id="86" name="SK-4-text-85"/>
          <p:cNvSpPr/>
          <p:nvPr/>
        </p:nvSpPr>
        <p:spPr>
          <a:xfrm>
            <a:off x="992981" y="3367980"/>
            <a:ext cx="6477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59669"/>
                </a:solidFill>
              </a:rPr>
              <a:t>devis</a:t>
            </a:r>
            <a:endParaRPr lang="en-US" sz="1050" dirty="0"/>
          </a:p>
        </p:txBody>
      </p:sp>
      <p:sp>
        <p:nvSpPr>
          <p:cNvPr id="87" name="SK-4-text-86"/>
          <p:cNvSpPr/>
          <p:nvPr/>
        </p:nvSpPr>
        <p:spPr>
          <a:xfrm>
            <a:off x="1526381" y="3391793"/>
            <a:ext cx="30937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Devis liés aux clients</a:t>
            </a:r>
            <a:endParaRPr lang="en-US" sz="900" dirty="0"/>
          </a:p>
        </p:txBody>
      </p:sp>
      <p:sp>
        <p:nvSpPr>
          <p:cNvPr id="88" name="SK-4-text-87"/>
          <p:cNvSpPr/>
          <p:nvPr/>
        </p:nvSpPr>
        <p:spPr>
          <a:xfrm>
            <a:off x="742950" y="3653730"/>
            <a:ext cx="544344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059669"/>
                </a:solidFill>
              </a:rPr>
              <a:t>PK id</a:t>
            </a:r>
            <a:endParaRPr lang="en-US" sz="825" dirty="0"/>
          </a:p>
        </p:txBody>
      </p:sp>
      <p:sp>
        <p:nvSpPr>
          <p:cNvPr id="89" name="SK-4-text-88"/>
          <p:cNvSpPr/>
          <p:nvPr/>
        </p:nvSpPr>
        <p:spPr>
          <a:xfrm>
            <a:off x="1247775" y="3653730"/>
            <a:ext cx="1520264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475569"/>
                </a:solidFill>
              </a:rPr>
              <a:t>numero UNIQUE</a:t>
            </a:r>
            <a:endParaRPr lang="en-US" sz="825" dirty="0"/>
          </a:p>
        </p:txBody>
      </p:sp>
      <p:sp>
        <p:nvSpPr>
          <p:cNvPr id="90" name="SK-4-text-89"/>
          <p:cNvSpPr/>
          <p:nvPr/>
        </p:nvSpPr>
        <p:spPr>
          <a:xfrm>
            <a:off x="2286000" y="3653730"/>
            <a:ext cx="1396365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0EA5E9"/>
                </a:solidFill>
              </a:rPr>
              <a:t>FK client_id</a:t>
            </a:r>
            <a:endParaRPr lang="en-US" sz="825" dirty="0"/>
          </a:p>
        </p:txBody>
      </p:sp>
      <p:sp>
        <p:nvSpPr>
          <p:cNvPr id="91" name="SK-4-text-90"/>
          <p:cNvSpPr/>
          <p:nvPr/>
        </p:nvSpPr>
        <p:spPr>
          <a:xfrm>
            <a:off x="3257550" y="3653730"/>
            <a:ext cx="1768719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475569"/>
                </a:solidFill>
              </a:rPr>
              <a:t>date_devis DATE</a:t>
            </a:r>
            <a:endParaRPr lang="en-US" sz="825" dirty="0"/>
          </a:p>
        </p:txBody>
      </p:sp>
      <p:sp>
        <p:nvSpPr>
          <p:cNvPr id="92" name="SK-4-text-91"/>
          <p:cNvSpPr/>
          <p:nvPr/>
        </p:nvSpPr>
        <p:spPr>
          <a:xfrm>
            <a:off x="4429125" y="3653730"/>
            <a:ext cx="2142545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475569"/>
                </a:solidFill>
              </a:rPr>
              <a:t>date_echeance DATE</a:t>
            </a:r>
            <a:endParaRPr lang="en-US" sz="825" dirty="0"/>
          </a:p>
        </p:txBody>
      </p:sp>
      <p:sp>
        <p:nvSpPr>
          <p:cNvPr id="93" name="SK-4-text-92"/>
          <p:cNvSpPr/>
          <p:nvPr/>
        </p:nvSpPr>
        <p:spPr>
          <a:xfrm>
            <a:off x="742950" y="3868043"/>
            <a:ext cx="2749742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475569"/>
                </a:solidFill>
              </a:rPr>
              <a:t>montant DECIMAL(10,2)</a:t>
            </a:r>
            <a:endParaRPr lang="en-US" sz="825" dirty="0"/>
          </a:p>
        </p:txBody>
      </p:sp>
      <p:sp>
        <p:nvSpPr>
          <p:cNvPr id="94" name="SK-4-text-93"/>
          <p:cNvSpPr/>
          <p:nvPr/>
        </p:nvSpPr>
        <p:spPr>
          <a:xfrm>
            <a:off x="2314575" y="3868043"/>
            <a:ext cx="3017744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475569"/>
                </a:solidFill>
              </a:rPr>
              <a:t>frais_deplacement DECIMAL</a:t>
            </a:r>
            <a:endParaRPr lang="en-US" sz="825" dirty="0"/>
          </a:p>
        </p:txBody>
      </p:sp>
      <p:sp>
        <p:nvSpPr>
          <p:cNvPr id="95" name="SK-4-text-94"/>
          <p:cNvSpPr/>
          <p:nvPr/>
        </p:nvSpPr>
        <p:spPr>
          <a:xfrm>
            <a:off x="4152900" y="3868043"/>
            <a:ext cx="1272754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366F1"/>
                </a:solidFill>
              </a:rPr>
              <a:t>statut ENUM</a:t>
            </a:r>
            <a:endParaRPr lang="en-US" sz="825" dirty="0"/>
          </a:p>
        </p:txBody>
      </p:sp>
      <p:sp>
        <p:nvSpPr>
          <p:cNvPr id="96" name="SK-4-text-95"/>
          <p:cNvSpPr/>
          <p:nvPr/>
        </p:nvSpPr>
        <p:spPr>
          <a:xfrm>
            <a:off x="992981" y="5132040"/>
            <a:ext cx="110032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59669"/>
                </a:solidFill>
              </a:rPr>
              <a:t>factures</a:t>
            </a:r>
            <a:endParaRPr lang="en-US" sz="1050" dirty="0"/>
          </a:p>
        </p:txBody>
      </p:sp>
      <p:sp>
        <p:nvSpPr>
          <p:cNvPr id="97" name="SK-4-text-96"/>
          <p:cNvSpPr/>
          <p:nvPr/>
        </p:nvSpPr>
        <p:spPr>
          <a:xfrm>
            <a:off x="1754981" y="5155853"/>
            <a:ext cx="47396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Factures générées depuis les devis</a:t>
            </a:r>
            <a:endParaRPr lang="en-US" sz="900" dirty="0"/>
          </a:p>
        </p:txBody>
      </p:sp>
      <p:sp>
        <p:nvSpPr>
          <p:cNvPr id="98" name="SK-4-text-97"/>
          <p:cNvSpPr/>
          <p:nvPr/>
        </p:nvSpPr>
        <p:spPr>
          <a:xfrm>
            <a:off x="742950" y="5417790"/>
            <a:ext cx="544344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059669"/>
                </a:solidFill>
              </a:rPr>
              <a:t>PK id</a:t>
            </a:r>
            <a:endParaRPr lang="en-US" sz="825" dirty="0"/>
          </a:p>
        </p:txBody>
      </p:sp>
      <p:sp>
        <p:nvSpPr>
          <p:cNvPr id="99" name="SK-4-text-98"/>
          <p:cNvSpPr/>
          <p:nvPr/>
        </p:nvSpPr>
        <p:spPr>
          <a:xfrm>
            <a:off x="1247775" y="5417790"/>
            <a:ext cx="1520264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475569"/>
                </a:solidFill>
              </a:rPr>
              <a:t>numero UNIQUE</a:t>
            </a:r>
            <a:endParaRPr lang="en-US" sz="825" dirty="0"/>
          </a:p>
        </p:txBody>
      </p:sp>
      <p:sp>
        <p:nvSpPr>
          <p:cNvPr id="100" name="SK-4-text-99"/>
          <p:cNvSpPr/>
          <p:nvPr/>
        </p:nvSpPr>
        <p:spPr>
          <a:xfrm>
            <a:off x="2286000" y="5417790"/>
            <a:ext cx="1272754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0EA5E9"/>
                </a:solidFill>
              </a:rPr>
              <a:t>FK devis_id</a:t>
            </a:r>
            <a:endParaRPr lang="en-US" sz="825" dirty="0"/>
          </a:p>
        </p:txBody>
      </p:sp>
      <p:sp>
        <p:nvSpPr>
          <p:cNvPr id="101" name="SK-4-text-100"/>
          <p:cNvSpPr/>
          <p:nvPr/>
        </p:nvSpPr>
        <p:spPr>
          <a:xfrm>
            <a:off x="3190875" y="5417790"/>
            <a:ext cx="1396365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0EA5E9"/>
                </a:solidFill>
              </a:rPr>
              <a:t>FK client_id</a:t>
            </a:r>
            <a:endParaRPr lang="en-US" sz="825" dirty="0"/>
          </a:p>
        </p:txBody>
      </p:sp>
      <p:sp>
        <p:nvSpPr>
          <p:cNvPr id="102" name="SK-4-text-101"/>
          <p:cNvSpPr/>
          <p:nvPr/>
        </p:nvSpPr>
        <p:spPr>
          <a:xfrm>
            <a:off x="4162425" y="5417790"/>
            <a:ext cx="2017817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475569"/>
                </a:solidFill>
              </a:rPr>
              <a:t>date_facture DATE</a:t>
            </a:r>
            <a:endParaRPr lang="en-US" sz="825" dirty="0"/>
          </a:p>
        </p:txBody>
      </p:sp>
      <p:sp>
        <p:nvSpPr>
          <p:cNvPr id="103" name="SK-4-text-102"/>
          <p:cNvSpPr/>
          <p:nvPr/>
        </p:nvSpPr>
        <p:spPr>
          <a:xfrm>
            <a:off x="5467350" y="5417790"/>
            <a:ext cx="2749742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475569"/>
                </a:solidFill>
              </a:rPr>
              <a:t>montant DECIMAL(10,2)</a:t>
            </a:r>
            <a:endParaRPr lang="en-US" sz="825" dirty="0"/>
          </a:p>
        </p:txBody>
      </p:sp>
      <p:sp>
        <p:nvSpPr>
          <p:cNvPr id="104" name="SK-4-text-103"/>
          <p:cNvSpPr/>
          <p:nvPr/>
        </p:nvSpPr>
        <p:spPr>
          <a:xfrm>
            <a:off x="742950" y="5632103"/>
            <a:ext cx="1272754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366F1"/>
                </a:solidFill>
              </a:rPr>
              <a:t>statut ENUM</a:t>
            </a:r>
            <a:endParaRPr lang="en-US" sz="825" dirty="0"/>
          </a:p>
        </p:txBody>
      </p:sp>
      <p:sp>
        <p:nvSpPr>
          <p:cNvPr id="105" name="SK-4-text-104"/>
          <p:cNvSpPr/>
          <p:nvPr/>
        </p:nvSpPr>
        <p:spPr>
          <a:xfrm>
            <a:off x="7683401" y="1603921"/>
            <a:ext cx="6477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59669"/>
                </a:solidFill>
              </a:rPr>
              <a:t>users</a:t>
            </a:r>
            <a:endParaRPr lang="en-US" sz="1050" dirty="0"/>
          </a:p>
        </p:txBody>
      </p:sp>
      <p:sp>
        <p:nvSpPr>
          <p:cNvPr id="106" name="SK-4-text-105"/>
          <p:cNvSpPr/>
          <p:nvPr/>
        </p:nvSpPr>
        <p:spPr>
          <a:xfrm>
            <a:off x="8216801" y="1627733"/>
            <a:ext cx="36423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Authentification sécurisée</a:t>
            </a:r>
            <a:endParaRPr lang="en-US" sz="900" dirty="0"/>
          </a:p>
        </p:txBody>
      </p:sp>
      <p:sp>
        <p:nvSpPr>
          <p:cNvPr id="107" name="SK-4-text-106"/>
          <p:cNvSpPr/>
          <p:nvPr/>
        </p:nvSpPr>
        <p:spPr>
          <a:xfrm>
            <a:off x="7433370" y="1889671"/>
            <a:ext cx="544344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059669"/>
                </a:solidFill>
              </a:rPr>
              <a:t>PK id</a:t>
            </a:r>
            <a:endParaRPr lang="en-US" sz="825" dirty="0"/>
          </a:p>
        </p:txBody>
      </p:sp>
      <p:sp>
        <p:nvSpPr>
          <p:cNvPr id="108" name="SK-4-text-107"/>
          <p:cNvSpPr/>
          <p:nvPr/>
        </p:nvSpPr>
        <p:spPr>
          <a:xfrm>
            <a:off x="7938195" y="1889671"/>
            <a:ext cx="1272754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475569"/>
                </a:solidFill>
              </a:rPr>
              <a:t>mail UNIQUE</a:t>
            </a:r>
            <a:endParaRPr lang="en-US" sz="825" dirty="0"/>
          </a:p>
        </p:txBody>
      </p:sp>
      <p:sp>
        <p:nvSpPr>
          <p:cNvPr id="109" name="SK-4-text-108"/>
          <p:cNvSpPr/>
          <p:nvPr/>
        </p:nvSpPr>
        <p:spPr>
          <a:xfrm>
            <a:off x="8843070" y="1889671"/>
            <a:ext cx="1768719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475569"/>
                </a:solidFill>
              </a:rPr>
              <a:t>username UNIQUE</a:t>
            </a:r>
            <a:endParaRPr lang="en-US" sz="825" dirty="0"/>
          </a:p>
        </p:txBody>
      </p:sp>
      <p:sp>
        <p:nvSpPr>
          <p:cNvPr id="110" name="SK-4-text-109"/>
          <p:cNvSpPr/>
          <p:nvPr/>
        </p:nvSpPr>
        <p:spPr>
          <a:xfrm>
            <a:off x="10014645" y="1889671"/>
            <a:ext cx="1026719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366F1"/>
                </a:solidFill>
              </a:rPr>
              <a:t>role ENUM</a:t>
            </a:r>
            <a:endParaRPr lang="en-US" sz="825" dirty="0"/>
          </a:p>
        </p:txBody>
      </p:sp>
      <p:sp>
        <p:nvSpPr>
          <p:cNvPr id="111" name="SK-4-text-110"/>
          <p:cNvSpPr/>
          <p:nvPr/>
        </p:nvSpPr>
        <p:spPr>
          <a:xfrm>
            <a:off x="7433370" y="2103983"/>
            <a:ext cx="3378881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475569"/>
                </a:solidFill>
              </a:rPr>
              <a:t>password_hash VARCHAR(255)</a:t>
            </a:r>
            <a:endParaRPr lang="en-US" sz="825" dirty="0"/>
          </a:p>
        </p:txBody>
      </p:sp>
      <p:sp>
        <p:nvSpPr>
          <p:cNvPr id="112" name="SK-4-text-111"/>
          <p:cNvSpPr/>
          <p:nvPr/>
        </p:nvSpPr>
        <p:spPr>
          <a:xfrm>
            <a:off x="7619107" y="3053804"/>
            <a:ext cx="37566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Suppressions en cascade</a:t>
            </a:r>
            <a:endParaRPr lang="en-US" sz="1050" dirty="0"/>
          </a:p>
        </p:txBody>
      </p:sp>
      <p:sp>
        <p:nvSpPr>
          <p:cNvPr id="113" name="SK-4-text-112"/>
          <p:cNvSpPr/>
          <p:nvPr/>
        </p:nvSpPr>
        <p:spPr>
          <a:xfrm>
            <a:off x="7573863" y="3368129"/>
            <a:ext cx="461813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Suppression d'un </a:t>
            </a:r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suppression de ses </a:t>
            </a:r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devis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et </a:t>
            </a:r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factures</a:t>
            </a:r>
            <a:endParaRPr lang="en-US" sz="900" dirty="0"/>
          </a:p>
        </p:txBody>
      </p:sp>
      <p:sp>
        <p:nvSpPr>
          <p:cNvPr id="114" name="SK-4-text-113"/>
          <p:cNvSpPr/>
          <p:nvPr/>
        </p:nvSpPr>
        <p:spPr>
          <a:xfrm>
            <a:off x="7573863" y="3604320"/>
            <a:ext cx="461813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Suppression d'une </a:t>
            </a:r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facture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suppression des </a:t>
            </a:r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paiements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liés</a:t>
            </a:r>
            <a:endParaRPr lang="en-US" sz="900" dirty="0"/>
          </a:p>
        </p:txBody>
      </p:sp>
      <p:sp>
        <p:nvSpPr>
          <p:cNvPr id="115" name="SK-4-text-114"/>
          <p:cNvSpPr/>
          <p:nvPr/>
        </p:nvSpPr>
        <p:spPr>
          <a:xfrm>
            <a:off x="7573863" y="3840510"/>
            <a:ext cx="461813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Clause </a:t>
            </a:r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DELETE CASCADE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sur toutes les FK critiques</a:t>
            </a:r>
            <a:endParaRPr lang="en-US" sz="900" dirty="0"/>
          </a:p>
        </p:txBody>
      </p:sp>
      <p:sp>
        <p:nvSpPr>
          <p:cNvPr id="116" name="SK-4-text-115"/>
          <p:cNvSpPr/>
          <p:nvPr/>
        </p:nvSpPr>
        <p:spPr>
          <a:xfrm>
            <a:off x="7619107" y="4503688"/>
            <a:ext cx="37566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Contraintes d'intégrité</a:t>
            </a:r>
            <a:endParaRPr lang="en-US" sz="1050" dirty="0"/>
          </a:p>
        </p:txBody>
      </p:sp>
      <p:sp>
        <p:nvSpPr>
          <p:cNvPr id="117" name="SK-4-text-116"/>
          <p:cNvSpPr/>
          <p:nvPr/>
        </p:nvSpPr>
        <p:spPr>
          <a:xfrm>
            <a:off x="7500045" y="4818013"/>
            <a:ext cx="46919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Clés étrangères : 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EA5E9"/>
                </a:solidFill>
              </a:rPr>
              <a:t>client_id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EA5E9"/>
                </a:solidFill>
              </a:rPr>
              <a:t>devis_id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EA5E9"/>
                </a:solidFill>
              </a:rPr>
              <a:t>facture_id</a:t>
            </a:r>
            <a:endParaRPr lang="en-US" sz="900" dirty="0"/>
          </a:p>
        </p:txBody>
      </p:sp>
      <p:sp>
        <p:nvSpPr>
          <p:cNvPr id="118" name="SK-4-text-117"/>
          <p:cNvSpPr/>
          <p:nvPr/>
        </p:nvSpPr>
        <p:spPr>
          <a:xfrm>
            <a:off x="7500045" y="5054203"/>
            <a:ext cx="46919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Numéros uniques : 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EA5E9"/>
                </a:solidFill>
              </a:rPr>
              <a:t>UNIQUE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sur 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EA5E9"/>
                </a:solidFill>
              </a:rPr>
              <a:t>numero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(devis, factures)</a:t>
            </a:r>
            <a:endParaRPr lang="en-US" sz="900" dirty="0"/>
          </a:p>
        </p:txBody>
      </p:sp>
      <p:sp>
        <p:nvSpPr>
          <p:cNvPr id="119" name="SK-4-text-118"/>
          <p:cNvSpPr/>
          <p:nvPr/>
        </p:nvSpPr>
        <p:spPr>
          <a:xfrm>
            <a:off x="7500045" y="5290393"/>
            <a:ext cx="46919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Statuts contrôlés via 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EA5E9"/>
                </a:solidFill>
              </a:rPr>
              <a:t>ENUM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(en_attente, accepte, refuse, payee...)</a:t>
            </a:r>
            <a:endParaRPr lang="en-US" sz="900" dirty="0"/>
          </a:p>
        </p:txBody>
      </p:sp>
      <p:sp>
        <p:nvSpPr>
          <p:cNvPr id="120" name="SK-4-text-119"/>
          <p:cNvSpPr/>
          <p:nvPr/>
        </p:nvSpPr>
        <p:spPr>
          <a:xfrm>
            <a:off x="7500045" y="5526584"/>
            <a:ext cx="46919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Montants en 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EA5E9"/>
                </a:solidFill>
              </a:rPr>
              <a:t>DECIMAL(10,2)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pour la précision financière</a:t>
            </a:r>
            <a:endParaRPr lang="en-US" sz="900" dirty="0"/>
          </a:p>
        </p:txBody>
      </p:sp>
      <p:sp>
        <p:nvSpPr>
          <p:cNvPr id="121" name="SK-4-text-120"/>
          <p:cNvSpPr/>
          <p:nvPr/>
        </p:nvSpPr>
        <p:spPr>
          <a:xfrm>
            <a:off x="7619107" y="6010424"/>
            <a:ext cx="32766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Sécurité des données</a:t>
            </a:r>
            <a:endParaRPr lang="en-US" sz="1050" dirty="0"/>
          </a:p>
        </p:txBody>
      </p:sp>
      <p:sp>
        <p:nvSpPr>
          <p:cNvPr id="122" name="SK-4-text-121"/>
          <p:cNvSpPr/>
          <p:nvPr/>
        </p:nvSpPr>
        <p:spPr>
          <a:xfrm>
            <a:off x="7376220" y="6267599"/>
            <a:ext cx="41299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Mots de passe stockés en </a:t>
            </a:r>
            <a:pPr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059669"/>
                </a:solidFill>
              </a:rPr>
              <a:t>hash bcrypt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jamais en clair.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Requêtes paramétrées via </a:t>
            </a:r>
            <a:pPr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059669"/>
                </a:solidFill>
              </a:rPr>
              <a:t>Sequelize ORM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contre les injections SQL.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5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5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5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11049000" cy="641896"/>
          </a:xfrm>
          <a:prstGeom prst="rect">
            <a:avLst/>
          </a:prstGeom>
        </p:spPr>
      </p:pic>
      <p:pic>
        <p:nvPicPr>
          <p:cNvPr id="5" name="SK-5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4750" y="1441996"/>
            <a:ext cx="19050" cy="4844504"/>
          </a:xfrm>
          <a:prstGeom prst="rect">
            <a:avLst/>
          </a:prstGeom>
        </p:spPr>
      </p:pic>
      <p:pic>
        <p:nvPicPr>
          <p:cNvPr id="6" name="SK-5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9100" y="1852017"/>
            <a:ext cx="304800" cy="304800"/>
          </a:xfrm>
          <a:prstGeom prst="rect">
            <a:avLst/>
          </a:prstGeom>
        </p:spPr>
      </p:pic>
      <p:pic>
        <p:nvPicPr>
          <p:cNvPr id="7" name="SK-5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62438" y="1909167"/>
            <a:ext cx="238125" cy="190500"/>
          </a:xfrm>
          <a:prstGeom prst="rect">
            <a:avLst/>
          </a:prstGeom>
        </p:spPr>
      </p:pic>
      <p:pic>
        <p:nvPicPr>
          <p:cNvPr id="8" name="SK-5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29100" y="2366367"/>
            <a:ext cx="38100" cy="38100"/>
          </a:xfrm>
          <a:prstGeom prst="rect">
            <a:avLst/>
          </a:prstGeom>
        </p:spPr>
      </p:pic>
      <p:pic>
        <p:nvPicPr>
          <p:cNvPr id="9" name="SK-5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29100" y="2652117"/>
            <a:ext cx="38100" cy="38100"/>
          </a:xfrm>
          <a:prstGeom prst="rect">
            <a:avLst/>
          </a:prstGeom>
        </p:spPr>
      </p:pic>
      <p:pic>
        <p:nvPicPr>
          <p:cNvPr id="10" name="SK-5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29100" y="2937867"/>
            <a:ext cx="38100" cy="38100"/>
          </a:xfrm>
          <a:prstGeom prst="rect">
            <a:avLst/>
          </a:prstGeom>
        </p:spPr>
      </p:pic>
      <p:pic>
        <p:nvPicPr>
          <p:cNvPr id="11" name="SK-5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96250" y="1852017"/>
            <a:ext cx="304800" cy="304800"/>
          </a:xfrm>
          <a:prstGeom prst="rect">
            <a:avLst/>
          </a:prstGeom>
        </p:spPr>
      </p:pic>
      <p:pic>
        <p:nvPicPr>
          <p:cNvPr id="12" name="SK-5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29588" y="1909167"/>
            <a:ext cx="238125" cy="190500"/>
          </a:xfrm>
          <a:prstGeom prst="rect">
            <a:avLst/>
          </a:prstGeom>
        </p:spPr>
      </p:pic>
      <p:pic>
        <p:nvPicPr>
          <p:cNvPr id="13" name="SK-5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96250" y="2366367"/>
            <a:ext cx="38100" cy="38100"/>
          </a:xfrm>
          <a:prstGeom prst="rect">
            <a:avLst/>
          </a:prstGeom>
        </p:spPr>
      </p:pic>
      <p:pic>
        <p:nvPicPr>
          <p:cNvPr id="14" name="SK-5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96250" y="2766417"/>
            <a:ext cx="36909" cy="38100"/>
          </a:xfrm>
          <a:prstGeom prst="rect">
            <a:avLst/>
          </a:prstGeom>
        </p:spPr>
      </p:pic>
      <p:pic>
        <p:nvPicPr>
          <p:cNvPr id="15" name="SK-5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96250" y="3166467"/>
            <a:ext cx="38100" cy="38100"/>
          </a:xfrm>
          <a:prstGeom prst="rect">
            <a:avLst/>
          </a:prstGeom>
        </p:spPr>
      </p:pic>
      <p:pic>
        <p:nvPicPr>
          <p:cNvPr id="16" name="SK-5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29100" y="3757017"/>
            <a:ext cx="304800" cy="304800"/>
          </a:xfrm>
          <a:prstGeom prst="rect">
            <a:avLst/>
          </a:prstGeom>
        </p:spPr>
      </p:pic>
      <p:pic>
        <p:nvPicPr>
          <p:cNvPr id="17" name="SK-5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262438" y="3814167"/>
            <a:ext cx="238125" cy="190500"/>
          </a:xfrm>
          <a:prstGeom prst="rect">
            <a:avLst/>
          </a:prstGeom>
        </p:spPr>
      </p:pic>
      <p:pic>
        <p:nvPicPr>
          <p:cNvPr id="18" name="SK-5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229100" y="4271367"/>
            <a:ext cx="38100" cy="38100"/>
          </a:xfrm>
          <a:prstGeom prst="rect">
            <a:avLst/>
          </a:prstGeom>
        </p:spPr>
      </p:pic>
      <p:pic>
        <p:nvPicPr>
          <p:cNvPr id="19" name="SK-5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229100" y="4557117"/>
            <a:ext cx="38100" cy="38100"/>
          </a:xfrm>
          <a:prstGeom prst="rect">
            <a:avLst/>
          </a:prstGeom>
        </p:spPr>
      </p:pic>
      <p:pic>
        <p:nvPicPr>
          <p:cNvPr id="20" name="SK-5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229100" y="4842867"/>
            <a:ext cx="38100" cy="38100"/>
          </a:xfrm>
          <a:prstGeom prst="rect">
            <a:avLst/>
          </a:prstGeom>
        </p:spPr>
      </p:pic>
      <p:pic>
        <p:nvPicPr>
          <p:cNvPr id="21" name="SK-5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96250" y="3757017"/>
            <a:ext cx="304800" cy="304800"/>
          </a:xfrm>
          <a:prstGeom prst="rect">
            <a:avLst/>
          </a:prstGeom>
        </p:spPr>
      </p:pic>
      <p:pic>
        <p:nvPicPr>
          <p:cNvPr id="22" name="SK-5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129588" y="3814167"/>
            <a:ext cx="238125" cy="190500"/>
          </a:xfrm>
          <a:prstGeom prst="rect">
            <a:avLst/>
          </a:prstGeom>
        </p:spPr>
      </p:pic>
      <p:pic>
        <p:nvPicPr>
          <p:cNvPr id="23" name="SK-5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096250" y="4252317"/>
            <a:ext cx="590550" cy="247650"/>
          </a:xfrm>
          <a:prstGeom prst="rect">
            <a:avLst/>
          </a:prstGeom>
        </p:spPr>
      </p:pic>
      <p:pic>
        <p:nvPicPr>
          <p:cNvPr id="24" name="SK-5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763000" y="4252317"/>
            <a:ext cx="590550" cy="247650"/>
          </a:xfrm>
          <a:prstGeom prst="rect">
            <a:avLst/>
          </a:prstGeom>
        </p:spPr>
      </p:pic>
      <p:pic>
        <p:nvPicPr>
          <p:cNvPr id="25" name="SK-5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429750" y="4252317"/>
            <a:ext cx="390525" cy="247650"/>
          </a:xfrm>
          <a:prstGeom prst="rect">
            <a:avLst/>
          </a:prstGeom>
        </p:spPr>
      </p:pic>
      <p:pic>
        <p:nvPicPr>
          <p:cNvPr id="26" name="SK-5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896475" y="4252317"/>
            <a:ext cx="590550" cy="247650"/>
          </a:xfrm>
          <a:prstGeom prst="rect">
            <a:avLst/>
          </a:prstGeom>
        </p:spPr>
      </p:pic>
      <p:pic>
        <p:nvPicPr>
          <p:cNvPr id="27" name="SK-5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563225" y="4252317"/>
            <a:ext cx="723900" cy="247650"/>
          </a:xfrm>
          <a:prstGeom prst="rect">
            <a:avLst/>
          </a:prstGeom>
        </p:spPr>
      </p:pic>
      <p:pic>
        <p:nvPicPr>
          <p:cNvPr id="28" name="SK-5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114800" y="5395317"/>
            <a:ext cx="7505700" cy="595313"/>
          </a:xfrm>
          <a:prstGeom prst="rect">
            <a:avLst/>
          </a:prstGeom>
        </p:spPr>
      </p:pic>
      <p:pic>
        <p:nvPicPr>
          <p:cNvPr id="29" name="SK-5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905500" y="5621536"/>
            <a:ext cx="178594" cy="142875"/>
          </a:xfrm>
          <a:prstGeom prst="rect">
            <a:avLst/>
          </a:prstGeom>
        </p:spPr>
      </p:pic>
      <p:pic>
        <p:nvPicPr>
          <p:cNvPr id="30" name="SK-5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246269" y="5621536"/>
            <a:ext cx="178594" cy="142875"/>
          </a:xfrm>
          <a:prstGeom prst="rect">
            <a:avLst/>
          </a:prstGeom>
        </p:spPr>
      </p:pic>
      <p:sp>
        <p:nvSpPr>
          <p:cNvPr id="31" name="SK-5-text-30"/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spc="60" kern="0" dirty="0">
                <a:solidFill>
                  <a:srgbClr val="059669"/>
                </a:solidFill>
              </a:rPr>
              <a:t>DWWM 2026 // LYDIE MEUNIER</a:t>
            </a:r>
            <a:endParaRPr lang="en-US" sz="1050" dirty="0"/>
          </a:p>
        </p:txBody>
      </p:sp>
      <p:sp>
        <p:nvSpPr>
          <p:cNvPr id="32" name="SK-5-text-31"/>
          <p:cNvSpPr/>
          <p:nvPr/>
        </p:nvSpPr>
        <p:spPr>
          <a:xfrm>
            <a:off x="762000" y="657225"/>
            <a:ext cx="110109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Technologies Utilisées</a:t>
            </a:r>
            <a:endParaRPr lang="en-US" sz="2400" dirty="0"/>
          </a:p>
        </p:txBody>
      </p:sp>
      <p:sp>
        <p:nvSpPr>
          <p:cNvPr id="33" name="SK-5-text-32"/>
          <p:cNvSpPr/>
          <p:nvPr/>
        </p:nvSpPr>
        <p:spPr>
          <a:xfrm>
            <a:off x="571500" y="3061246"/>
            <a:ext cx="2762250" cy="123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4860"/>
              </a:lnSpc>
              <a:buNone/>
            </a:pPr>
            <a:r>
              <a:rPr lang="en-US" sz="5400" b="1" spc="-120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 FULL</a:t>
            </a:r>
            <a:endParaRPr lang="en-US" sz="5400" dirty="0"/>
          </a:p>
          <a:p>
            <a:pPr indent="0" marL="0">
              <a:lnSpc>
                <a:spcPts val="4860"/>
              </a:lnSpc>
              <a:buNone/>
            </a:pPr>
            <a:r>
              <a:rPr lang="en-US" sz="5400" b="1" spc="-120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</a:t>
            </a:r>
            <a:endParaRPr lang="en-US" sz="5400" dirty="0"/>
          </a:p>
        </p:txBody>
      </p:sp>
      <p:sp>
        <p:nvSpPr>
          <p:cNvPr id="34" name="SK-5-text-33"/>
          <p:cNvSpPr/>
          <p:nvPr/>
        </p:nvSpPr>
        <p:spPr>
          <a:xfrm>
            <a:off x="571500" y="4409926"/>
            <a:ext cx="440626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059669"/>
                </a:solidFill>
              </a:rPr>
              <a:t>Écosystème JavaScript</a:t>
            </a:r>
            <a:endParaRPr lang="en-US" sz="1350" dirty="0"/>
          </a:p>
        </p:txBody>
      </p:sp>
      <p:sp>
        <p:nvSpPr>
          <p:cNvPr id="35" name="SK-5-text-34"/>
          <p:cNvSpPr/>
          <p:nvPr/>
        </p:nvSpPr>
        <p:spPr>
          <a:xfrm>
            <a:off x="4648200" y="1861542"/>
            <a:ext cx="48958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Back-end</a:t>
            </a:r>
            <a:endParaRPr lang="en-US" sz="1500" dirty="0"/>
          </a:p>
        </p:txBody>
      </p:sp>
      <p:sp>
        <p:nvSpPr>
          <p:cNvPr id="36" name="SK-5-text-35"/>
          <p:cNvSpPr/>
          <p:nvPr/>
        </p:nvSpPr>
        <p:spPr>
          <a:xfrm>
            <a:off x="4362450" y="2271117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Node.js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Environnement d'exécution</a:t>
            </a:r>
            <a:endParaRPr lang="en-US" sz="1200" dirty="0"/>
          </a:p>
        </p:txBody>
      </p:sp>
      <p:sp>
        <p:nvSpPr>
          <p:cNvPr id="37" name="SK-5-text-36"/>
          <p:cNvSpPr/>
          <p:nvPr/>
        </p:nvSpPr>
        <p:spPr>
          <a:xfrm>
            <a:off x="4362450" y="2556867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Express.js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Framework API REST</a:t>
            </a:r>
            <a:endParaRPr lang="en-US" sz="1200" dirty="0"/>
          </a:p>
        </p:txBody>
      </p:sp>
      <p:sp>
        <p:nvSpPr>
          <p:cNvPr id="38" name="SK-5-text-37"/>
          <p:cNvSpPr/>
          <p:nvPr/>
        </p:nvSpPr>
        <p:spPr>
          <a:xfrm>
            <a:off x="4362450" y="2842617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Express-session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Sécurisation session</a:t>
            </a:r>
            <a:endParaRPr lang="en-US" sz="1200" dirty="0"/>
          </a:p>
        </p:txBody>
      </p:sp>
      <p:sp>
        <p:nvSpPr>
          <p:cNvPr id="39" name="SK-5-text-38"/>
          <p:cNvSpPr/>
          <p:nvPr/>
        </p:nvSpPr>
        <p:spPr>
          <a:xfrm>
            <a:off x="8515350" y="1861542"/>
            <a:ext cx="3524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de Données</a:t>
            </a:r>
            <a:endParaRPr lang="en-US" sz="1500" dirty="0"/>
          </a:p>
        </p:txBody>
      </p:sp>
      <p:sp>
        <p:nvSpPr>
          <p:cNvPr id="40" name="SK-5-text-39"/>
          <p:cNvSpPr/>
          <p:nvPr/>
        </p:nvSpPr>
        <p:spPr>
          <a:xfrm>
            <a:off x="8229600" y="2271117"/>
            <a:ext cx="396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Système Relationnel</a:t>
            </a:r>
            <a:endParaRPr lang="en-US" sz="1200" dirty="0"/>
          </a:p>
        </p:txBody>
      </p:sp>
      <p:sp>
        <p:nvSpPr>
          <p:cNvPr id="41" name="SK-5-text-40"/>
          <p:cNvSpPr/>
          <p:nvPr/>
        </p:nvSpPr>
        <p:spPr>
          <a:xfrm>
            <a:off x="8228409" y="2556867"/>
            <a:ext cx="3409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Sequelize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ORM (Object-Relational Mapping)</a:t>
            </a:r>
            <a:endParaRPr lang="en-US" sz="1200" dirty="0"/>
          </a:p>
        </p:txBody>
      </p:sp>
      <p:sp>
        <p:nvSpPr>
          <p:cNvPr id="42" name="SK-5-text-41"/>
          <p:cNvSpPr/>
          <p:nvPr/>
        </p:nvSpPr>
        <p:spPr>
          <a:xfrm>
            <a:off x="8229600" y="3071217"/>
            <a:ext cx="396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Jointures et intégrité référentielle</a:t>
            </a:r>
            <a:endParaRPr lang="en-US" sz="1200" dirty="0"/>
          </a:p>
        </p:txBody>
      </p:sp>
      <p:sp>
        <p:nvSpPr>
          <p:cNvPr id="43" name="SK-5-text-42"/>
          <p:cNvSpPr/>
          <p:nvPr/>
        </p:nvSpPr>
        <p:spPr>
          <a:xfrm>
            <a:off x="4648200" y="3766542"/>
            <a:ext cx="44386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Interface Front-end</a:t>
            </a:r>
            <a:endParaRPr lang="en-US" sz="1500" dirty="0"/>
          </a:p>
        </p:txBody>
      </p:sp>
      <p:sp>
        <p:nvSpPr>
          <p:cNvPr id="44" name="SK-5-text-43"/>
          <p:cNvSpPr/>
          <p:nvPr/>
        </p:nvSpPr>
        <p:spPr>
          <a:xfrm>
            <a:off x="4362450" y="4176117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Vanilla JavaScript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Pas de framework</a:t>
            </a:r>
            <a:endParaRPr lang="en-US" sz="1200" dirty="0"/>
          </a:p>
        </p:txBody>
      </p:sp>
      <p:sp>
        <p:nvSpPr>
          <p:cNvPr id="45" name="SK-5-text-44"/>
          <p:cNvSpPr/>
          <p:nvPr/>
        </p:nvSpPr>
        <p:spPr>
          <a:xfrm>
            <a:off x="4362450" y="4461867"/>
            <a:ext cx="554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HTML5 / CSS3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Flexbox &amp; Grid</a:t>
            </a:r>
            <a:endParaRPr lang="en-US" sz="1200" dirty="0"/>
          </a:p>
        </p:txBody>
      </p:sp>
      <p:sp>
        <p:nvSpPr>
          <p:cNvPr id="46" name="SK-5-text-45"/>
          <p:cNvSpPr/>
          <p:nvPr/>
        </p:nvSpPr>
        <p:spPr>
          <a:xfrm>
            <a:off x="4362450" y="4747617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Fetch API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Appels asynchrones</a:t>
            </a:r>
            <a:endParaRPr lang="en-US" sz="1200" dirty="0"/>
          </a:p>
        </p:txBody>
      </p:sp>
      <p:sp>
        <p:nvSpPr>
          <p:cNvPr id="47" name="SK-5-text-46"/>
          <p:cNvSpPr/>
          <p:nvPr/>
        </p:nvSpPr>
        <p:spPr>
          <a:xfrm>
            <a:off x="8515350" y="3766542"/>
            <a:ext cx="36766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Développement &amp; Sécurité</a:t>
            </a:r>
            <a:endParaRPr lang="en-US" sz="1500" dirty="0"/>
          </a:p>
        </p:txBody>
      </p:sp>
      <p:sp>
        <p:nvSpPr>
          <p:cNvPr id="48" name="SK-5-text-47"/>
          <p:cNvSpPr/>
          <p:nvPr/>
        </p:nvSpPr>
        <p:spPr>
          <a:xfrm>
            <a:off x="8191500" y="4252317"/>
            <a:ext cx="6336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F172A"/>
                </a:solidFill>
              </a:rPr>
              <a:t>Bcrypt</a:t>
            </a:r>
            <a:endParaRPr lang="en-US" sz="900" dirty="0"/>
          </a:p>
        </p:txBody>
      </p:sp>
      <p:sp>
        <p:nvSpPr>
          <p:cNvPr id="49" name="SK-5-text-48"/>
          <p:cNvSpPr/>
          <p:nvPr/>
        </p:nvSpPr>
        <p:spPr>
          <a:xfrm>
            <a:off x="8858250" y="4252317"/>
            <a:ext cx="6336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F172A"/>
                </a:solidFill>
              </a:rPr>
              <a:t>Dotenv</a:t>
            </a:r>
            <a:endParaRPr lang="en-US" sz="900" dirty="0"/>
          </a:p>
        </p:txBody>
      </p:sp>
      <p:sp>
        <p:nvSpPr>
          <p:cNvPr id="50" name="SK-5-text-49"/>
          <p:cNvSpPr/>
          <p:nvPr/>
        </p:nvSpPr>
        <p:spPr>
          <a:xfrm>
            <a:off x="9525000" y="4252317"/>
            <a:ext cx="28695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F172A"/>
                </a:solidFill>
              </a:rPr>
              <a:t>Git</a:t>
            </a:r>
            <a:endParaRPr lang="en-US" sz="900" dirty="0"/>
          </a:p>
        </p:txBody>
      </p:sp>
      <p:sp>
        <p:nvSpPr>
          <p:cNvPr id="51" name="SK-5-text-50"/>
          <p:cNvSpPr/>
          <p:nvPr/>
        </p:nvSpPr>
        <p:spPr>
          <a:xfrm>
            <a:off x="9991725" y="4252317"/>
            <a:ext cx="6336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F172A"/>
                </a:solidFill>
              </a:rPr>
              <a:t>GitHub</a:t>
            </a:r>
            <a:endParaRPr lang="en-US" sz="900" dirty="0"/>
          </a:p>
        </p:txBody>
      </p:sp>
      <p:sp>
        <p:nvSpPr>
          <p:cNvPr id="52" name="SK-5-text-51"/>
          <p:cNvSpPr/>
          <p:nvPr/>
        </p:nvSpPr>
        <p:spPr>
          <a:xfrm>
            <a:off x="10658475" y="4252317"/>
            <a:ext cx="95209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F172A"/>
                </a:solidFill>
              </a:rPr>
              <a:t>JSON2CSV</a:t>
            </a:r>
            <a:endParaRPr lang="en-US" sz="900" dirty="0"/>
          </a:p>
        </p:txBody>
      </p:sp>
      <p:sp>
        <p:nvSpPr>
          <p:cNvPr id="53" name="SK-5-text-52"/>
          <p:cNvSpPr/>
          <p:nvPr/>
        </p:nvSpPr>
        <p:spPr>
          <a:xfrm>
            <a:off x="4305300" y="5600105"/>
            <a:ext cx="275082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059669"/>
                </a:solidFill>
              </a:rPr>
              <a:t>OUTILS SPÉCIALISÉS</a:t>
            </a:r>
            <a:endParaRPr lang="en-US" sz="975" dirty="0"/>
          </a:p>
        </p:txBody>
      </p:sp>
      <p:sp>
        <p:nvSpPr>
          <p:cNvPr id="54" name="SK-5-text-53"/>
          <p:cNvSpPr/>
          <p:nvPr/>
        </p:nvSpPr>
        <p:spPr>
          <a:xfrm>
            <a:off x="6160294" y="5585817"/>
            <a:ext cx="44577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Puppeteer (Génération PDF)</a:t>
            </a:r>
            <a:endParaRPr lang="en-US" sz="1125" dirty="0"/>
          </a:p>
        </p:txBody>
      </p:sp>
      <p:sp>
        <p:nvSpPr>
          <p:cNvPr id="55" name="SK-5-text-54"/>
          <p:cNvSpPr/>
          <p:nvPr/>
        </p:nvSpPr>
        <p:spPr>
          <a:xfrm>
            <a:off x="8501063" y="5585817"/>
            <a:ext cx="3690937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Swagger (Documentation API)</a:t>
            </a:r>
            <a:endParaRPr lang="en-US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6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62775"/>
          </a:xfrm>
          <a:prstGeom prst="rect">
            <a:avLst/>
          </a:prstGeom>
        </p:spPr>
      </p:pic>
      <p:pic>
        <p:nvPicPr>
          <p:cNvPr id="3" name="SK-6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62775"/>
          </a:xfrm>
          <a:prstGeom prst="rect">
            <a:avLst/>
          </a:prstGeom>
        </p:spPr>
      </p:pic>
      <p:pic>
        <p:nvPicPr>
          <p:cNvPr id="4" name="SK-6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04775"/>
            <a:ext cx="11049000" cy="641896"/>
          </a:xfrm>
          <a:prstGeom prst="rect">
            <a:avLst/>
          </a:prstGeom>
        </p:spPr>
      </p:pic>
      <p:pic>
        <p:nvPicPr>
          <p:cNvPr id="5" name="SK-6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803821"/>
            <a:ext cx="5687764" cy="2991743"/>
          </a:xfrm>
          <a:prstGeom prst="rect">
            <a:avLst/>
          </a:prstGeom>
        </p:spPr>
      </p:pic>
      <p:pic>
        <p:nvPicPr>
          <p:cNvPr id="6" name="SK-6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991493"/>
            <a:ext cx="142875" cy="114300"/>
          </a:xfrm>
          <a:prstGeom prst="rect">
            <a:avLst/>
          </a:prstGeom>
        </p:spPr>
      </p:pic>
      <p:pic>
        <p:nvPicPr>
          <p:cNvPr id="7" name="SK-6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050" y="1285875"/>
            <a:ext cx="130969" cy="110728"/>
          </a:xfrm>
          <a:prstGeom prst="rect">
            <a:avLst/>
          </a:prstGeom>
        </p:spPr>
      </p:pic>
      <p:pic>
        <p:nvPicPr>
          <p:cNvPr id="8" name="SK-6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1506736"/>
            <a:ext cx="130969" cy="110728"/>
          </a:xfrm>
          <a:prstGeom prst="rect">
            <a:avLst/>
          </a:prstGeom>
        </p:spPr>
      </p:pic>
      <p:pic>
        <p:nvPicPr>
          <p:cNvPr id="9" name="SK-6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1729532"/>
            <a:ext cx="130969" cy="110728"/>
          </a:xfrm>
          <a:prstGeom prst="rect">
            <a:avLst/>
          </a:prstGeom>
        </p:spPr>
      </p:pic>
      <p:pic>
        <p:nvPicPr>
          <p:cNvPr id="10" name="SK-6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" y="1952327"/>
            <a:ext cx="130969" cy="110728"/>
          </a:xfrm>
          <a:prstGeom prst="rect">
            <a:avLst/>
          </a:prstGeom>
        </p:spPr>
      </p:pic>
      <p:pic>
        <p:nvPicPr>
          <p:cNvPr id="11" name="SK-6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400" y="2175123"/>
            <a:ext cx="130969" cy="110728"/>
          </a:xfrm>
          <a:prstGeom prst="rect">
            <a:avLst/>
          </a:prstGeom>
        </p:spPr>
      </p:pic>
      <p:pic>
        <p:nvPicPr>
          <p:cNvPr id="12" name="SK-6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4400" y="2397919"/>
            <a:ext cx="130969" cy="110728"/>
          </a:xfrm>
          <a:prstGeom prst="rect">
            <a:avLst/>
          </a:prstGeom>
        </p:spPr>
      </p:pic>
      <p:pic>
        <p:nvPicPr>
          <p:cNvPr id="13" name="SK-6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4400" y="2620714"/>
            <a:ext cx="130969" cy="110728"/>
          </a:xfrm>
          <a:prstGeom prst="rect">
            <a:avLst/>
          </a:prstGeom>
        </p:spPr>
      </p:pic>
      <p:pic>
        <p:nvPicPr>
          <p:cNvPr id="14" name="SK-6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4400" y="2843510"/>
            <a:ext cx="130969" cy="110728"/>
          </a:xfrm>
          <a:prstGeom prst="rect">
            <a:avLst/>
          </a:prstGeom>
        </p:spPr>
      </p:pic>
      <p:pic>
        <p:nvPicPr>
          <p:cNvPr id="15" name="SK-6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4400" y="3066306"/>
            <a:ext cx="130969" cy="110728"/>
          </a:xfrm>
          <a:prstGeom prst="rect">
            <a:avLst/>
          </a:prstGeom>
        </p:spPr>
      </p:pic>
      <p:pic>
        <p:nvPicPr>
          <p:cNvPr id="16" name="SK-6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4400" y="3289102"/>
            <a:ext cx="130969" cy="110728"/>
          </a:xfrm>
          <a:prstGeom prst="rect">
            <a:avLst/>
          </a:prstGeom>
        </p:spPr>
      </p:pic>
      <p:pic>
        <p:nvPicPr>
          <p:cNvPr id="17" name="SK-6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4400" y="3511897"/>
            <a:ext cx="130969" cy="110728"/>
          </a:xfrm>
          <a:prstGeom prst="rect">
            <a:avLst/>
          </a:prstGeom>
        </p:spPr>
      </p:pic>
      <p:pic>
        <p:nvPicPr>
          <p:cNvPr id="18" name="SK-6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49764" y="803821"/>
            <a:ext cx="5170736" cy="1472059"/>
          </a:xfrm>
          <a:prstGeom prst="rect">
            <a:avLst/>
          </a:prstGeom>
        </p:spPr>
      </p:pic>
      <p:pic>
        <p:nvPicPr>
          <p:cNvPr id="19" name="SK-6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02164" y="886718"/>
            <a:ext cx="142875" cy="114300"/>
          </a:xfrm>
          <a:prstGeom prst="rect">
            <a:avLst/>
          </a:prstGeom>
        </p:spPr>
      </p:pic>
      <p:pic>
        <p:nvPicPr>
          <p:cNvPr id="20" name="SK-6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02164" y="1060996"/>
            <a:ext cx="209550" cy="209550"/>
          </a:xfrm>
          <a:prstGeom prst="rect">
            <a:avLst/>
          </a:prstGeom>
        </p:spPr>
      </p:pic>
      <p:pic>
        <p:nvPicPr>
          <p:cNvPr id="21" name="SK-6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078664" y="1070521"/>
            <a:ext cx="542925" cy="161925"/>
          </a:xfrm>
          <a:prstGeom prst="rect">
            <a:avLst/>
          </a:prstGeom>
        </p:spPr>
      </p:pic>
      <p:pic>
        <p:nvPicPr>
          <p:cNvPr id="22" name="SK-6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602164" y="1289596"/>
            <a:ext cx="209550" cy="209550"/>
          </a:xfrm>
          <a:prstGeom prst="rect">
            <a:avLst/>
          </a:prstGeom>
        </p:spPr>
      </p:pic>
      <p:pic>
        <p:nvPicPr>
          <p:cNvPr id="23" name="SK-6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602164" y="1518196"/>
            <a:ext cx="209550" cy="209550"/>
          </a:xfrm>
          <a:prstGeom prst="rect">
            <a:avLst/>
          </a:prstGeom>
        </p:spPr>
      </p:pic>
      <p:pic>
        <p:nvPicPr>
          <p:cNvPr id="24" name="SK-6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602164" y="1746796"/>
            <a:ext cx="209550" cy="209550"/>
          </a:xfrm>
          <a:prstGeom prst="rect">
            <a:avLst/>
          </a:prstGeom>
        </p:spPr>
      </p:pic>
      <p:pic>
        <p:nvPicPr>
          <p:cNvPr id="25" name="SK-6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602164" y="1975396"/>
            <a:ext cx="209550" cy="209550"/>
          </a:xfrm>
          <a:prstGeom prst="rect">
            <a:avLst/>
          </a:prstGeom>
        </p:spPr>
      </p:pic>
      <p:pic>
        <p:nvPicPr>
          <p:cNvPr id="26" name="SK-6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49764" y="2323505"/>
            <a:ext cx="5170736" cy="1472059"/>
          </a:xfrm>
          <a:prstGeom prst="rect">
            <a:avLst/>
          </a:prstGeom>
        </p:spPr>
      </p:pic>
      <p:pic>
        <p:nvPicPr>
          <p:cNvPr id="27" name="SK-6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602164" y="2406402"/>
            <a:ext cx="142875" cy="114300"/>
          </a:xfrm>
          <a:prstGeom prst="rect">
            <a:avLst/>
          </a:prstGeom>
        </p:spPr>
      </p:pic>
      <p:pic>
        <p:nvPicPr>
          <p:cNvPr id="28" name="SK-6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602164" y="3475881"/>
            <a:ext cx="4865936" cy="133350"/>
          </a:xfrm>
          <a:prstGeom prst="rect">
            <a:avLst/>
          </a:prstGeom>
        </p:spPr>
      </p:pic>
      <p:pic>
        <p:nvPicPr>
          <p:cNvPr id="29" name="SK-6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602164" y="3502521"/>
            <a:ext cx="119063" cy="99120"/>
          </a:xfrm>
          <a:prstGeom prst="rect">
            <a:avLst/>
          </a:prstGeom>
        </p:spPr>
      </p:pic>
      <p:sp>
        <p:nvSpPr>
          <p:cNvPr id="30" name="SK-6-text-29"/>
          <p:cNvSpPr/>
          <p:nvPr/>
        </p:nvSpPr>
        <p:spPr>
          <a:xfrm>
            <a:off x="762000" y="104775"/>
            <a:ext cx="10934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spc="60" kern="0" dirty="0">
                <a:solidFill>
                  <a:srgbClr val="059669"/>
                </a:solidFill>
              </a:rPr>
              <a:t>DWWM 2026 // LYDIE MEUNIER</a:t>
            </a:r>
            <a:endParaRPr lang="en-US" sz="1050" dirty="0"/>
          </a:p>
        </p:txBody>
      </p:sp>
      <p:sp>
        <p:nvSpPr>
          <p:cNvPr id="31" name="SK-6-text-30"/>
          <p:cNvSpPr/>
          <p:nvPr/>
        </p:nvSpPr>
        <p:spPr>
          <a:xfrm>
            <a:off x="762000" y="381000"/>
            <a:ext cx="110109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MVC et REST</a:t>
            </a:r>
            <a:endParaRPr lang="en-US" sz="2400" dirty="0"/>
          </a:p>
        </p:txBody>
      </p:sp>
      <p:sp>
        <p:nvSpPr>
          <p:cNvPr id="32" name="SK-6-text-31"/>
          <p:cNvSpPr/>
          <p:nvPr/>
        </p:nvSpPr>
        <p:spPr>
          <a:xfrm>
            <a:off x="942975" y="956221"/>
            <a:ext cx="53448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spc="60" kern="0" dirty="0">
                <a:solidFill>
                  <a:srgbClr val="059669"/>
                </a:solidFill>
              </a:rPr>
              <a:t>STRUCTURE DU PROJET NODE.JS</a:t>
            </a:r>
            <a:endParaRPr lang="en-US" sz="900" dirty="0"/>
          </a:p>
        </p:txBody>
      </p:sp>
      <p:sp>
        <p:nvSpPr>
          <p:cNvPr id="33" name="SK-6-text-32"/>
          <p:cNvSpPr/>
          <p:nvPr/>
        </p:nvSpPr>
        <p:spPr>
          <a:xfrm>
            <a:off x="969169" y="1251496"/>
            <a:ext cx="39395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59669"/>
                </a:solidFill>
              </a:rPr>
              <a:t>FmAbattage-Management-app/</a:t>
            </a:r>
            <a:endParaRPr lang="en-US" sz="975" dirty="0"/>
          </a:p>
        </p:txBody>
      </p:sp>
      <p:sp>
        <p:nvSpPr>
          <p:cNvPr id="34" name="SK-6-text-33"/>
          <p:cNvSpPr/>
          <p:nvPr/>
        </p:nvSpPr>
        <p:spPr>
          <a:xfrm>
            <a:off x="1102519" y="1472357"/>
            <a:ext cx="11163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EA5E9"/>
                </a:solidFill>
              </a:rPr>
              <a:t>config/</a:t>
            </a:r>
            <a:endParaRPr lang="en-US" sz="975" dirty="0"/>
          </a:p>
        </p:txBody>
      </p:sp>
      <p:sp>
        <p:nvSpPr>
          <p:cNvPr id="35" name="SK-6-text-34"/>
          <p:cNvSpPr/>
          <p:nvPr/>
        </p:nvSpPr>
        <p:spPr>
          <a:xfrm>
            <a:off x="1693069" y="1491407"/>
            <a:ext cx="27165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</a:rPr>
              <a:t>BDD – SSL – Sequelize</a:t>
            </a:r>
            <a:endParaRPr lang="en-US" sz="825" dirty="0"/>
          </a:p>
        </p:txBody>
      </p:sp>
      <p:sp>
        <p:nvSpPr>
          <p:cNvPr id="36" name="SK-6-text-35"/>
          <p:cNvSpPr/>
          <p:nvPr/>
        </p:nvSpPr>
        <p:spPr>
          <a:xfrm>
            <a:off x="1102519" y="1695152"/>
            <a:ext cx="18592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59669"/>
                </a:solidFill>
              </a:rPr>
              <a:t>controllers/</a:t>
            </a:r>
            <a:endParaRPr lang="en-US" sz="975" dirty="0"/>
          </a:p>
        </p:txBody>
      </p:sp>
      <p:sp>
        <p:nvSpPr>
          <p:cNvPr id="37" name="SK-6-text-36"/>
          <p:cNvSpPr/>
          <p:nvPr/>
        </p:nvSpPr>
        <p:spPr>
          <a:xfrm>
            <a:off x="2074069" y="1714202"/>
            <a:ext cx="18364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</a:rPr>
              <a:t>Logique métier</a:t>
            </a:r>
            <a:endParaRPr lang="en-US" sz="825" dirty="0"/>
          </a:p>
        </p:txBody>
      </p:sp>
      <p:sp>
        <p:nvSpPr>
          <p:cNvPr id="38" name="SK-6-text-37"/>
          <p:cNvSpPr/>
          <p:nvPr/>
        </p:nvSpPr>
        <p:spPr>
          <a:xfrm>
            <a:off x="1102519" y="1917948"/>
            <a:ext cx="11163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EA5E9"/>
                </a:solidFill>
              </a:rPr>
              <a:t>models/</a:t>
            </a:r>
            <a:endParaRPr lang="en-US" sz="975" dirty="0"/>
          </a:p>
        </p:txBody>
      </p:sp>
      <p:sp>
        <p:nvSpPr>
          <p:cNvPr id="39" name="SK-6-text-38"/>
          <p:cNvSpPr/>
          <p:nvPr/>
        </p:nvSpPr>
        <p:spPr>
          <a:xfrm>
            <a:off x="1693069" y="1936998"/>
            <a:ext cx="44767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</a:rPr>
              <a:t>Sequelize – Client, Devis, Facture…</a:t>
            </a:r>
            <a:endParaRPr lang="en-US" sz="825" dirty="0"/>
          </a:p>
        </p:txBody>
      </p:sp>
      <p:sp>
        <p:nvSpPr>
          <p:cNvPr id="40" name="SK-6-text-39"/>
          <p:cNvSpPr/>
          <p:nvPr/>
        </p:nvSpPr>
        <p:spPr>
          <a:xfrm>
            <a:off x="1102519" y="2140744"/>
            <a:ext cx="11163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59669"/>
                </a:solidFill>
              </a:rPr>
              <a:t>routes/</a:t>
            </a:r>
            <a:endParaRPr lang="en-US" sz="975" dirty="0"/>
          </a:p>
        </p:txBody>
      </p:sp>
      <p:sp>
        <p:nvSpPr>
          <p:cNvPr id="41" name="SK-6-text-40"/>
          <p:cNvSpPr/>
          <p:nvPr/>
        </p:nvSpPr>
        <p:spPr>
          <a:xfrm>
            <a:off x="1693069" y="2159794"/>
            <a:ext cx="23393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</a:rPr>
              <a:t>API REST endpoints</a:t>
            </a:r>
            <a:endParaRPr lang="en-US" sz="825" dirty="0"/>
          </a:p>
        </p:txBody>
      </p:sp>
      <p:sp>
        <p:nvSpPr>
          <p:cNvPr id="42" name="SK-6-text-41"/>
          <p:cNvSpPr/>
          <p:nvPr/>
        </p:nvSpPr>
        <p:spPr>
          <a:xfrm>
            <a:off x="1102519" y="2363539"/>
            <a:ext cx="18592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A78BFA"/>
                </a:solidFill>
              </a:rPr>
              <a:t>middlewares/</a:t>
            </a:r>
            <a:endParaRPr lang="en-US" sz="975" dirty="0"/>
          </a:p>
        </p:txBody>
      </p:sp>
      <p:sp>
        <p:nvSpPr>
          <p:cNvPr id="43" name="SK-6-text-42"/>
          <p:cNvSpPr/>
          <p:nvPr/>
        </p:nvSpPr>
        <p:spPr>
          <a:xfrm>
            <a:off x="2074069" y="2382589"/>
            <a:ext cx="3596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</a:rPr>
              <a:t>Auth – Protection des routes</a:t>
            </a:r>
            <a:endParaRPr lang="en-US" sz="825" dirty="0"/>
          </a:p>
        </p:txBody>
      </p:sp>
      <p:sp>
        <p:nvSpPr>
          <p:cNvPr id="44" name="SK-6-text-43"/>
          <p:cNvSpPr/>
          <p:nvPr/>
        </p:nvSpPr>
        <p:spPr>
          <a:xfrm>
            <a:off x="1102519" y="2586335"/>
            <a:ext cx="1562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EA5E9"/>
                </a:solidFill>
              </a:rPr>
              <a:t>templates/</a:t>
            </a:r>
            <a:endParaRPr lang="en-US" sz="975" dirty="0"/>
          </a:p>
        </p:txBody>
      </p:sp>
      <p:sp>
        <p:nvSpPr>
          <p:cNvPr id="45" name="SK-6-text-44"/>
          <p:cNvSpPr/>
          <p:nvPr/>
        </p:nvSpPr>
        <p:spPr>
          <a:xfrm>
            <a:off x="1921669" y="2605385"/>
            <a:ext cx="28422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</a:rPr>
              <a:t>HTML → PDF (Puppeteer)</a:t>
            </a:r>
            <a:endParaRPr lang="en-US" sz="825" dirty="0"/>
          </a:p>
        </p:txBody>
      </p:sp>
      <p:sp>
        <p:nvSpPr>
          <p:cNvPr id="46" name="SK-6-text-45"/>
          <p:cNvSpPr/>
          <p:nvPr/>
        </p:nvSpPr>
        <p:spPr>
          <a:xfrm>
            <a:off x="1102519" y="2809131"/>
            <a:ext cx="14135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59669"/>
                </a:solidFill>
              </a:rPr>
              <a:t>services/</a:t>
            </a:r>
            <a:endParaRPr lang="en-US" sz="975" dirty="0"/>
          </a:p>
        </p:txBody>
      </p:sp>
      <p:sp>
        <p:nvSpPr>
          <p:cNvPr id="47" name="SK-6-text-46"/>
          <p:cNvSpPr/>
          <p:nvPr/>
        </p:nvSpPr>
        <p:spPr>
          <a:xfrm>
            <a:off x="1845469" y="2828181"/>
            <a:ext cx="1333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</a:rPr>
              <a:t>Export CSV</a:t>
            </a:r>
            <a:endParaRPr lang="en-US" sz="825" dirty="0"/>
          </a:p>
        </p:txBody>
      </p:sp>
      <p:sp>
        <p:nvSpPr>
          <p:cNvPr id="48" name="SK-6-text-47"/>
          <p:cNvSpPr/>
          <p:nvPr/>
        </p:nvSpPr>
        <p:spPr>
          <a:xfrm>
            <a:off x="1102519" y="3031927"/>
            <a:ext cx="9677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A78BFA"/>
                </a:solidFill>
              </a:rPr>
              <a:t>front/</a:t>
            </a:r>
            <a:endParaRPr lang="en-US" sz="975" dirty="0"/>
          </a:p>
        </p:txBody>
      </p:sp>
      <p:sp>
        <p:nvSpPr>
          <p:cNvPr id="49" name="SK-6-text-48"/>
          <p:cNvSpPr/>
          <p:nvPr/>
        </p:nvSpPr>
        <p:spPr>
          <a:xfrm>
            <a:off x="1616869" y="3050977"/>
            <a:ext cx="27165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</a:rPr>
              <a:t>Interface HTML/CSS/JS</a:t>
            </a:r>
            <a:endParaRPr lang="en-US" sz="825" dirty="0"/>
          </a:p>
        </p:txBody>
      </p:sp>
      <p:sp>
        <p:nvSpPr>
          <p:cNvPr id="50" name="SK-6-text-49"/>
          <p:cNvSpPr/>
          <p:nvPr/>
        </p:nvSpPr>
        <p:spPr>
          <a:xfrm>
            <a:off x="1102519" y="3254722"/>
            <a:ext cx="9677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E2E8F0"/>
                </a:solidFill>
              </a:rPr>
              <a:t>app.js</a:t>
            </a:r>
            <a:endParaRPr lang="en-US" sz="975" dirty="0"/>
          </a:p>
        </p:txBody>
      </p:sp>
      <p:sp>
        <p:nvSpPr>
          <p:cNvPr id="51" name="SK-6-text-50"/>
          <p:cNvSpPr/>
          <p:nvPr/>
        </p:nvSpPr>
        <p:spPr>
          <a:xfrm>
            <a:off x="1616869" y="3273772"/>
            <a:ext cx="18364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</a:rPr>
              <a:t>Config Express</a:t>
            </a:r>
            <a:endParaRPr lang="en-US" sz="825" dirty="0"/>
          </a:p>
        </p:txBody>
      </p:sp>
      <p:sp>
        <p:nvSpPr>
          <p:cNvPr id="52" name="SK-6-text-51"/>
          <p:cNvSpPr/>
          <p:nvPr/>
        </p:nvSpPr>
        <p:spPr>
          <a:xfrm>
            <a:off x="1102519" y="3477518"/>
            <a:ext cx="14135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E2E8F0"/>
                </a:solidFill>
              </a:rPr>
              <a:t>server.js</a:t>
            </a:r>
            <a:endParaRPr lang="en-US" sz="975" dirty="0"/>
          </a:p>
        </p:txBody>
      </p:sp>
      <p:sp>
        <p:nvSpPr>
          <p:cNvPr id="53" name="SK-6-text-52"/>
          <p:cNvSpPr/>
          <p:nvPr/>
        </p:nvSpPr>
        <p:spPr>
          <a:xfrm>
            <a:off x="1845469" y="3496568"/>
            <a:ext cx="25908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</a:rPr>
              <a:t>Démarrage du serveur</a:t>
            </a:r>
            <a:endParaRPr lang="en-US" sz="825" dirty="0"/>
          </a:p>
        </p:txBody>
      </p:sp>
      <p:sp>
        <p:nvSpPr>
          <p:cNvPr id="54" name="SK-6-text-53"/>
          <p:cNvSpPr/>
          <p:nvPr/>
        </p:nvSpPr>
        <p:spPr>
          <a:xfrm>
            <a:off x="6802189" y="851446"/>
            <a:ext cx="48659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spc="60" kern="0" dirty="0">
                <a:solidFill>
                  <a:srgbClr val="0EA5E9"/>
                </a:solidFill>
              </a:rPr>
              <a:t>FLUX DE COMMUNICATION</a:t>
            </a:r>
            <a:endParaRPr lang="en-US" sz="900" dirty="0"/>
          </a:p>
        </p:txBody>
      </p:sp>
      <p:sp>
        <p:nvSpPr>
          <p:cNvPr id="55" name="SK-6-text-54"/>
          <p:cNvSpPr/>
          <p:nvPr/>
        </p:nvSpPr>
        <p:spPr>
          <a:xfrm>
            <a:off x="6683127" y="1060996"/>
            <a:ext cx="285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00" b="1" dirty="0">
                <a:solidFill>
                  <a:srgbClr val="FFFFFF"/>
                </a:solidFill>
              </a:rPr>
              <a:t>1</a:t>
            </a:r>
            <a:endParaRPr lang="en-US" sz="600" dirty="0"/>
          </a:p>
        </p:txBody>
      </p:sp>
      <p:sp>
        <p:nvSpPr>
          <p:cNvPr id="56" name="SK-6-text-55"/>
          <p:cNvSpPr/>
          <p:nvPr/>
        </p:nvSpPr>
        <p:spPr>
          <a:xfrm>
            <a:off x="6906964" y="1060996"/>
            <a:ext cx="528503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Front-end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envoie des requêtes HTTP via 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vers l'API REST</a:t>
            </a:r>
            <a:endParaRPr lang="en-US" sz="825" dirty="0"/>
          </a:p>
        </p:txBody>
      </p:sp>
      <p:sp>
        <p:nvSpPr>
          <p:cNvPr id="57" name="SK-6-text-56"/>
          <p:cNvSpPr/>
          <p:nvPr/>
        </p:nvSpPr>
        <p:spPr>
          <a:xfrm>
            <a:off x="6683127" y="1289596"/>
            <a:ext cx="285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00" b="1" dirty="0">
                <a:solidFill>
                  <a:srgbClr val="FFFFFF"/>
                </a:solidFill>
              </a:rPr>
              <a:t>2</a:t>
            </a:r>
            <a:endParaRPr lang="en-US" sz="600" dirty="0"/>
          </a:p>
        </p:txBody>
      </p:sp>
      <p:sp>
        <p:nvSpPr>
          <p:cNvPr id="58" name="SK-6-text-57"/>
          <p:cNvSpPr/>
          <p:nvPr/>
        </p:nvSpPr>
        <p:spPr>
          <a:xfrm>
            <a:off x="6906964" y="1289596"/>
            <a:ext cx="528503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Routes Express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délèguent le traitement aux contrôleurs</a:t>
            </a:r>
            <a:endParaRPr lang="en-US" sz="825" dirty="0"/>
          </a:p>
        </p:txBody>
      </p:sp>
      <p:sp>
        <p:nvSpPr>
          <p:cNvPr id="59" name="SK-6-text-58"/>
          <p:cNvSpPr/>
          <p:nvPr/>
        </p:nvSpPr>
        <p:spPr>
          <a:xfrm>
            <a:off x="6683127" y="1518196"/>
            <a:ext cx="285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00" b="1" dirty="0">
                <a:solidFill>
                  <a:srgbClr val="FFFFFF"/>
                </a:solidFill>
              </a:rPr>
              <a:t>3</a:t>
            </a:r>
            <a:endParaRPr lang="en-US" sz="600" dirty="0"/>
          </a:p>
        </p:txBody>
      </p:sp>
      <p:sp>
        <p:nvSpPr>
          <p:cNvPr id="60" name="SK-6-text-59"/>
          <p:cNvSpPr/>
          <p:nvPr/>
        </p:nvSpPr>
        <p:spPr>
          <a:xfrm>
            <a:off x="6906964" y="1518196"/>
            <a:ext cx="528503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Middlewares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vérifient l'authentification avant chaque route sensible</a:t>
            </a:r>
            <a:endParaRPr lang="en-US" sz="825" dirty="0"/>
          </a:p>
        </p:txBody>
      </p:sp>
      <p:sp>
        <p:nvSpPr>
          <p:cNvPr id="61" name="SK-6-text-60"/>
          <p:cNvSpPr/>
          <p:nvPr/>
        </p:nvSpPr>
        <p:spPr>
          <a:xfrm>
            <a:off x="6683127" y="1746796"/>
            <a:ext cx="285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00" b="1" dirty="0">
                <a:solidFill>
                  <a:srgbClr val="FFFFFF"/>
                </a:solidFill>
              </a:rPr>
              <a:t>4</a:t>
            </a:r>
            <a:endParaRPr lang="en-US" sz="600" dirty="0"/>
          </a:p>
        </p:txBody>
      </p:sp>
      <p:sp>
        <p:nvSpPr>
          <p:cNvPr id="62" name="SK-6-text-61"/>
          <p:cNvSpPr/>
          <p:nvPr/>
        </p:nvSpPr>
        <p:spPr>
          <a:xfrm>
            <a:off x="6906964" y="1746796"/>
            <a:ext cx="528503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Contrôleurs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utilisent les modèles Sequelize pour interagir avec MySQL</a:t>
            </a:r>
            <a:endParaRPr lang="en-US" sz="825" dirty="0"/>
          </a:p>
        </p:txBody>
      </p:sp>
      <p:sp>
        <p:nvSpPr>
          <p:cNvPr id="63" name="SK-6-text-62"/>
          <p:cNvSpPr/>
          <p:nvPr/>
        </p:nvSpPr>
        <p:spPr>
          <a:xfrm>
            <a:off x="6683127" y="1975396"/>
            <a:ext cx="285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00" b="1" dirty="0">
                <a:solidFill>
                  <a:srgbClr val="FFFFFF"/>
                </a:solidFill>
              </a:rPr>
              <a:t>5</a:t>
            </a:r>
            <a:endParaRPr lang="en-US" sz="600" dirty="0"/>
          </a:p>
        </p:txBody>
      </p:sp>
      <p:sp>
        <p:nvSpPr>
          <p:cNvPr id="64" name="SK-6-text-63"/>
          <p:cNvSpPr/>
          <p:nvPr/>
        </p:nvSpPr>
        <p:spPr>
          <a:xfrm>
            <a:off x="6906964" y="1975396"/>
            <a:ext cx="528503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Réponses JSON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renvoyées au front-end pour mise à jour de l'interface</a:t>
            </a:r>
            <a:endParaRPr lang="en-US" sz="825" dirty="0"/>
          </a:p>
        </p:txBody>
      </p:sp>
      <p:sp>
        <p:nvSpPr>
          <p:cNvPr id="65" name="SK-6-text-64"/>
          <p:cNvSpPr/>
          <p:nvPr/>
        </p:nvSpPr>
        <p:spPr>
          <a:xfrm>
            <a:off x="6802189" y="2371130"/>
            <a:ext cx="48659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spc="60" kern="0" dirty="0">
                <a:solidFill>
                  <a:srgbClr val="059669"/>
                </a:solidFill>
              </a:rPr>
              <a:t>API REST – EXEMPLES DE ROUTES</a:t>
            </a:r>
            <a:endParaRPr lang="en-US" sz="900" dirty="0"/>
          </a:p>
        </p:txBody>
      </p:sp>
      <p:sp>
        <p:nvSpPr>
          <p:cNvPr id="66" name="SK-6-textBg-65"/>
          <p:cNvSpPr/>
          <p:nvPr/>
        </p:nvSpPr>
        <p:spPr>
          <a:xfrm>
            <a:off x="6602164" y="2603450"/>
            <a:ext cx="242888" cy="112365"/>
          </a:xfrm>
          <a:prstGeom prst="roundRect">
            <a:avLst>
              <a:gd name="adj" fmla="val 16954"/>
            </a:avLst>
          </a:prstGeom>
          <a:solidFill>
            <a:srgbClr val="DCFCE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7" name="SK-6-text-66"/>
          <p:cNvSpPr/>
          <p:nvPr/>
        </p:nvSpPr>
        <p:spPr>
          <a:xfrm>
            <a:off x="6659314" y="2603450"/>
            <a:ext cx="128588" cy="1123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735"/>
              </a:lnSpc>
              <a:buNone/>
            </a:pPr>
            <a:r>
              <a:rPr lang="en-US" sz="525" b="1" spc="30" kern="0" dirty="0">
                <a:solidFill>
                  <a:srgbClr val="15803D"/>
                </a:solidFill>
              </a:rPr>
              <a:t>GET</a:t>
            </a:r>
            <a:endParaRPr lang="en-US" sz="525" dirty="0"/>
          </a:p>
        </p:txBody>
      </p:sp>
      <p:sp>
        <p:nvSpPr>
          <p:cNvPr id="68" name="SK-6-text-67"/>
          <p:cNvSpPr/>
          <p:nvPr/>
        </p:nvSpPr>
        <p:spPr>
          <a:xfrm>
            <a:off x="6921252" y="2599730"/>
            <a:ext cx="131064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0F172A"/>
                </a:solidFill>
              </a:rPr>
              <a:t>/api/clients</a:t>
            </a:r>
            <a:endParaRPr lang="en-US" sz="675" dirty="0"/>
          </a:p>
        </p:txBody>
      </p:sp>
      <p:sp>
        <p:nvSpPr>
          <p:cNvPr id="69" name="SK-6-text-68"/>
          <p:cNvSpPr/>
          <p:nvPr/>
        </p:nvSpPr>
        <p:spPr>
          <a:xfrm>
            <a:off x="7549902" y="2571155"/>
            <a:ext cx="26822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liste des clients</a:t>
            </a:r>
            <a:endParaRPr lang="en-US" sz="900" dirty="0"/>
          </a:p>
        </p:txBody>
      </p:sp>
      <p:sp>
        <p:nvSpPr>
          <p:cNvPr id="70" name="SK-6-textBg-69"/>
          <p:cNvSpPr/>
          <p:nvPr/>
        </p:nvSpPr>
        <p:spPr>
          <a:xfrm>
            <a:off x="6602164" y="2782491"/>
            <a:ext cx="285750" cy="112365"/>
          </a:xfrm>
          <a:prstGeom prst="roundRect">
            <a:avLst>
              <a:gd name="adj" fmla="val 16954"/>
            </a:avLst>
          </a:prstGeom>
          <a:solidFill>
            <a:srgbClr val="DBEA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1" name="SK-6-text-70"/>
          <p:cNvSpPr/>
          <p:nvPr/>
        </p:nvSpPr>
        <p:spPr>
          <a:xfrm>
            <a:off x="6659314" y="2782491"/>
            <a:ext cx="192024" cy="1123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735"/>
              </a:lnSpc>
              <a:buNone/>
            </a:pPr>
            <a:r>
              <a:rPr lang="en-US" sz="525" b="1" spc="30" kern="0" dirty="0">
                <a:solidFill>
                  <a:srgbClr val="1D4ED8"/>
                </a:solidFill>
              </a:rPr>
              <a:t>POST</a:t>
            </a:r>
            <a:endParaRPr lang="en-US" sz="525" dirty="0"/>
          </a:p>
        </p:txBody>
      </p:sp>
      <p:sp>
        <p:nvSpPr>
          <p:cNvPr id="72" name="SK-6-text-71"/>
          <p:cNvSpPr/>
          <p:nvPr/>
        </p:nvSpPr>
        <p:spPr>
          <a:xfrm>
            <a:off x="6964114" y="2778770"/>
            <a:ext cx="11049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0F172A"/>
                </a:solidFill>
              </a:rPr>
              <a:t>/api/devis</a:t>
            </a:r>
            <a:endParaRPr lang="en-US" sz="675" dirty="0"/>
          </a:p>
        </p:txBody>
      </p:sp>
      <p:sp>
        <p:nvSpPr>
          <p:cNvPr id="73" name="SK-6-text-72"/>
          <p:cNvSpPr/>
          <p:nvPr/>
        </p:nvSpPr>
        <p:spPr>
          <a:xfrm>
            <a:off x="7497514" y="2750195"/>
            <a:ext cx="22707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créer un devis</a:t>
            </a:r>
            <a:endParaRPr lang="en-US" sz="900" dirty="0"/>
          </a:p>
        </p:txBody>
      </p:sp>
      <p:sp>
        <p:nvSpPr>
          <p:cNvPr id="74" name="SK-6-textBg-73"/>
          <p:cNvSpPr/>
          <p:nvPr/>
        </p:nvSpPr>
        <p:spPr>
          <a:xfrm>
            <a:off x="6602164" y="2961531"/>
            <a:ext cx="242888" cy="112365"/>
          </a:xfrm>
          <a:prstGeom prst="roundRect">
            <a:avLst>
              <a:gd name="adj" fmla="val 16954"/>
            </a:avLst>
          </a:prstGeom>
          <a:solidFill>
            <a:srgbClr val="FEF9C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5" name="SK-6-text-74"/>
          <p:cNvSpPr/>
          <p:nvPr/>
        </p:nvSpPr>
        <p:spPr>
          <a:xfrm>
            <a:off x="6659314" y="2961531"/>
            <a:ext cx="128588" cy="1123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735"/>
              </a:lnSpc>
              <a:buNone/>
            </a:pPr>
            <a:r>
              <a:rPr lang="en-US" sz="525" b="1" spc="30" kern="0" dirty="0">
                <a:solidFill>
                  <a:srgbClr val="A16207"/>
                </a:solidFill>
              </a:rPr>
              <a:t>PUT</a:t>
            </a:r>
            <a:endParaRPr lang="en-US" sz="525" dirty="0"/>
          </a:p>
        </p:txBody>
      </p:sp>
      <p:sp>
        <p:nvSpPr>
          <p:cNvPr id="76" name="SK-6-text-75"/>
          <p:cNvSpPr/>
          <p:nvPr/>
        </p:nvSpPr>
        <p:spPr>
          <a:xfrm>
            <a:off x="6921252" y="2957810"/>
            <a:ext cx="182499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0F172A"/>
                </a:solidFill>
              </a:rPr>
              <a:t>/api/factures/:id</a:t>
            </a:r>
            <a:endParaRPr lang="en-US" sz="675" dirty="0"/>
          </a:p>
        </p:txBody>
      </p:sp>
      <p:sp>
        <p:nvSpPr>
          <p:cNvPr id="77" name="SK-6-text-76"/>
          <p:cNvSpPr/>
          <p:nvPr/>
        </p:nvSpPr>
        <p:spPr>
          <a:xfrm>
            <a:off x="7788027" y="2929235"/>
            <a:ext cx="37795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mettre à jour une facture</a:t>
            </a:r>
            <a:endParaRPr lang="en-US" sz="900" dirty="0"/>
          </a:p>
        </p:txBody>
      </p:sp>
      <p:sp>
        <p:nvSpPr>
          <p:cNvPr id="78" name="SK-6-textBg-77"/>
          <p:cNvSpPr/>
          <p:nvPr/>
        </p:nvSpPr>
        <p:spPr>
          <a:xfrm>
            <a:off x="6602164" y="3140571"/>
            <a:ext cx="242888" cy="112365"/>
          </a:xfrm>
          <a:prstGeom prst="roundRect">
            <a:avLst>
              <a:gd name="adj" fmla="val 16954"/>
            </a:avLst>
          </a:prstGeom>
          <a:solidFill>
            <a:srgbClr val="DCFCE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9" name="SK-6-text-78"/>
          <p:cNvSpPr/>
          <p:nvPr/>
        </p:nvSpPr>
        <p:spPr>
          <a:xfrm>
            <a:off x="6659314" y="3140571"/>
            <a:ext cx="128588" cy="1123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735"/>
              </a:lnSpc>
              <a:buNone/>
            </a:pPr>
            <a:r>
              <a:rPr lang="en-US" sz="525" b="1" spc="30" kern="0" dirty="0">
                <a:solidFill>
                  <a:srgbClr val="15803D"/>
                </a:solidFill>
              </a:rPr>
              <a:t>GET</a:t>
            </a:r>
            <a:endParaRPr lang="en-US" sz="525" dirty="0"/>
          </a:p>
        </p:txBody>
      </p:sp>
      <p:sp>
        <p:nvSpPr>
          <p:cNvPr id="80" name="SK-6-text-79"/>
          <p:cNvSpPr/>
          <p:nvPr/>
        </p:nvSpPr>
        <p:spPr>
          <a:xfrm>
            <a:off x="6921252" y="3136850"/>
            <a:ext cx="192786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0F172A"/>
                </a:solidFill>
              </a:rPr>
              <a:t>/api/pdf/devis/:id</a:t>
            </a:r>
            <a:endParaRPr lang="en-US" sz="675" dirty="0"/>
          </a:p>
        </p:txBody>
      </p:sp>
      <p:sp>
        <p:nvSpPr>
          <p:cNvPr id="81" name="SK-6-text-80"/>
          <p:cNvSpPr/>
          <p:nvPr/>
        </p:nvSpPr>
        <p:spPr>
          <a:xfrm>
            <a:off x="7835652" y="3108275"/>
            <a:ext cx="26822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générer PDF devis</a:t>
            </a:r>
            <a:endParaRPr lang="en-US" sz="900" dirty="0"/>
          </a:p>
        </p:txBody>
      </p:sp>
      <p:sp>
        <p:nvSpPr>
          <p:cNvPr id="82" name="SK-6-textBg-81"/>
          <p:cNvSpPr/>
          <p:nvPr/>
        </p:nvSpPr>
        <p:spPr>
          <a:xfrm>
            <a:off x="6602164" y="3319611"/>
            <a:ext cx="242888" cy="112365"/>
          </a:xfrm>
          <a:prstGeom prst="roundRect">
            <a:avLst>
              <a:gd name="adj" fmla="val 16954"/>
            </a:avLst>
          </a:prstGeom>
          <a:solidFill>
            <a:srgbClr val="FEE2E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3" name="SK-6-text-82"/>
          <p:cNvSpPr/>
          <p:nvPr/>
        </p:nvSpPr>
        <p:spPr>
          <a:xfrm>
            <a:off x="6659314" y="3319611"/>
            <a:ext cx="128588" cy="1123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735"/>
              </a:lnSpc>
              <a:buNone/>
            </a:pPr>
            <a:r>
              <a:rPr lang="en-US" sz="525" b="1" spc="30" kern="0" dirty="0">
                <a:solidFill>
                  <a:srgbClr val="B91C1C"/>
                </a:solidFill>
              </a:rPr>
              <a:t>DEL</a:t>
            </a:r>
            <a:endParaRPr lang="en-US" sz="525" dirty="0"/>
          </a:p>
        </p:txBody>
      </p:sp>
      <p:sp>
        <p:nvSpPr>
          <p:cNvPr id="84" name="SK-6-text-83"/>
          <p:cNvSpPr/>
          <p:nvPr/>
        </p:nvSpPr>
        <p:spPr>
          <a:xfrm>
            <a:off x="6921252" y="3315891"/>
            <a:ext cx="172212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0F172A"/>
                </a:solidFill>
              </a:rPr>
              <a:t>/api/clients/:id</a:t>
            </a:r>
            <a:endParaRPr lang="en-US" sz="675" dirty="0"/>
          </a:p>
        </p:txBody>
      </p:sp>
      <p:sp>
        <p:nvSpPr>
          <p:cNvPr id="85" name="SK-6-text-84"/>
          <p:cNvSpPr/>
          <p:nvPr/>
        </p:nvSpPr>
        <p:spPr>
          <a:xfrm>
            <a:off x="7740402" y="3287316"/>
            <a:ext cx="29565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supprimer un client</a:t>
            </a:r>
            <a:endParaRPr lang="en-US" sz="900" dirty="0"/>
          </a:p>
        </p:txBody>
      </p:sp>
      <p:sp>
        <p:nvSpPr>
          <p:cNvPr id="86" name="SK-6-text-85"/>
          <p:cNvSpPr/>
          <p:nvPr/>
        </p:nvSpPr>
        <p:spPr>
          <a:xfrm>
            <a:off x="6797427" y="3494931"/>
            <a:ext cx="8991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00"/>
              </a:lnSpc>
              <a:buNone/>
            </a:pPr>
            <a:r>
              <a:rPr lang="en-US" sz="600" dirty="0">
                <a:solidFill>
                  <a:srgbClr val="94A3B8"/>
                </a:solidFill>
              </a:rPr>
              <a:t>Swagger :</a:t>
            </a:r>
            <a:endParaRPr lang="en-US" sz="600" dirty="0"/>
          </a:p>
        </p:txBody>
      </p:sp>
      <p:sp>
        <p:nvSpPr>
          <p:cNvPr id="87" name="SK-6-text-86"/>
          <p:cNvSpPr/>
          <p:nvPr/>
        </p:nvSpPr>
        <p:spPr>
          <a:xfrm>
            <a:off x="7302252" y="3494931"/>
            <a:ext cx="37947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00"/>
              </a:lnSpc>
              <a:buNone/>
            </a:pPr>
            <a:r>
              <a:rPr lang="en-US" sz="600" dirty="0">
                <a:solidFill>
                  <a:srgbClr val="0EA5E9"/>
                </a:solidFill>
              </a:rPr>
              <a:t>fmabattage-management-app-1.onrender.com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7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7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7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11049000" cy="641896"/>
          </a:xfrm>
          <a:prstGeom prst="rect">
            <a:avLst/>
          </a:prstGeom>
        </p:spPr>
      </p:pic>
      <p:pic>
        <p:nvPicPr>
          <p:cNvPr id="5" name="SK-7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251496"/>
            <a:ext cx="4328220" cy="2517577"/>
          </a:xfrm>
          <a:prstGeom prst="rect">
            <a:avLst/>
          </a:prstGeom>
        </p:spPr>
      </p:pic>
      <p:pic>
        <p:nvPicPr>
          <p:cNvPr id="6" name="SK-7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365796"/>
            <a:ext cx="4099620" cy="333375"/>
          </a:xfrm>
          <a:prstGeom prst="rect">
            <a:avLst/>
          </a:prstGeom>
        </p:spPr>
      </p:pic>
      <p:pic>
        <p:nvPicPr>
          <p:cNvPr id="7" name="SK-7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399133"/>
            <a:ext cx="228600" cy="190500"/>
          </a:xfrm>
          <a:prstGeom prst="rect">
            <a:avLst/>
          </a:prstGeom>
        </p:spPr>
      </p:pic>
      <p:pic>
        <p:nvPicPr>
          <p:cNvPr id="8" name="SK-7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1813471"/>
            <a:ext cx="1992660" cy="775097"/>
          </a:xfrm>
          <a:prstGeom prst="rect">
            <a:avLst/>
          </a:prstGeom>
        </p:spPr>
      </p:pic>
      <p:pic>
        <p:nvPicPr>
          <p:cNvPr id="9" name="SK-7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92760" y="1813471"/>
            <a:ext cx="1992660" cy="775097"/>
          </a:xfrm>
          <a:prstGeom prst="rect">
            <a:avLst/>
          </a:prstGeom>
        </p:spPr>
      </p:pic>
      <p:pic>
        <p:nvPicPr>
          <p:cNvPr id="10" name="SK-7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2702868"/>
            <a:ext cx="1992660" cy="775097"/>
          </a:xfrm>
          <a:prstGeom prst="rect">
            <a:avLst/>
          </a:prstGeom>
        </p:spPr>
      </p:pic>
      <p:pic>
        <p:nvPicPr>
          <p:cNvPr id="11" name="SK-7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92760" y="2702868"/>
            <a:ext cx="1992660" cy="775097"/>
          </a:xfrm>
          <a:prstGeom prst="rect">
            <a:avLst/>
          </a:prstGeom>
        </p:spPr>
      </p:pic>
      <p:pic>
        <p:nvPicPr>
          <p:cNvPr id="12" name="SK-7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3959572"/>
            <a:ext cx="4328220" cy="2517577"/>
          </a:xfrm>
          <a:prstGeom prst="rect">
            <a:avLst/>
          </a:prstGeom>
        </p:spPr>
      </p:pic>
      <p:pic>
        <p:nvPicPr>
          <p:cNvPr id="13" name="SK-7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" y="4073872"/>
            <a:ext cx="4099620" cy="333375"/>
          </a:xfrm>
          <a:prstGeom prst="rect">
            <a:avLst/>
          </a:prstGeom>
        </p:spPr>
      </p:pic>
      <p:pic>
        <p:nvPicPr>
          <p:cNvPr id="14" name="SK-7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5800" y="4107210"/>
            <a:ext cx="228600" cy="190500"/>
          </a:xfrm>
          <a:prstGeom prst="rect">
            <a:avLst/>
          </a:prstGeom>
        </p:spPr>
      </p:pic>
      <p:pic>
        <p:nvPicPr>
          <p:cNvPr id="15" name="SK-7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800" y="4597747"/>
            <a:ext cx="619125" cy="209550"/>
          </a:xfrm>
          <a:prstGeom prst="rect">
            <a:avLst/>
          </a:prstGeom>
        </p:spPr>
      </p:pic>
      <p:pic>
        <p:nvPicPr>
          <p:cNvPr id="16" name="SK-7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81125" y="4597747"/>
            <a:ext cx="619125" cy="209550"/>
          </a:xfrm>
          <a:prstGeom prst="rect">
            <a:avLst/>
          </a:prstGeom>
        </p:spPr>
      </p:pic>
      <p:pic>
        <p:nvPicPr>
          <p:cNvPr id="17" name="SK-7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076450" y="4597747"/>
            <a:ext cx="485775" cy="209550"/>
          </a:xfrm>
          <a:prstGeom prst="rect">
            <a:avLst/>
          </a:prstGeom>
        </p:spPr>
      </p:pic>
      <p:pic>
        <p:nvPicPr>
          <p:cNvPr id="18" name="SK-7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638425" y="4597747"/>
            <a:ext cx="685800" cy="209550"/>
          </a:xfrm>
          <a:prstGeom prst="rect">
            <a:avLst/>
          </a:prstGeom>
        </p:spPr>
      </p:pic>
      <p:pic>
        <p:nvPicPr>
          <p:cNvPr id="19" name="SK-7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400425" y="4597747"/>
            <a:ext cx="752475" cy="209550"/>
          </a:xfrm>
          <a:prstGeom prst="rect">
            <a:avLst/>
          </a:prstGeom>
        </p:spPr>
      </p:pic>
      <p:pic>
        <p:nvPicPr>
          <p:cNvPr id="20" name="SK-7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5800" y="4883497"/>
            <a:ext cx="619125" cy="209550"/>
          </a:xfrm>
          <a:prstGeom prst="rect">
            <a:avLst/>
          </a:prstGeom>
        </p:spPr>
      </p:pic>
      <p:pic>
        <p:nvPicPr>
          <p:cNvPr id="21" name="SK-7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381125" y="4883497"/>
            <a:ext cx="685800" cy="209550"/>
          </a:xfrm>
          <a:prstGeom prst="rect">
            <a:avLst/>
          </a:prstGeom>
        </p:spPr>
      </p:pic>
      <p:pic>
        <p:nvPicPr>
          <p:cNvPr id="22" name="SK-7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143125" y="4883497"/>
            <a:ext cx="485775" cy="209550"/>
          </a:xfrm>
          <a:prstGeom prst="rect">
            <a:avLst/>
          </a:prstGeom>
        </p:spPr>
      </p:pic>
      <p:pic>
        <p:nvPicPr>
          <p:cNvPr id="23" name="SK-7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128320" y="1251496"/>
            <a:ext cx="6492180" cy="2517577"/>
          </a:xfrm>
          <a:prstGeom prst="rect">
            <a:avLst/>
          </a:prstGeom>
        </p:spPr>
      </p:pic>
      <p:pic>
        <p:nvPicPr>
          <p:cNvPr id="24" name="SK-7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242620" y="1365796"/>
            <a:ext cx="6263580" cy="333375"/>
          </a:xfrm>
          <a:prstGeom prst="rect">
            <a:avLst/>
          </a:prstGeom>
        </p:spPr>
      </p:pic>
      <p:pic>
        <p:nvPicPr>
          <p:cNvPr id="25" name="SK-7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242620" y="1399133"/>
            <a:ext cx="228600" cy="190500"/>
          </a:xfrm>
          <a:prstGeom prst="rect">
            <a:avLst/>
          </a:prstGeom>
        </p:spPr>
      </p:pic>
      <p:pic>
        <p:nvPicPr>
          <p:cNvPr id="26" name="SK-7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242620" y="1813471"/>
            <a:ext cx="3084165" cy="328613"/>
          </a:xfrm>
          <a:prstGeom prst="rect">
            <a:avLst/>
          </a:prstGeom>
        </p:spPr>
      </p:pic>
      <p:pic>
        <p:nvPicPr>
          <p:cNvPr id="27" name="SK-7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422035" y="1813471"/>
            <a:ext cx="3084165" cy="328613"/>
          </a:xfrm>
          <a:prstGeom prst="rect">
            <a:avLst/>
          </a:prstGeom>
        </p:spPr>
      </p:pic>
      <p:pic>
        <p:nvPicPr>
          <p:cNvPr id="28" name="SK-7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242620" y="2237333"/>
            <a:ext cx="3084165" cy="328613"/>
          </a:xfrm>
          <a:prstGeom prst="rect">
            <a:avLst/>
          </a:prstGeom>
        </p:spPr>
      </p:pic>
      <p:pic>
        <p:nvPicPr>
          <p:cNvPr id="29" name="SK-7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422035" y="2237333"/>
            <a:ext cx="3084165" cy="328613"/>
          </a:xfrm>
          <a:prstGeom prst="rect">
            <a:avLst/>
          </a:prstGeom>
        </p:spPr>
      </p:pic>
      <p:pic>
        <p:nvPicPr>
          <p:cNvPr id="30" name="SK-7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242620" y="2661196"/>
            <a:ext cx="3084165" cy="328613"/>
          </a:xfrm>
          <a:prstGeom prst="rect">
            <a:avLst/>
          </a:prstGeom>
        </p:spPr>
      </p:pic>
      <p:pic>
        <p:nvPicPr>
          <p:cNvPr id="31" name="SK-7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422035" y="2661196"/>
            <a:ext cx="3084165" cy="328613"/>
          </a:xfrm>
          <a:prstGeom prst="rect">
            <a:avLst/>
          </a:prstGeom>
        </p:spPr>
      </p:pic>
      <p:pic>
        <p:nvPicPr>
          <p:cNvPr id="32" name="SK-7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128320" y="3959572"/>
            <a:ext cx="6492180" cy="2517577"/>
          </a:xfrm>
          <a:prstGeom prst="rect">
            <a:avLst/>
          </a:prstGeom>
        </p:spPr>
      </p:pic>
      <p:pic>
        <p:nvPicPr>
          <p:cNvPr id="33" name="SK-7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242620" y="4073872"/>
            <a:ext cx="6263580" cy="333375"/>
          </a:xfrm>
          <a:prstGeom prst="rect">
            <a:avLst/>
          </a:prstGeom>
        </p:spPr>
      </p:pic>
      <p:pic>
        <p:nvPicPr>
          <p:cNvPr id="34" name="SK-7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242620" y="4107210"/>
            <a:ext cx="228600" cy="190500"/>
          </a:xfrm>
          <a:prstGeom prst="rect">
            <a:avLst/>
          </a:prstGeom>
        </p:spPr>
      </p:pic>
      <p:pic>
        <p:nvPicPr>
          <p:cNvPr id="35" name="SK-7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242620" y="4521547"/>
            <a:ext cx="800100" cy="261937"/>
          </a:xfrm>
          <a:prstGeom prst="rect">
            <a:avLst/>
          </a:prstGeom>
        </p:spPr>
      </p:pic>
      <p:pic>
        <p:nvPicPr>
          <p:cNvPr id="36" name="SK-7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157020" y="4521547"/>
            <a:ext cx="704850" cy="261937"/>
          </a:xfrm>
          <a:prstGeom prst="rect">
            <a:avLst/>
          </a:prstGeom>
        </p:spPr>
      </p:pic>
      <p:pic>
        <p:nvPicPr>
          <p:cNvPr id="37" name="SK-7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976170" y="4521547"/>
            <a:ext cx="962025" cy="261937"/>
          </a:xfrm>
          <a:prstGeom prst="rect">
            <a:avLst/>
          </a:prstGeom>
        </p:spPr>
      </p:pic>
      <p:pic>
        <p:nvPicPr>
          <p:cNvPr id="38" name="SK-7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052495" y="4521547"/>
            <a:ext cx="1000125" cy="261937"/>
          </a:xfrm>
          <a:prstGeom prst="rect">
            <a:avLst/>
          </a:prstGeom>
        </p:spPr>
      </p:pic>
      <p:pic>
        <p:nvPicPr>
          <p:cNvPr id="39" name="SK-7-img-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5242620" y="4878735"/>
            <a:ext cx="6263580" cy="628650"/>
          </a:xfrm>
          <a:prstGeom prst="rect">
            <a:avLst/>
          </a:prstGeom>
        </p:spPr>
      </p:pic>
      <p:sp>
        <p:nvSpPr>
          <p:cNvPr id="40" name="SK-7-text-39"/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spc="60" kern="0" dirty="0">
                <a:solidFill>
                  <a:srgbClr val="059669"/>
                </a:solidFill>
              </a:rPr>
              <a:t>DWWM 2026 // LYDIE MEUNIER</a:t>
            </a:r>
            <a:endParaRPr lang="en-US" sz="1050" dirty="0"/>
          </a:p>
        </p:txBody>
      </p:sp>
      <p:sp>
        <p:nvSpPr>
          <p:cNvPr id="41" name="SK-7-text-40"/>
          <p:cNvSpPr/>
          <p:nvPr/>
        </p:nvSpPr>
        <p:spPr>
          <a:xfrm>
            <a:off x="762000" y="657225"/>
            <a:ext cx="110109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Développement Front-end</a:t>
            </a:r>
            <a:endParaRPr lang="en-US" sz="2400" dirty="0"/>
          </a:p>
        </p:txBody>
      </p:sp>
      <p:sp>
        <p:nvSpPr>
          <p:cNvPr id="42" name="SK-7-text-41"/>
          <p:cNvSpPr/>
          <p:nvPr/>
        </p:nvSpPr>
        <p:spPr>
          <a:xfrm>
            <a:off x="1028700" y="1365796"/>
            <a:ext cx="31718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 Technique</a:t>
            </a:r>
            <a:endParaRPr lang="en-US" sz="1350" dirty="0"/>
          </a:p>
        </p:txBody>
      </p:sp>
      <p:sp>
        <p:nvSpPr>
          <p:cNvPr id="43" name="SK-7-text-42"/>
          <p:cNvSpPr/>
          <p:nvPr/>
        </p:nvSpPr>
        <p:spPr>
          <a:xfrm>
            <a:off x="781050" y="1908721"/>
            <a:ext cx="18783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59669"/>
                </a:solidFill>
              </a:rPr>
              <a:t>Vanilla JS</a:t>
            </a:r>
            <a:endParaRPr lang="en-US" sz="1050" dirty="0"/>
          </a:p>
        </p:txBody>
      </p:sp>
      <p:sp>
        <p:nvSpPr>
          <p:cNvPr id="44" name="SK-7-text-43"/>
          <p:cNvSpPr/>
          <p:nvPr/>
        </p:nvSpPr>
        <p:spPr>
          <a:xfrm>
            <a:off x="781050" y="2146846"/>
            <a:ext cx="180216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Logique métier sans framework lourd.</a:t>
            </a:r>
            <a:endParaRPr lang="en-US" sz="975" dirty="0"/>
          </a:p>
        </p:txBody>
      </p:sp>
      <p:sp>
        <p:nvSpPr>
          <p:cNvPr id="45" name="SK-7-text-44"/>
          <p:cNvSpPr/>
          <p:nvPr/>
        </p:nvSpPr>
        <p:spPr>
          <a:xfrm>
            <a:off x="2888010" y="1908721"/>
            <a:ext cx="18783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59669"/>
                </a:solidFill>
              </a:rPr>
              <a:t>Fetch API</a:t>
            </a:r>
            <a:endParaRPr lang="en-US" sz="1050" dirty="0"/>
          </a:p>
        </p:txBody>
      </p:sp>
      <p:sp>
        <p:nvSpPr>
          <p:cNvPr id="46" name="SK-7-text-45"/>
          <p:cNvSpPr/>
          <p:nvPr/>
        </p:nvSpPr>
        <p:spPr>
          <a:xfrm>
            <a:off x="2888010" y="2146846"/>
            <a:ext cx="180216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Requêtes asynchrones vers l'API REST.</a:t>
            </a:r>
            <a:endParaRPr lang="en-US" sz="975" dirty="0"/>
          </a:p>
        </p:txBody>
      </p:sp>
      <p:sp>
        <p:nvSpPr>
          <p:cNvPr id="47" name="SK-7-text-46"/>
          <p:cNvSpPr/>
          <p:nvPr/>
        </p:nvSpPr>
        <p:spPr>
          <a:xfrm>
            <a:off x="781050" y="2798118"/>
            <a:ext cx="21564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59669"/>
                </a:solidFill>
              </a:rPr>
              <a:t>CSS Grid/Flex</a:t>
            </a:r>
            <a:endParaRPr lang="en-US" sz="1050" dirty="0"/>
          </a:p>
        </p:txBody>
      </p:sp>
      <p:sp>
        <p:nvSpPr>
          <p:cNvPr id="48" name="SK-7-text-47"/>
          <p:cNvSpPr/>
          <p:nvPr/>
        </p:nvSpPr>
        <p:spPr>
          <a:xfrm>
            <a:off x="781050" y="3036243"/>
            <a:ext cx="180216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Mises en page modernes et structurées.</a:t>
            </a:r>
            <a:endParaRPr lang="en-US" sz="975" dirty="0"/>
          </a:p>
        </p:txBody>
      </p:sp>
      <p:sp>
        <p:nvSpPr>
          <p:cNvPr id="49" name="SK-7-text-48"/>
          <p:cNvSpPr/>
          <p:nvPr/>
        </p:nvSpPr>
        <p:spPr>
          <a:xfrm>
            <a:off x="2888010" y="2798118"/>
            <a:ext cx="18783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59669"/>
                </a:solidFill>
              </a:rPr>
              <a:t>HTML5</a:t>
            </a:r>
            <a:endParaRPr lang="en-US" sz="1050" dirty="0"/>
          </a:p>
        </p:txBody>
      </p:sp>
      <p:sp>
        <p:nvSpPr>
          <p:cNvPr id="50" name="SK-7-text-49"/>
          <p:cNvSpPr/>
          <p:nvPr/>
        </p:nvSpPr>
        <p:spPr>
          <a:xfrm>
            <a:off x="2888010" y="3036243"/>
            <a:ext cx="180216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 sémantique et accessible.</a:t>
            </a:r>
            <a:endParaRPr lang="en-US" sz="975" dirty="0"/>
          </a:p>
        </p:txBody>
      </p:sp>
      <p:sp>
        <p:nvSpPr>
          <p:cNvPr id="51" name="SK-7-text-50"/>
          <p:cNvSpPr/>
          <p:nvPr/>
        </p:nvSpPr>
        <p:spPr>
          <a:xfrm>
            <a:off x="1028700" y="4073872"/>
            <a:ext cx="358330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Navigation Métier</a:t>
            </a:r>
            <a:endParaRPr lang="en-US" sz="1350" dirty="0"/>
          </a:p>
        </p:txBody>
      </p:sp>
      <p:sp>
        <p:nvSpPr>
          <p:cNvPr id="52" name="SK-7-text-51"/>
          <p:cNvSpPr/>
          <p:nvPr/>
        </p:nvSpPr>
        <p:spPr>
          <a:xfrm>
            <a:off x="762000" y="4597747"/>
            <a:ext cx="79998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Accueil</a:t>
            </a:r>
            <a:endParaRPr lang="en-US" sz="900" dirty="0"/>
          </a:p>
        </p:txBody>
      </p:sp>
      <p:sp>
        <p:nvSpPr>
          <p:cNvPr id="53" name="SK-7-text-52"/>
          <p:cNvSpPr/>
          <p:nvPr/>
        </p:nvSpPr>
        <p:spPr>
          <a:xfrm>
            <a:off x="1457325" y="4597747"/>
            <a:ext cx="79998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Clients</a:t>
            </a:r>
            <a:endParaRPr lang="en-US" sz="900" dirty="0"/>
          </a:p>
        </p:txBody>
      </p:sp>
      <p:sp>
        <p:nvSpPr>
          <p:cNvPr id="54" name="SK-7-text-53"/>
          <p:cNvSpPr/>
          <p:nvPr/>
        </p:nvSpPr>
        <p:spPr>
          <a:xfrm>
            <a:off x="2152650" y="4597747"/>
            <a:ext cx="5468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Devis</a:t>
            </a:r>
            <a:endParaRPr lang="en-US" sz="900" dirty="0"/>
          </a:p>
        </p:txBody>
      </p:sp>
      <p:sp>
        <p:nvSpPr>
          <p:cNvPr id="55" name="SK-7-text-54"/>
          <p:cNvSpPr/>
          <p:nvPr/>
        </p:nvSpPr>
        <p:spPr>
          <a:xfrm>
            <a:off x="2714625" y="4597747"/>
            <a:ext cx="9296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Factures</a:t>
            </a:r>
            <a:endParaRPr lang="en-US" sz="900" dirty="0"/>
          </a:p>
        </p:txBody>
      </p:sp>
      <p:sp>
        <p:nvSpPr>
          <p:cNvPr id="56" name="SK-7-text-55"/>
          <p:cNvSpPr/>
          <p:nvPr/>
        </p:nvSpPr>
        <p:spPr>
          <a:xfrm>
            <a:off x="3476625" y="4597747"/>
            <a:ext cx="106062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Paiements</a:t>
            </a:r>
            <a:endParaRPr lang="en-US" sz="900" dirty="0"/>
          </a:p>
        </p:txBody>
      </p:sp>
      <p:sp>
        <p:nvSpPr>
          <p:cNvPr id="57" name="SK-7-text-56"/>
          <p:cNvSpPr/>
          <p:nvPr/>
        </p:nvSpPr>
        <p:spPr>
          <a:xfrm>
            <a:off x="762000" y="4883497"/>
            <a:ext cx="79998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Impayés</a:t>
            </a:r>
            <a:endParaRPr lang="en-US" sz="900" dirty="0"/>
          </a:p>
        </p:txBody>
      </p:sp>
      <p:sp>
        <p:nvSpPr>
          <p:cNvPr id="58" name="SK-7-text-57"/>
          <p:cNvSpPr/>
          <p:nvPr/>
        </p:nvSpPr>
        <p:spPr>
          <a:xfrm>
            <a:off x="1457325" y="4883497"/>
            <a:ext cx="9296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Dépenses</a:t>
            </a:r>
            <a:endParaRPr lang="en-US" sz="900" dirty="0"/>
          </a:p>
        </p:txBody>
      </p:sp>
      <p:sp>
        <p:nvSpPr>
          <p:cNvPr id="59" name="SK-7-text-58"/>
          <p:cNvSpPr/>
          <p:nvPr/>
        </p:nvSpPr>
        <p:spPr>
          <a:xfrm>
            <a:off x="2219325" y="4883497"/>
            <a:ext cx="5468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Stats</a:t>
            </a:r>
            <a:endParaRPr lang="en-US" sz="900" dirty="0"/>
          </a:p>
        </p:txBody>
      </p:sp>
      <p:sp>
        <p:nvSpPr>
          <p:cNvPr id="60" name="SK-7-text-59"/>
          <p:cNvSpPr/>
          <p:nvPr/>
        </p:nvSpPr>
        <p:spPr>
          <a:xfrm>
            <a:off x="5585520" y="1365796"/>
            <a:ext cx="564070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Fonctionnalités &amp; Interface</a:t>
            </a:r>
            <a:endParaRPr lang="en-US" sz="1350" dirty="0"/>
          </a:p>
        </p:txBody>
      </p:sp>
      <p:sp>
        <p:nvSpPr>
          <p:cNvPr id="61" name="SK-7-text-60"/>
          <p:cNvSpPr/>
          <p:nvPr/>
        </p:nvSpPr>
        <p:spPr>
          <a:xfrm>
            <a:off x="5337870" y="1813471"/>
            <a:ext cx="4097701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Tableau de bord dynamique</a:t>
            </a:r>
            <a:endParaRPr lang="en-US" sz="1125" dirty="0"/>
          </a:p>
        </p:txBody>
      </p:sp>
      <p:sp>
        <p:nvSpPr>
          <p:cNvPr id="62" name="SK-7-text-61"/>
          <p:cNvSpPr/>
          <p:nvPr/>
        </p:nvSpPr>
        <p:spPr>
          <a:xfrm>
            <a:off x="8517285" y="1813471"/>
            <a:ext cx="3674715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Gestion des statuts (couleurs)</a:t>
            </a:r>
            <a:endParaRPr lang="en-US" sz="1125" dirty="0"/>
          </a:p>
        </p:txBody>
      </p:sp>
      <p:sp>
        <p:nvSpPr>
          <p:cNvPr id="63" name="SK-7-text-62"/>
          <p:cNvSpPr/>
          <p:nvPr/>
        </p:nvSpPr>
        <p:spPr>
          <a:xfrm>
            <a:off x="5337870" y="2237333"/>
            <a:ext cx="4419421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Formulaires avec validation</a:t>
            </a:r>
            <a:endParaRPr lang="en-US" sz="1125" dirty="0"/>
          </a:p>
        </p:txBody>
      </p:sp>
      <p:sp>
        <p:nvSpPr>
          <p:cNvPr id="64" name="SK-7-text-63"/>
          <p:cNvSpPr/>
          <p:nvPr/>
        </p:nvSpPr>
        <p:spPr>
          <a:xfrm>
            <a:off x="8517285" y="2237333"/>
            <a:ext cx="3674715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Messages de confirmation (UX)</a:t>
            </a:r>
            <a:endParaRPr lang="en-US" sz="1125" dirty="0"/>
          </a:p>
        </p:txBody>
      </p:sp>
      <p:sp>
        <p:nvSpPr>
          <p:cNvPr id="65" name="SK-7-text-64"/>
          <p:cNvSpPr/>
          <p:nvPr/>
        </p:nvSpPr>
        <p:spPr>
          <a:xfrm>
            <a:off x="5337870" y="2661196"/>
            <a:ext cx="4097701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Génération PDF en un clic</a:t>
            </a:r>
            <a:endParaRPr lang="en-US" sz="1125" dirty="0"/>
          </a:p>
        </p:txBody>
      </p:sp>
      <p:sp>
        <p:nvSpPr>
          <p:cNvPr id="66" name="SK-7-text-65"/>
          <p:cNvSpPr/>
          <p:nvPr/>
        </p:nvSpPr>
        <p:spPr>
          <a:xfrm>
            <a:off x="8517285" y="2661196"/>
            <a:ext cx="3615121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Exports de données CSV</a:t>
            </a:r>
            <a:endParaRPr lang="en-US" sz="1125" dirty="0"/>
          </a:p>
        </p:txBody>
      </p:sp>
      <p:sp>
        <p:nvSpPr>
          <p:cNvPr id="67" name="SK-7-text-66"/>
          <p:cNvSpPr/>
          <p:nvPr/>
        </p:nvSpPr>
        <p:spPr>
          <a:xfrm>
            <a:off x="5585520" y="4073872"/>
            <a:ext cx="440626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Principes UX &amp; Design</a:t>
            </a:r>
            <a:endParaRPr lang="en-US" sz="1350" dirty="0"/>
          </a:p>
        </p:txBody>
      </p:sp>
      <p:sp>
        <p:nvSpPr>
          <p:cNvPr id="68" name="SK-7-text-67"/>
          <p:cNvSpPr/>
          <p:nvPr/>
        </p:nvSpPr>
        <p:spPr>
          <a:xfrm>
            <a:off x="5356920" y="4521547"/>
            <a:ext cx="1137557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Simplicité</a:t>
            </a:r>
            <a:endParaRPr lang="en-US" sz="975" dirty="0"/>
          </a:p>
        </p:txBody>
      </p:sp>
      <p:sp>
        <p:nvSpPr>
          <p:cNvPr id="69" name="SK-7-text-68"/>
          <p:cNvSpPr/>
          <p:nvPr/>
        </p:nvSpPr>
        <p:spPr>
          <a:xfrm>
            <a:off x="6271320" y="4521547"/>
            <a:ext cx="1080186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Lisibilité</a:t>
            </a:r>
            <a:endParaRPr lang="en-US" sz="975" dirty="0"/>
          </a:p>
        </p:txBody>
      </p:sp>
      <p:sp>
        <p:nvSpPr>
          <p:cNvPr id="70" name="SK-7-text-69"/>
          <p:cNvSpPr/>
          <p:nvPr/>
        </p:nvSpPr>
        <p:spPr>
          <a:xfrm>
            <a:off x="7090470" y="4521547"/>
            <a:ext cx="1322296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Bureautique</a:t>
            </a:r>
            <a:endParaRPr lang="en-US" sz="975" dirty="0"/>
          </a:p>
        </p:txBody>
      </p:sp>
      <p:sp>
        <p:nvSpPr>
          <p:cNvPr id="71" name="SK-7-text-70"/>
          <p:cNvSpPr/>
          <p:nvPr/>
        </p:nvSpPr>
        <p:spPr>
          <a:xfrm>
            <a:off x="8166795" y="4521547"/>
            <a:ext cx="1337092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</a:t>
            </a:r>
            <a:endParaRPr lang="en-US" sz="975" dirty="0"/>
          </a:p>
        </p:txBody>
      </p:sp>
      <p:sp>
        <p:nvSpPr>
          <p:cNvPr id="72" name="SK-7-text-71"/>
          <p:cNvSpPr/>
          <p:nvPr/>
        </p:nvSpPr>
        <p:spPr>
          <a:xfrm>
            <a:off x="5356920" y="4993035"/>
            <a:ext cx="60349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i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"Le choix du JavaScript Vanilla garantit une application légère, facile à maintenir pour une micro-entreprise, tout en offrant une réactivité optimale via l'API REST."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8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8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8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04800"/>
            <a:ext cx="11049000" cy="641896"/>
          </a:xfrm>
          <a:prstGeom prst="rect">
            <a:avLst/>
          </a:prstGeom>
        </p:spPr>
      </p:pic>
      <p:pic>
        <p:nvPicPr>
          <p:cNvPr id="5" name="SK-8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127671"/>
            <a:ext cx="3127921" cy="2743646"/>
          </a:xfrm>
          <a:prstGeom prst="rect">
            <a:avLst/>
          </a:prstGeom>
        </p:spPr>
      </p:pic>
      <p:pic>
        <p:nvPicPr>
          <p:cNvPr id="6" name="SK-8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1280071"/>
            <a:ext cx="419100" cy="419100"/>
          </a:xfrm>
          <a:prstGeom prst="rect">
            <a:avLst/>
          </a:prstGeom>
        </p:spPr>
      </p:pic>
      <p:pic>
        <p:nvPicPr>
          <p:cNvPr id="7" name="SK-8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488" y="1394371"/>
            <a:ext cx="238125" cy="190500"/>
          </a:xfrm>
          <a:prstGeom prst="rect">
            <a:avLst/>
          </a:prstGeom>
        </p:spPr>
      </p:pic>
      <p:pic>
        <p:nvPicPr>
          <p:cNvPr id="8" name="SK-8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2161133"/>
            <a:ext cx="178594" cy="152995"/>
          </a:xfrm>
          <a:prstGeom prst="rect">
            <a:avLst/>
          </a:prstGeom>
        </p:spPr>
      </p:pic>
      <p:pic>
        <p:nvPicPr>
          <p:cNvPr id="9" name="SK-8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2646908"/>
            <a:ext cx="178594" cy="164753"/>
          </a:xfrm>
          <a:prstGeom prst="rect">
            <a:avLst/>
          </a:prstGeom>
        </p:spPr>
      </p:pic>
      <p:pic>
        <p:nvPicPr>
          <p:cNvPr id="10" name="SK-8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3132683"/>
            <a:ext cx="178594" cy="164753"/>
          </a:xfrm>
          <a:prstGeom prst="rect">
            <a:avLst/>
          </a:prstGeom>
        </p:spPr>
      </p:pic>
      <p:pic>
        <p:nvPicPr>
          <p:cNvPr id="11" name="SK-8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89921" y="1127671"/>
            <a:ext cx="3128070" cy="2743646"/>
          </a:xfrm>
          <a:prstGeom prst="rect">
            <a:avLst/>
          </a:prstGeom>
        </p:spPr>
      </p:pic>
      <p:pic>
        <p:nvPicPr>
          <p:cNvPr id="12" name="SK-8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80421" y="1280071"/>
            <a:ext cx="419100" cy="419100"/>
          </a:xfrm>
          <a:prstGeom prst="rect">
            <a:avLst/>
          </a:prstGeom>
        </p:spPr>
      </p:pic>
      <p:pic>
        <p:nvPicPr>
          <p:cNvPr id="13" name="SK-8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70908" y="1394371"/>
            <a:ext cx="238125" cy="190500"/>
          </a:xfrm>
          <a:prstGeom prst="rect">
            <a:avLst/>
          </a:prstGeom>
        </p:spPr>
      </p:pic>
      <p:pic>
        <p:nvPicPr>
          <p:cNvPr id="14" name="SK-8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80421" y="2161133"/>
            <a:ext cx="178594" cy="152995"/>
          </a:xfrm>
          <a:prstGeom prst="rect">
            <a:avLst/>
          </a:prstGeom>
        </p:spPr>
      </p:pic>
      <p:pic>
        <p:nvPicPr>
          <p:cNvPr id="15" name="SK-8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80421" y="2646908"/>
            <a:ext cx="178594" cy="142875"/>
          </a:xfrm>
          <a:prstGeom prst="rect">
            <a:avLst/>
          </a:prstGeom>
        </p:spPr>
      </p:pic>
      <p:pic>
        <p:nvPicPr>
          <p:cNvPr id="16" name="SK-8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080421" y="2918371"/>
            <a:ext cx="178594" cy="142875"/>
          </a:xfrm>
          <a:prstGeom prst="rect">
            <a:avLst/>
          </a:prstGeom>
        </p:spPr>
      </p:pic>
      <p:pic>
        <p:nvPicPr>
          <p:cNvPr id="17" name="SK-8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1500" y="4023717"/>
            <a:ext cx="3127921" cy="2529483"/>
          </a:xfrm>
          <a:prstGeom prst="rect">
            <a:avLst/>
          </a:prstGeom>
        </p:spPr>
      </p:pic>
      <p:pic>
        <p:nvPicPr>
          <p:cNvPr id="18" name="SK-8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2000" y="4176117"/>
            <a:ext cx="419100" cy="419100"/>
          </a:xfrm>
          <a:prstGeom prst="rect">
            <a:avLst/>
          </a:prstGeom>
        </p:spPr>
      </p:pic>
      <p:pic>
        <p:nvPicPr>
          <p:cNvPr id="19" name="SK-8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2488" y="4290417"/>
            <a:ext cx="238125" cy="190500"/>
          </a:xfrm>
          <a:prstGeom prst="rect">
            <a:avLst/>
          </a:prstGeom>
        </p:spPr>
      </p:pic>
      <p:pic>
        <p:nvPicPr>
          <p:cNvPr id="20" name="SK-8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62000" y="5057180"/>
            <a:ext cx="178594" cy="142875"/>
          </a:xfrm>
          <a:prstGeom prst="rect">
            <a:avLst/>
          </a:prstGeom>
        </p:spPr>
      </p:pic>
      <p:pic>
        <p:nvPicPr>
          <p:cNvPr id="21" name="SK-8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62000" y="5328642"/>
            <a:ext cx="178594" cy="142875"/>
          </a:xfrm>
          <a:prstGeom prst="rect">
            <a:avLst/>
          </a:prstGeom>
        </p:spPr>
      </p:pic>
      <p:pic>
        <p:nvPicPr>
          <p:cNvPr id="22" name="SK-8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62000" y="5814417"/>
            <a:ext cx="178594" cy="164753"/>
          </a:xfrm>
          <a:prstGeom prst="rect">
            <a:avLst/>
          </a:prstGeom>
        </p:spPr>
      </p:pic>
      <p:pic>
        <p:nvPicPr>
          <p:cNvPr id="23" name="SK-8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889921" y="4023717"/>
            <a:ext cx="3128070" cy="2529483"/>
          </a:xfrm>
          <a:prstGeom prst="rect">
            <a:avLst/>
          </a:prstGeom>
        </p:spPr>
      </p:pic>
      <p:pic>
        <p:nvPicPr>
          <p:cNvPr id="24" name="SK-8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080421" y="4176117"/>
            <a:ext cx="419100" cy="419100"/>
          </a:xfrm>
          <a:prstGeom prst="rect">
            <a:avLst/>
          </a:prstGeom>
        </p:spPr>
      </p:pic>
      <p:pic>
        <p:nvPicPr>
          <p:cNvPr id="25" name="SK-8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170908" y="4290417"/>
            <a:ext cx="238125" cy="190500"/>
          </a:xfrm>
          <a:prstGeom prst="rect">
            <a:avLst/>
          </a:prstGeom>
        </p:spPr>
      </p:pic>
      <p:pic>
        <p:nvPicPr>
          <p:cNvPr id="26" name="SK-8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080421" y="5057180"/>
            <a:ext cx="178594" cy="152995"/>
          </a:xfrm>
          <a:prstGeom prst="rect">
            <a:avLst/>
          </a:prstGeom>
        </p:spPr>
      </p:pic>
      <p:pic>
        <p:nvPicPr>
          <p:cNvPr id="27" name="SK-8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080421" y="5542955"/>
            <a:ext cx="178594" cy="152995"/>
          </a:xfrm>
          <a:prstGeom prst="rect">
            <a:avLst/>
          </a:prstGeom>
        </p:spPr>
      </p:pic>
      <p:pic>
        <p:nvPicPr>
          <p:cNvPr id="28" name="SK-8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080421" y="6028730"/>
            <a:ext cx="178594" cy="142875"/>
          </a:xfrm>
          <a:prstGeom prst="rect">
            <a:avLst/>
          </a:prstGeom>
        </p:spPr>
      </p:pic>
      <p:pic>
        <p:nvPicPr>
          <p:cNvPr id="29" name="SK-8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322790" y="1127671"/>
            <a:ext cx="4297710" cy="1714500"/>
          </a:xfrm>
          <a:prstGeom prst="rect">
            <a:avLst/>
          </a:prstGeom>
        </p:spPr>
      </p:pic>
      <p:pic>
        <p:nvPicPr>
          <p:cNvPr id="30" name="SK-8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322790" y="1127671"/>
            <a:ext cx="4297710" cy="1714500"/>
          </a:xfrm>
          <a:prstGeom prst="rect">
            <a:avLst/>
          </a:prstGeom>
        </p:spPr>
      </p:pic>
      <p:pic>
        <p:nvPicPr>
          <p:cNvPr id="31" name="SK-8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322790" y="3070771"/>
            <a:ext cx="4297710" cy="3482429"/>
          </a:xfrm>
          <a:prstGeom prst="rect">
            <a:avLst/>
          </a:prstGeom>
        </p:spPr>
      </p:pic>
      <p:pic>
        <p:nvPicPr>
          <p:cNvPr id="32" name="SK-8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551390" y="3642271"/>
            <a:ext cx="3840510" cy="285750"/>
          </a:xfrm>
          <a:prstGeom prst="rect">
            <a:avLst/>
          </a:prstGeom>
        </p:spPr>
      </p:pic>
      <p:pic>
        <p:nvPicPr>
          <p:cNvPr id="33" name="SK-8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551390" y="3642271"/>
            <a:ext cx="219075" cy="209550"/>
          </a:xfrm>
          <a:prstGeom prst="rect">
            <a:avLst/>
          </a:prstGeom>
        </p:spPr>
      </p:pic>
      <p:pic>
        <p:nvPicPr>
          <p:cNvPr id="34" name="SK-8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551390" y="4042321"/>
            <a:ext cx="3840510" cy="285750"/>
          </a:xfrm>
          <a:prstGeom prst="rect">
            <a:avLst/>
          </a:prstGeom>
        </p:spPr>
      </p:pic>
      <p:pic>
        <p:nvPicPr>
          <p:cNvPr id="35" name="SK-8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551390" y="4042321"/>
            <a:ext cx="219075" cy="209550"/>
          </a:xfrm>
          <a:prstGeom prst="rect">
            <a:avLst/>
          </a:prstGeom>
        </p:spPr>
      </p:pic>
      <p:pic>
        <p:nvPicPr>
          <p:cNvPr id="36" name="SK-8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551390" y="4442371"/>
            <a:ext cx="3840510" cy="285750"/>
          </a:xfrm>
          <a:prstGeom prst="rect">
            <a:avLst/>
          </a:prstGeom>
        </p:spPr>
      </p:pic>
      <p:pic>
        <p:nvPicPr>
          <p:cNvPr id="37" name="SK-8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551390" y="4442371"/>
            <a:ext cx="219075" cy="209550"/>
          </a:xfrm>
          <a:prstGeom prst="rect">
            <a:avLst/>
          </a:prstGeom>
        </p:spPr>
      </p:pic>
      <p:pic>
        <p:nvPicPr>
          <p:cNvPr id="38" name="SK-8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551390" y="4842421"/>
            <a:ext cx="219075" cy="209550"/>
          </a:xfrm>
          <a:prstGeom prst="rect">
            <a:avLst/>
          </a:prstGeom>
        </p:spPr>
      </p:pic>
      <p:sp>
        <p:nvSpPr>
          <p:cNvPr id="39" name="SK-8-text-38"/>
          <p:cNvSpPr/>
          <p:nvPr/>
        </p:nvSpPr>
        <p:spPr>
          <a:xfrm>
            <a:off x="762000" y="304800"/>
            <a:ext cx="10934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spc="60" kern="0" dirty="0">
                <a:solidFill>
                  <a:srgbClr val="059669"/>
                </a:solidFill>
              </a:rPr>
              <a:t>DWWM 2026 // LYDIE MEUNIER</a:t>
            </a:r>
            <a:endParaRPr lang="en-US" sz="1050" dirty="0"/>
          </a:p>
        </p:txBody>
      </p:sp>
      <p:sp>
        <p:nvSpPr>
          <p:cNvPr id="40" name="SK-8-text-39"/>
          <p:cNvSpPr/>
          <p:nvPr/>
        </p:nvSpPr>
        <p:spPr>
          <a:xfrm>
            <a:off x="762000" y="581025"/>
            <a:ext cx="110109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Fonctionnalités Métier</a:t>
            </a:r>
            <a:endParaRPr lang="en-US" sz="2400" dirty="0"/>
          </a:p>
        </p:txBody>
      </p:sp>
      <p:sp>
        <p:nvSpPr>
          <p:cNvPr id="41" name="SK-8-text-40"/>
          <p:cNvSpPr/>
          <p:nvPr/>
        </p:nvSpPr>
        <p:spPr>
          <a:xfrm>
            <a:off x="762000" y="1794421"/>
            <a:ext cx="2837408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38"/>
              </a:lnSpc>
              <a:buNone/>
            </a:pPr>
            <a:r>
              <a:rPr lang="en-US" sz="14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 &amp; Devis</a:t>
            </a:r>
            <a:endParaRPr lang="en-US" sz="1425" dirty="0"/>
          </a:p>
        </p:txBody>
      </p:sp>
      <p:sp>
        <p:nvSpPr>
          <p:cNvPr id="42" name="SK-8-text-41"/>
          <p:cNvSpPr/>
          <p:nvPr/>
        </p:nvSpPr>
        <p:spPr>
          <a:xfrm>
            <a:off x="1016794" y="2161133"/>
            <a:ext cx="274692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Fiches clients avec historique complet</a:t>
            </a:r>
            <a:endParaRPr lang="en-US" sz="1125" dirty="0"/>
          </a:p>
        </p:txBody>
      </p:sp>
      <p:sp>
        <p:nvSpPr>
          <p:cNvPr id="43" name="SK-8-text-42"/>
          <p:cNvSpPr/>
          <p:nvPr/>
        </p:nvSpPr>
        <p:spPr>
          <a:xfrm>
            <a:off x="1016794" y="2646908"/>
            <a:ext cx="274692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 auto. (Prestations + Déplacement)</a:t>
            </a:r>
            <a:endParaRPr lang="en-US" sz="1125" dirty="0"/>
          </a:p>
        </p:txBody>
      </p:sp>
      <p:sp>
        <p:nvSpPr>
          <p:cNvPr id="44" name="SK-8-text-43"/>
          <p:cNvSpPr/>
          <p:nvPr/>
        </p:nvSpPr>
        <p:spPr>
          <a:xfrm>
            <a:off x="1016794" y="3132683"/>
            <a:ext cx="274692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Gestion des statuts (En attente / Refusé)</a:t>
            </a:r>
            <a:endParaRPr lang="en-US" sz="1125" dirty="0"/>
          </a:p>
        </p:txBody>
      </p:sp>
      <p:sp>
        <p:nvSpPr>
          <p:cNvPr id="45" name="SK-8-text-44"/>
          <p:cNvSpPr/>
          <p:nvPr/>
        </p:nvSpPr>
        <p:spPr>
          <a:xfrm>
            <a:off x="4080421" y="1794421"/>
            <a:ext cx="3782378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38"/>
              </a:lnSpc>
              <a:buNone/>
            </a:pPr>
            <a:r>
              <a:rPr lang="en-US" sz="14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Facturation Agile</a:t>
            </a:r>
            <a:endParaRPr lang="en-US" sz="1425" dirty="0"/>
          </a:p>
        </p:txBody>
      </p:sp>
      <p:sp>
        <p:nvSpPr>
          <p:cNvPr id="46" name="SK-8-text-45"/>
          <p:cNvSpPr/>
          <p:nvPr/>
        </p:nvSpPr>
        <p:spPr>
          <a:xfrm>
            <a:off x="4335214" y="2161133"/>
            <a:ext cx="274707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 1-clic Devis vers Facture</a:t>
            </a:r>
            <a:endParaRPr lang="en-US" sz="1125" dirty="0"/>
          </a:p>
        </p:txBody>
      </p:sp>
      <p:sp>
        <p:nvSpPr>
          <p:cNvPr id="47" name="SK-8-text-46"/>
          <p:cNvSpPr/>
          <p:nvPr/>
        </p:nvSpPr>
        <p:spPr>
          <a:xfrm>
            <a:off x="4335214" y="2646908"/>
            <a:ext cx="53149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Numérotation séquentielle auto.</a:t>
            </a:r>
            <a:endParaRPr lang="en-US" sz="1125" dirty="0"/>
          </a:p>
        </p:txBody>
      </p:sp>
      <p:sp>
        <p:nvSpPr>
          <p:cNvPr id="48" name="SK-8-text-47"/>
          <p:cNvSpPr/>
          <p:nvPr/>
        </p:nvSpPr>
        <p:spPr>
          <a:xfrm>
            <a:off x="4335214" y="2918371"/>
            <a:ext cx="61722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Suivi du reste à payer en temps réel</a:t>
            </a:r>
            <a:endParaRPr lang="en-US" sz="1125" dirty="0"/>
          </a:p>
        </p:txBody>
      </p:sp>
      <p:sp>
        <p:nvSpPr>
          <p:cNvPr id="49" name="SK-8-text-48"/>
          <p:cNvSpPr/>
          <p:nvPr/>
        </p:nvSpPr>
        <p:spPr>
          <a:xfrm>
            <a:off x="762000" y="4690467"/>
            <a:ext cx="3565208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38"/>
              </a:lnSpc>
              <a:buNone/>
            </a:pPr>
            <a:r>
              <a:rPr lang="en-US" sz="14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Suivi &amp; Relances</a:t>
            </a:r>
            <a:endParaRPr lang="en-US" sz="1425" dirty="0"/>
          </a:p>
        </p:txBody>
      </p:sp>
      <p:sp>
        <p:nvSpPr>
          <p:cNvPr id="50" name="SK-8-text-49"/>
          <p:cNvSpPr/>
          <p:nvPr/>
        </p:nvSpPr>
        <p:spPr>
          <a:xfrm>
            <a:off x="1016794" y="5057180"/>
            <a:ext cx="53149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Paiements multiples par facture</a:t>
            </a:r>
            <a:endParaRPr lang="en-US" sz="1125" dirty="0"/>
          </a:p>
        </p:txBody>
      </p:sp>
      <p:sp>
        <p:nvSpPr>
          <p:cNvPr id="51" name="SK-8-text-50"/>
          <p:cNvSpPr/>
          <p:nvPr/>
        </p:nvSpPr>
        <p:spPr>
          <a:xfrm>
            <a:off x="1016794" y="5328642"/>
            <a:ext cx="274692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Relances à 3 niveaux avec pénalités</a:t>
            </a:r>
            <a:endParaRPr lang="en-US" sz="1125" dirty="0"/>
          </a:p>
        </p:txBody>
      </p:sp>
      <p:sp>
        <p:nvSpPr>
          <p:cNvPr id="52" name="SK-8-text-51"/>
          <p:cNvSpPr/>
          <p:nvPr/>
        </p:nvSpPr>
        <p:spPr>
          <a:xfrm>
            <a:off x="1016794" y="5814417"/>
            <a:ext cx="274692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Centralisation des dépenses (carburant)</a:t>
            </a:r>
            <a:endParaRPr lang="en-US" sz="1125" dirty="0"/>
          </a:p>
        </p:txBody>
      </p:sp>
      <p:sp>
        <p:nvSpPr>
          <p:cNvPr id="53" name="SK-8-text-52"/>
          <p:cNvSpPr/>
          <p:nvPr/>
        </p:nvSpPr>
        <p:spPr>
          <a:xfrm>
            <a:off x="4080421" y="4690467"/>
            <a:ext cx="3565208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38"/>
              </a:lnSpc>
              <a:buNone/>
            </a:pPr>
            <a:r>
              <a:rPr lang="en-US" sz="14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Pilotage &amp; Stats</a:t>
            </a:r>
            <a:endParaRPr lang="en-US" sz="1425" dirty="0"/>
          </a:p>
        </p:txBody>
      </p:sp>
      <p:sp>
        <p:nvSpPr>
          <p:cNvPr id="54" name="SK-8-text-53"/>
          <p:cNvSpPr/>
          <p:nvPr/>
        </p:nvSpPr>
        <p:spPr>
          <a:xfrm>
            <a:off x="4335214" y="5057180"/>
            <a:ext cx="274707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Statistiques de CA mensuel et annuel</a:t>
            </a:r>
            <a:endParaRPr lang="en-US" sz="1125" dirty="0"/>
          </a:p>
        </p:txBody>
      </p:sp>
      <p:sp>
        <p:nvSpPr>
          <p:cNvPr id="55" name="SK-8-text-54"/>
          <p:cNvSpPr/>
          <p:nvPr/>
        </p:nvSpPr>
        <p:spPr>
          <a:xfrm>
            <a:off x="4335214" y="5542955"/>
            <a:ext cx="274707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 CSV des factures et dépenses</a:t>
            </a:r>
            <a:endParaRPr lang="en-US" sz="1125" dirty="0"/>
          </a:p>
        </p:txBody>
      </p:sp>
      <p:sp>
        <p:nvSpPr>
          <p:cNvPr id="56" name="SK-8-text-55"/>
          <p:cNvSpPr/>
          <p:nvPr/>
        </p:nvSpPr>
        <p:spPr>
          <a:xfrm>
            <a:off x="4335214" y="6028730"/>
            <a:ext cx="46291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Tableau de bord des impayés</a:t>
            </a:r>
            <a:endParaRPr lang="en-US" sz="1125" dirty="0"/>
          </a:p>
        </p:txBody>
      </p:sp>
      <p:sp>
        <p:nvSpPr>
          <p:cNvPr id="57" name="SK-8-text-56"/>
          <p:cNvSpPr/>
          <p:nvPr/>
        </p:nvSpPr>
        <p:spPr>
          <a:xfrm>
            <a:off x="7551390" y="3299371"/>
            <a:ext cx="3916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spc="30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EXEMPLE DE FLUX RÉEL</a:t>
            </a:r>
            <a:endParaRPr lang="en-US" sz="1200" dirty="0"/>
          </a:p>
        </p:txBody>
      </p:sp>
      <p:sp>
        <p:nvSpPr>
          <p:cNvPr id="58" name="SK-8-text-57"/>
          <p:cNvSpPr/>
          <p:nvPr/>
        </p:nvSpPr>
        <p:spPr>
          <a:xfrm>
            <a:off x="7627590" y="3642271"/>
            <a:ext cx="14577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1</a:t>
            </a:r>
            <a:endParaRPr lang="en-US" sz="900" dirty="0"/>
          </a:p>
        </p:txBody>
      </p:sp>
      <p:sp>
        <p:nvSpPr>
          <p:cNvPr id="59" name="SK-8-text-58"/>
          <p:cNvSpPr/>
          <p:nvPr/>
        </p:nvSpPr>
        <p:spPr>
          <a:xfrm>
            <a:off x="7884765" y="3647033"/>
            <a:ext cx="43072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</a:t>
            </a:r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Martin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(Bourg-en-Bresse)</a:t>
            </a:r>
            <a:endParaRPr lang="en-US" sz="1050" dirty="0"/>
          </a:p>
        </p:txBody>
      </p:sp>
      <p:sp>
        <p:nvSpPr>
          <p:cNvPr id="60" name="SK-8-text-59"/>
          <p:cNvSpPr/>
          <p:nvPr/>
        </p:nvSpPr>
        <p:spPr>
          <a:xfrm>
            <a:off x="7627590" y="4042321"/>
            <a:ext cx="14577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2</a:t>
            </a:r>
            <a:endParaRPr lang="en-US" sz="900" dirty="0"/>
          </a:p>
        </p:txBody>
      </p:sp>
      <p:sp>
        <p:nvSpPr>
          <p:cNvPr id="61" name="SK-8-text-60"/>
          <p:cNvSpPr/>
          <p:nvPr/>
        </p:nvSpPr>
        <p:spPr>
          <a:xfrm>
            <a:off x="7884765" y="4047083"/>
            <a:ext cx="43072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Devis </a:t>
            </a:r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D-2026-020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(345 €)</a:t>
            </a:r>
            <a:endParaRPr lang="en-US" sz="1050" dirty="0"/>
          </a:p>
        </p:txBody>
      </p:sp>
      <p:sp>
        <p:nvSpPr>
          <p:cNvPr id="62" name="SK-8-text-61"/>
          <p:cNvSpPr/>
          <p:nvPr/>
        </p:nvSpPr>
        <p:spPr>
          <a:xfrm>
            <a:off x="7627590" y="4442371"/>
            <a:ext cx="14577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3</a:t>
            </a:r>
            <a:endParaRPr lang="en-US" sz="900" dirty="0"/>
          </a:p>
        </p:txBody>
      </p:sp>
      <p:sp>
        <p:nvSpPr>
          <p:cNvPr id="63" name="SK-8-text-62"/>
          <p:cNvSpPr/>
          <p:nvPr/>
        </p:nvSpPr>
        <p:spPr>
          <a:xfrm>
            <a:off x="7884765" y="4447133"/>
            <a:ext cx="39166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Facturation &amp; PDF généré</a:t>
            </a:r>
            <a:endParaRPr lang="en-US" sz="1050" dirty="0"/>
          </a:p>
        </p:txBody>
      </p:sp>
      <p:sp>
        <p:nvSpPr>
          <p:cNvPr id="64" name="SK-8-text-63"/>
          <p:cNvSpPr/>
          <p:nvPr/>
        </p:nvSpPr>
        <p:spPr>
          <a:xfrm>
            <a:off x="7627590" y="4842421"/>
            <a:ext cx="14577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4</a:t>
            </a:r>
            <a:endParaRPr lang="en-US" sz="900" dirty="0"/>
          </a:p>
        </p:txBody>
      </p:sp>
      <p:sp>
        <p:nvSpPr>
          <p:cNvPr id="65" name="SK-8-text-64"/>
          <p:cNvSpPr/>
          <p:nvPr/>
        </p:nvSpPr>
        <p:spPr>
          <a:xfrm>
            <a:off x="7884765" y="4847183"/>
            <a:ext cx="43072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Paiement </a:t>
            </a:r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Espèces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345 €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 15/06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9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9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9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04800"/>
            <a:ext cx="11049000" cy="641896"/>
          </a:xfrm>
          <a:prstGeom prst="rect">
            <a:avLst/>
          </a:prstGeom>
        </p:spPr>
      </p:pic>
      <p:pic>
        <p:nvPicPr>
          <p:cNvPr id="5" name="SK-9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127671"/>
            <a:ext cx="4775150" cy="5425529"/>
          </a:xfrm>
          <a:prstGeom prst="rect">
            <a:avLst/>
          </a:prstGeom>
        </p:spPr>
      </p:pic>
      <p:pic>
        <p:nvPicPr>
          <p:cNvPr id="6" name="SK-9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1318171"/>
            <a:ext cx="4394150" cy="371475"/>
          </a:xfrm>
          <a:prstGeom prst="rect">
            <a:avLst/>
          </a:prstGeom>
        </p:spPr>
      </p:pic>
      <p:pic>
        <p:nvPicPr>
          <p:cNvPr id="7" name="SK-9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359098"/>
            <a:ext cx="214313" cy="175320"/>
          </a:xfrm>
          <a:prstGeom prst="rect">
            <a:avLst/>
          </a:prstGeom>
        </p:spPr>
      </p:pic>
      <p:pic>
        <p:nvPicPr>
          <p:cNvPr id="8" name="SK-9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1842046"/>
            <a:ext cx="304800" cy="247650"/>
          </a:xfrm>
          <a:prstGeom prst="rect">
            <a:avLst/>
          </a:prstGeom>
        </p:spPr>
      </p:pic>
      <p:pic>
        <p:nvPicPr>
          <p:cNvPr id="9" name="SK-9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2356396"/>
            <a:ext cx="304800" cy="247650"/>
          </a:xfrm>
          <a:prstGeom prst="rect">
            <a:avLst/>
          </a:prstGeom>
        </p:spPr>
      </p:pic>
      <p:pic>
        <p:nvPicPr>
          <p:cNvPr id="10" name="SK-9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2870746"/>
            <a:ext cx="304800" cy="247650"/>
          </a:xfrm>
          <a:prstGeom prst="rect">
            <a:avLst/>
          </a:prstGeom>
        </p:spPr>
      </p:pic>
      <p:pic>
        <p:nvPicPr>
          <p:cNvPr id="11" name="SK-9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3385096"/>
            <a:ext cx="304800" cy="247650"/>
          </a:xfrm>
          <a:prstGeom prst="rect">
            <a:avLst/>
          </a:prstGeom>
        </p:spPr>
      </p:pic>
      <p:pic>
        <p:nvPicPr>
          <p:cNvPr id="12" name="SK-9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2000" y="5848350"/>
            <a:ext cx="4394150" cy="514350"/>
          </a:xfrm>
          <a:prstGeom prst="rect">
            <a:avLst/>
          </a:prstGeom>
        </p:spPr>
      </p:pic>
      <p:pic>
        <p:nvPicPr>
          <p:cNvPr id="13" name="SK-9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51450" y="1127671"/>
            <a:ext cx="5969050" cy="3076575"/>
          </a:xfrm>
          <a:prstGeom prst="rect">
            <a:avLst/>
          </a:prstGeom>
        </p:spPr>
      </p:pic>
      <p:pic>
        <p:nvPicPr>
          <p:cNvPr id="14" name="SK-9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51450" y="1127671"/>
            <a:ext cx="5969050" cy="3076575"/>
          </a:xfrm>
          <a:prstGeom prst="rect">
            <a:avLst/>
          </a:prstGeom>
        </p:spPr>
      </p:pic>
      <p:pic>
        <p:nvPicPr>
          <p:cNvPr id="15" name="SK-9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51450" y="4356646"/>
            <a:ext cx="5969050" cy="2196554"/>
          </a:xfrm>
          <a:prstGeom prst="rect">
            <a:avLst/>
          </a:prstGeom>
        </p:spPr>
      </p:pic>
      <p:pic>
        <p:nvPicPr>
          <p:cNvPr id="16" name="SK-9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841950" y="4509046"/>
            <a:ext cx="5588050" cy="371475"/>
          </a:xfrm>
          <a:prstGeom prst="rect">
            <a:avLst/>
          </a:prstGeom>
        </p:spPr>
      </p:pic>
      <p:pic>
        <p:nvPicPr>
          <p:cNvPr id="17" name="SK-9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841950" y="4549973"/>
            <a:ext cx="214313" cy="175320"/>
          </a:xfrm>
          <a:prstGeom prst="rect">
            <a:avLst/>
          </a:prstGeom>
        </p:spPr>
      </p:pic>
      <p:pic>
        <p:nvPicPr>
          <p:cNvPr id="18" name="SK-9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841950" y="4975771"/>
            <a:ext cx="2736800" cy="390525"/>
          </a:xfrm>
          <a:prstGeom prst="rect">
            <a:avLst/>
          </a:prstGeom>
        </p:spPr>
      </p:pic>
      <p:pic>
        <p:nvPicPr>
          <p:cNvPr id="19" name="SK-9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956250" y="5094833"/>
            <a:ext cx="190500" cy="152400"/>
          </a:xfrm>
          <a:prstGeom prst="rect">
            <a:avLst/>
          </a:prstGeom>
        </p:spPr>
      </p:pic>
      <p:pic>
        <p:nvPicPr>
          <p:cNvPr id="20" name="SK-9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693051" y="4975771"/>
            <a:ext cx="2736949" cy="390525"/>
          </a:xfrm>
          <a:prstGeom prst="rect">
            <a:avLst/>
          </a:prstGeom>
        </p:spPr>
      </p:pic>
      <p:pic>
        <p:nvPicPr>
          <p:cNvPr id="21" name="SK-9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807351" y="5094833"/>
            <a:ext cx="190500" cy="152400"/>
          </a:xfrm>
          <a:prstGeom prst="rect">
            <a:avLst/>
          </a:prstGeom>
        </p:spPr>
      </p:pic>
      <p:pic>
        <p:nvPicPr>
          <p:cNvPr id="22" name="SK-9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841950" y="5461546"/>
            <a:ext cx="2736800" cy="390525"/>
          </a:xfrm>
          <a:prstGeom prst="rect">
            <a:avLst/>
          </a:prstGeom>
        </p:spPr>
      </p:pic>
      <p:pic>
        <p:nvPicPr>
          <p:cNvPr id="23" name="SK-9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956250" y="5580608"/>
            <a:ext cx="190500" cy="152400"/>
          </a:xfrm>
          <a:prstGeom prst="rect">
            <a:avLst/>
          </a:prstGeom>
        </p:spPr>
      </p:pic>
      <p:pic>
        <p:nvPicPr>
          <p:cNvPr id="24" name="SK-9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693051" y="5461546"/>
            <a:ext cx="2736949" cy="390525"/>
          </a:xfrm>
          <a:prstGeom prst="rect">
            <a:avLst/>
          </a:prstGeom>
        </p:spPr>
      </p:pic>
      <p:pic>
        <p:nvPicPr>
          <p:cNvPr id="25" name="SK-9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807351" y="5580608"/>
            <a:ext cx="190500" cy="152400"/>
          </a:xfrm>
          <a:prstGeom prst="rect">
            <a:avLst/>
          </a:prstGeom>
        </p:spPr>
      </p:pic>
      <p:pic>
        <p:nvPicPr>
          <p:cNvPr id="26" name="SK-9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841950" y="6060579"/>
            <a:ext cx="154781" cy="125760"/>
          </a:xfrm>
          <a:prstGeom prst="rect">
            <a:avLst/>
          </a:prstGeom>
        </p:spPr>
      </p:pic>
      <p:sp>
        <p:nvSpPr>
          <p:cNvPr id="27" name="SK-9-text-26"/>
          <p:cNvSpPr/>
          <p:nvPr/>
        </p:nvSpPr>
        <p:spPr>
          <a:xfrm>
            <a:off x="762000" y="304800"/>
            <a:ext cx="10934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spc="60" kern="0" dirty="0">
                <a:solidFill>
                  <a:srgbClr val="059669"/>
                </a:solidFill>
              </a:rPr>
              <a:t>DWWM 2026 // LYDIE MEUNIER</a:t>
            </a:r>
            <a:endParaRPr lang="en-US" sz="1050" dirty="0"/>
          </a:p>
        </p:txBody>
      </p:sp>
      <p:sp>
        <p:nvSpPr>
          <p:cNvPr id="28" name="SK-9-text-27"/>
          <p:cNvSpPr/>
          <p:nvPr/>
        </p:nvSpPr>
        <p:spPr>
          <a:xfrm>
            <a:off x="762000" y="581025"/>
            <a:ext cx="110109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Génération PDF Automatique</a:t>
            </a:r>
            <a:endParaRPr lang="en-US" sz="2400" dirty="0"/>
          </a:p>
        </p:txBody>
      </p:sp>
      <p:sp>
        <p:nvSpPr>
          <p:cNvPr id="29" name="SK-9-text-28"/>
          <p:cNvSpPr/>
          <p:nvPr/>
        </p:nvSpPr>
        <p:spPr>
          <a:xfrm>
            <a:off x="1090613" y="1318171"/>
            <a:ext cx="584644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Flux de production Puppeteer</a:t>
            </a:r>
            <a:endParaRPr lang="en-US" sz="1350" dirty="0"/>
          </a:p>
        </p:txBody>
      </p:sp>
      <p:sp>
        <p:nvSpPr>
          <p:cNvPr id="30" name="SK-9-text-29"/>
          <p:cNvSpPr/>
          <p:nvPr/>
        </p:nvSpPr>
        <p:spPr>
          <a:xfrm>
            <a:off x="723900" y="1842046"/>
            <a:ext cx="228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59669"/>
                </a:solidFill>
              </a:rPr>
              <a:t>01</a:t>
            </a:r>
            <a:endParaRPr lang="en-US" sz="900" dirty="0"/>
          </a:p>
        </p:txBody>
      </p:sp>
      <p:sp>
        <p:nvSpPr>
          <p:cNvPr id="31" name="SK-9-text-30"/>
          <p:cNvSpPr/>
          <p:nvPr/>
        </p:nvSpPr>
        <p:spPr>
          <a:xfrm>
            <a:off x="1181100" y="1842046"/>
            <a:ext cx="39750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Extraction SQL :</a:t>
            </a:r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Récupération des données structurées via </a:t>
            </a:r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Sequelize</a:t>
            </a:r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(Client, Devis, Factures).</a:t>
            </a:r>
            <a:endParaRPr lang="en-US" sz="1125" dirty="0"/>
          </a:p>
        </p:txBody>
      </p:sp>
      <p:sp>
        <p:nvSpPr>
          <p:cNvPr id="32" name="SK-9-text-31"/>
          <p:cNvSpPr/>
          <p:nvPr/>
        </p:nvSpPr>
        <p:spPr>
          <a:xfrm>
            <a:off x="723900" y="2356396"/>
            <a:ext cx="228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59669"/>
                </a:solidFill>
              </a:rPr>
              <a:t>02</a:t>
            </a:r>
            <a:endParaRPr lang="en-US" sz="900" dirty="0"/>
          </a:p>
        </p:txBody>
      </p:sp>
      <p:sp>
        <p:nvSpPr>
          <p:cNvPr id="33" name="SK-9-text-32"/>
          <p:cNvSpPr/>
          <p:nvPr/>
        </p:nvSpPr>
        <p:spPr>
          <a:xfrm>
            <a:off x="1181100" y="2356396"/>
            <a:ext cx="39750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Templating HTML :</a:t>
            </a:r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Injection dynamique des données dans des modèles HTML/CSS personnalisés.</a:t>
            </a:r>
            <a:endParaRPr lang="en-US" sz="1125" dirty="0"/>
          </a:p>
        </p:txBody>
      </p:sp>
      <p:sp>
        <p:nvSpPr>
          <p:cNvPr id="34" name="SK-9-text-33"/>
          <p:cNvSpPr/>
          <p:nvPr/>
        </p:nvSpPr>
        <p:spPr>
          <a:xfrm>
            <a:off x="723900" y="2870746"/>
            <a:ext cx="228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59669"/>
                </a:solidFill>
              </a:rPr>
              <a:t>03</a:t>
            </a:r>
            <a:endParaRPr lang="en-US" sz="900" dirty="0"/>
          </a:p>
        </p:txBody>
      </p:sp>
      <p:sp>
        <p:nvSpPr>
          <p:cNvPr id="35" name="SK-9-text-34"/>
          <p:cNvSpPr/>
          <p:nvPr/>
        </p:nvSpPr>
        <p:spPr>
          <a:xfrm>
            <a:off x="1181100" y="2870746"/>
            <a:ext cx="39750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Rendu Headless :</a:t>
            </a:r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Conversion du template en PDF via un navigateur Chrome contrôlé par </a:t>
            </a:r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Puppeteer</a:t>
            </a:r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25" dirty="0"/>
          </a:p>
        </p:txBody>
      </p:sp>
      <p:sp>
        <p:nvSpPr>
          <p:cNvPr id="36" name="SK-9-text-35"/>
          <p:cNvSpPr/>
          <p:nvPr/>
        </p:nvSpPr>
        <p:spPr>
          <a:xfrm>
            <a:off x="723900" y="3385096"/>
            <a:ext cx="228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59669"/>
                </a:solidFill>
              </a:rPr>
              <a:t>04</a:t>
            </a:r>
            <a:endParaRPr lang="en-US" sz="900" dirty="0"/>
          </a:p>
        </p:txBody>
      </p:sp>
      <p:sp>
        <p:nvSpPr>
          <p:cNvPr id="37" name="SK-9-text-36"/>
          <p:cNvSpPr/>
          <p:nvPr/>
        </p:nvSpPr>
        <p:spPr>
          <a:xfrm>
            <a:off x="1181100" y="3385096"/>
            <a:ext cx="39750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Flux Sortant :</a:t>
            </a:r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Envoi du fichier binaire au client pour téléchargement immédiat.</a:t>
            </a:r>
            <a:endParaRPr lang="en-US" sz="1125" dirty="0"/>
          </a:p>
        </p:txBody>
      </p:sp>
      <p:sp>
        <p:nvSpPr>
          <p:cNvPr id="38" name="SK-9-text-37"/>
          <p:cNvSpPr/>
          <p:nvPr/>
        </p:nvSpPr>
        <p:spPr>
          <a:xfrm>
            <a:off x="762000" y="5848350"/>
            <a:ext cx="43941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Garantit une présentation uniforme et professionnelle, remplaçant les documents Word/Excel manuels.</a:t>
            </a:r>
            <a:endParaRPr lang="en-US" sz="1050" dirty="0"/>
          </a:p>
        </p:txBody>
      </p:sp>
      <p:sp>
        <p:nvSpPr>
          <p:cNvPr id="39" name="SK-9-text-38"/>
          <p:cNvSpPr/>
          <p:nvPr/>
        </p:nvSpPr>
        <p:spPr>
          <a:xfrm>
            <a:off x="6170563" y="4509046"/>
            <a:ext cx="584644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Documents générés (API REST)</a:t>
            </a:r>
            <a:endParaRPr lang="en-US" sz="1350" dirty="0"/>
          </a:p>
        </p:txBody>
      </p:sp>
      <p:sp>
        <p:nvSpPr>
          <p:cNvPr id="40" name="SK-9-text-39"/>
          <p:cNvSpPr/>
          <p:nvPr/>
        </p:nvSpPr>
        <p:spPr>
          <a:xfrm>
            <a:off x="6261050" y="5071021"/>
            <a:ext cx="15163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Devis PDF</a:t>
            </a:r>
            <a:endParaRPr lang="en-US" sz="1050" dirty="0"/>
          </a:p>
        </p:txBody>
      </p:sp>
      <p:sp>
        <p:nvSpPr>
          <p:cNvPr id="41" name="SK-9-text-40"/>
          <p:cNvSpPr/>
          <p:nvPr/>
        </p:nvSpPr>
        <p:spPr>
          <a:xfrm>
            <a:off x="9112151" y="5071021"/>
            <a:ext cx="18364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Facture PDF</a:t>
            </a:r>
            <a:endParaRPr lang="en-US" sz="1050" dirty="0"/>
          </a:p>
        </p:txBody>
      </p:sp>
      <p:sp>
        <p:nvSpPr>
          <p:cNvPr id="42" name="SK-9-text-41"/>
          <p:cNvSpPr/>
          <p:nvPr/>
        </p:nvSpPr>
        <p:spPr>
          <a:xfrm>
            <a:off x="6261050" y="5556796"/>
            <a:ext cx="18364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Relance PDF</a:t>
            </a:r>
            <a:endParaRPr lang="en-US" sz="1050" dirty="0"/>
          </a:p>
        </p:txBody>
      </p:sp>
      <p:sp>
        <p:nvSpPr>
          <p:cNvPr id="43" name="SK-9-text-42"/>
          <p:cNvSpPr/>
          <p:nvPr/>
        </p:nvSpPr>
        <p:spPr>
          <a:xfrm>
            <a:off x="9112151" y="5556796"/>
            <a:ext cx="26365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Fiche Client PDF</a:t>
            </a:r>
            <a:endParaRPr lang="en-US" sz="1050" dirty="0"/>
          </a:p>
        </p:txBody>
      </p:sp>
      <p:sp>
        <p:nvSpPr>
          <p:cNvPr id="44" name="SK-9-text-43"/>
          <p:cNvSpPr/>
          <p:nvPr/>
        </p:nvSpPr>
        <p:spPr>
          <a:xfrm>
            <a:off x="6053882" y="6023521"/>
            <a:ext cx="613811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Inclusion automatique des mentions légales (Art. 293B CGI) et calculs de TVA.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0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0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0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11049000" cy="641896"/>
          </a:xfrm>
          <a:prstGeom prst="rect">
            <a:avLst/>
          </a:prstGeom>
        </p:spPr>
      </p:pic>
      <p:pic>
        <p:nvPicPr>
          <p:cNvPr id="5" name="SK-10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251496"/>
            <a:ext cx="5372100" cy="1239887"/>
          </a:xfrm>
          <a:prstGeom prst="rect">
            <a:avLst/>
          </a:prstGeom>
        </p:spPr>
      </p:pic>
      <p:pic>
        <p:nvPicPr>
          <p:cNvPr id="6" name="SK-10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" y="1403896"/>
            <a:ext cx="457200" cy="457200"/>
          </a:xfrm>
          <a:prstGeom prst="rect">
            <a:avLst/>
          </a:prstGeom>
        </p:spPr>
      </p:pic>
      <p:pic>
        <p:nvPicPr>
          <p:cNvPr id="7" name="SK-10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438" y="1537246"/>
            <a:ext cx="238125" cy="190500"/>
          </a:xfrm>
          <a:prstGeom prst="rect">
            <a:avLst/>
          </a:prstGeom>
        </p:spPr>
      </p:pic>
      <p:pic>
        <p:nvPicPr>
          <p:cNvPr id="8" name="SK-10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2643783"/>
            <a:ext cx="5372100" cy="1239887"/>
          </a:xfrm>
          <a:prstGeom prst="rect">
            <a:avLst/>
          </a:prstGeom>
        </p:spPr>
      </p:pic>
      <p:pic>
        <p:nvPicPr>
          <p:cNvPr id="9" name="SK-10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" y="2796183"/>
            <a:ext cx="457200" cy="457200"/>
          </a:xfrm>
          <a:prstGeom prst="rect">
            <a:avLst/>
          </a:prstGeom>
        </p:spPr>
      </p:pic>
      <p:pic>
        <p:nvPicPr>
          <p:cNvPr id="10" name="SK-10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3438" y="2929533"/>
            <a:ext cx="238125" cy="190500"/>
          </a:xfrm>
          <a:prstGeom prst="rect">
            <a:avLst/>
          </a:prstGeom>
        </p:spPr>
      </p:pic>
      <p:pic>
        <p:nvPicPr>
          <p:cNvPr id="11" name="SK-10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4036070"/>
            <a:ext cx="5372100" cy="1239887"/>
          </a:xfrm>
          <a:prstGeom prst="rect">
            <a:avLst/>
          </a:prstGeom>
        </p:spPr>
      </p:pic>
      <p:pic>
        <p:nvPicPr>
          <p:cNvPr id="12" name="SK-10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3900" y="4188470"/>
            <a:ext cx="457200" cy="457200"/>
          </a:xfrm>
          <a:prstGeom prst="rect">
            <a:avLst/>
          </a:prstGeom>
        </p:spPr>
      </p:pic>
      <p:pic>
        <p:nvPicPr>
          <p:cNvPr id="13" name="SK-10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3438" y="4321820"/>
            <a:ext cx="238125" cy="190500"/>
          </a:xfrm>
          <a:prstGeom prst="rect">
            <a:avLst/>
          </a:prstGeom>
        </p:spPr>
      </p:pic>
      <p:pic>
        <p:nvPicPr>
          <p:cNvPr id="14" name="SK-10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5428357"/>
            <a:ext cx="5372100" cy="1239887"/>
          </a:xfrm>
          <a:prstGeom prst="rect">
            <a:avLst/>
          </a:prstGeom>
        </p:spPr>
      </p:pic>
      <p:pic>
        <p:nvPicPr>
          <p:cNvPr id="15" name="SK-10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3900" y="5580757"/>
            <a:ext cx="457200" cy="457200"/>
          </a:xfrm>
          <a:prstGeom prst="rect">
            <a:avLst/>
          </a:prstGeom>
        </p:spPr>
      </p:pic>
      <p:pic>
        <p:nvPicPr>
          <p:cNvPr id="16" name="SK-10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3438" y="5714107"/>
            <a:ext cx="238125" cy="190500"/>
          </a:xfrm>
          <a:prstGeom prst="rect">
            <a:avLst/>
          </a:prstGeom>
        </p:spPr>
      </p:pic>
      <p:pic>
        <p:nvPicPr>
          <p:cNvPr id="17" name="SK-10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48400" y="1251496"/>
            <a:ext cx="5372100" cy="4000500"/>
          </a:xfrm>
          <a:prstGeom prst="rect">
            <a:avLst/>
          </a:prstGeom>
        </p:spPr>
      </p:pic>
      <p:pic>
        <p:nvPicPr>
          <p:cNvPr id="18" name="SK-10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48400" y="1251496"/>
            <a:ext cx="5372100" cy="4000500"/>
          </a:xfrm>
          <a:prstGeom prst="rect">
            <a:avLst/>
          </a:prstGeom>
        </p:spPr>
      </p:pic>
      <p:pic>
        <p:nvPicPr>
          <p:cNvPr id="19" name="SK-10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48400" y="5404396"/>
            <a:ext cx="5372100" cy="1263848"/>
          </a:xfrm>
          <a:prstGeom prst="rect">
            <a:avLst/>
          </a:prstGeom>
        </p:spPr>
      </p:pic>
      <p:pic>
        <p:nvPicPr>
          <p:cNvPr id="20" name="SK-10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00800" y="5588198"/>
            <a:ext cx="166688" cy="137220"/>
          </a:xfrm>
          <a:prstGeom prst="rect">
            <a:avLst/>
          </a:prstGeom>
        </p:spPr>
      </p:pic>
      <p:pic>
        <p:nvPicPr>
          <p:cNvPr id="21" name="SK-10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00800" y="6320582"/>
            <a:ext cx="885825" cy="195263"/>
          </a:xfrm>
          <a:prstGeom prst="rect">
            <a:avLst/>
          </a:prstGeom>
        </p:spPr>
      </p:pic>
      <p:pic>
        <p:nvPicPr>
          <p:cNvPr id="22" name="SK-10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362825" y="6320582"/>
            <a:ext cx="1419225" cy="195263"/>
          </a:xfrm>
          <a:prstGeom prst="rect">
            <a:avLst/>
          </a:prstGeom>
        </p:spPr>
      </p:pic>
      <p:pic>
        <p:nvPicPr>
          <p:cNvPr id="23" name="SK-10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858250" y="6320582"/>
            <a:ext cx="1152525" cy="195263"/>
          </a:xfrm>
          <a:prstGeom prst="rect">
            <a:avLst/>
          </a:prstGeom>
        </p:spPr>
      </p:pic>
      <p:pic>
        <p:nvPicPr>
          <p:cNvPr id="24" name="SK-10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086975" y="6320582"/>
            <a:ext cx="752475" cy="195263"/>
          </a:xfrm>
          <a:prstGeom prst="rect">
            <a:avLst/>
          </a:prstGeom>
        </p:spPr>
      </p:pic>
      <p:sp>
        <p:nvSpPr>
          <p:cNvPr id="25" name="SK-10-text-24"/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spc="60" kern="0" dirty="0">
                <a:solidFill>
                  <a:srgbClr val="059669"/>
                </a:solidFill>
              </a:rPr>
              <a:t>DWWM 2026 // LYDIE MEUNIER</a:t>
            </a:r>
            <a:endParaRPr lang="en-US" sz="1050" dirty="0"/>
          </a:p>
        </p:txBody>
      </p:sp>
      <p:sp>
        <p:nvSpPr>
          <p:cNvPr id="26" name="SK-10-text-25"/>
          <p:cNvSpPr/>
          <p:nvPr/>
        </p:nvSpPr>
        <p:spPr>
          <a:xfrm>
            <a:off x="762000" y="657225"/>
            <a:ext cx="110109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Sécurisation de l'Application</a:t>
            </a:r>
            <a:endParaRPr lang="en-US" sz="2400" dirty="0"/>
          </a:p>
        </p:txBody>
      </p:sp>
      <p:sp>
        <p:nvSpPr>
          <p:cNvPr id="27" name="SK-10-text-26"/>
          <p:cNvSpPr/>
          <p:nvPr/>
        </p:nvSpPr>
        <p:spPr>
          <a:xfrm>
            <a:off x="1333500" y="1403896"/>
            <a:ext cx="52292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Hachage des Mots de Passe</a:t>
            </a:r>
            <a:endParaRPr lang="en-US" sz="1350" dirty="0"/>
          </a:p>
        </p:txBody>
      </p:sp>
      <p:sp>
        <p:nvSpPr>
          <p:cNvPr id="28" name="SK-10-text-27"/>
          <p:cNvSpPr/>
          <p:nvPr/>
        </p:nvSpPr>
        <p:spPr>
          <a:xfrm>
            <a:off x="1333500" y="1699171"/>
            <a:ext cx="445770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Utilisation de la bibliothèque </a:t>
            </a:r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0F172A"/>
                </a:solidFill>
              </a:rPr>
              <a:t>bcrypt</a:t>
            </a:r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avec grain de sel automatique. Aucun stockage en clair pour garantir l'intégrité des comptes.</a:t>
            </a:r>
            <a:endParaRPr lang="en-US" sz="1125" dirty="0"/>
          </a:p>
        </p:txBody>
      </p:sp>
      <p:sp>
        <p:nvSpPr>
          <p:cNvPr id="29" name="SK-10-text-28"/>
          <p:cNvSpPr/>
          <p:nvPr/>
        </p:nvSpPr>
        <p:spPr>
          <a:xfrm>
            <a:off x="1333500" y="2796183"/>
            <a:ext cx="45434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Gestion des Sessions</a:t>
            </a:r>
            <a:endParaRPr lang="en-US" sz="1350" dirty="0"/>
          </a:p>
        </p:txBody>
      </p:sp>
      <p:sp>
        <p:nvSpPr>
          <p:cNvPr id="30" name="SK-10-text-29"/>
          <p:cNvSpPr/>
          <p:nvPr/>
        </p:nvSpPr>
        <p:spPr>
          <a:xfrm>
            <a:off x="1333500" y="3091458"/>
            <a:ext cx="445770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Mise en œuvre d'</a:t>
            </a:r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0F172A"/>
                </a:solidFill>
              </a:rPr>
              <a:t>Express-session</a:t>
            </a:r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pour maintenir l'état côté serveur. Destruction complète de la session lors de la déconnexion.</a:t>
            </a:r>
            <a:endParaRPr lang="en-US" sz="1125" dirty="0"/>
          </a:p>
        </p:txBody>
      </p:sp>
      <p:sp>
        <p:nvSpPr>
          <p:cNvPr id="31" name="SK-10-text-30"/>
          <p:cNvSpPr/>
          <p:nvPr/>
        </p:nvSpPr>
        <p:spPr>
          <a:xfrm>
            <a:off x="1333500" y="4188470"/>
            <a:ext cx="45434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Protection des Routes</a:t>
            </a:r>
            <a:endParaRPr lang="en-US" sz="1350" dirty="0"/>
          </a:p>
        </p:txBody>
      </p:sp>
      <p:sp>
        <p:nvSpPr>
          <p:cNvPr id="32" name="SK-10-text-31"/>
          <p:cNvSpPr/>
          <p:nvPr/>
        </p:nvSpPr>
        <p:spPr>
          <a:xfrm>
            <a:off x="1333500" y="4483745"/>
            <a:ext cx="445770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Middlewares d'authentification systématiques sur les routes sensibles (Devis, Factures, PDF) pour restreindre l'accès aux utilisateurs connectés.</a:t>
            </a:r>
            <a:endParaRPr lang="en-US" sz="1125" dirty="0"/>
          </a:p>
        </p:txBody>
      </p:sp>
      <p:sp>
        <p:nvSpPr>
          <p:cNvPr id="33" name="SK-10-text-32"/>
          <p:cNvSpPr/>
          <p:nvPr/>
        </p:nvSpPr>
        <p:spPr>
          <a:xfrm>
            <a:off x="1333500" y="5580757"/>
            <a:ext cx="461200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Intégrité &amp; Validation</a:t>
            </a:r>
            <a:endParaRPr lang="en-US" sz="1350" dirty="0"/>
          </a:p>
        </p:txBody>
      </p:sp>
      <p:sp>
        <p:nvSpPr>
          <p:cNvPr id="34" name="SK-10-text-33"/>
          <p:cNvSpPr/>
          <p:nvPr/>
        </p:nvSpPr>
        <p:spPr>
          <a:xfrm>
            <a:off x="1333500" y="5876032"/>
            <a:ext cx="44577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Requêtes paramétrées via l'ORM </a:t>
            </a:r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0F172A"/>
                </a:solidFill>
              </a:rPr>
              <a:t>Sequelize</a:t>
            </a:r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contre les injections SQL et validation rigoureuse des entrées côté serveur.</a:t>
            </a:r>
            <a:endParaRPr lang="en-US" sz="1125" dirty="0"/>
          </a:p>
        </p:txBody>
      </p:sp>
      <p:sp>
        <p:nvSpPr>
          <p:cNvPr id="35" name="SK-10-text-34"/>
          <p:cNvSpPr/>
          <p:nvPr/>
        </p:nvSpPr>
        <p:spPr>
          <a:xfrm>
            <a:off x="6643688" y="5556796"/>
            <a:ext cx="50673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30" kern="0" dirty="0">
                <a:solidFill>
                  <a:srgbClr val="0EA5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VEILLE &amp; RÉFÉRENCES SÉCURITÉ</a:t>
            </a:r>
            <a:endParaRPr lang="en-US" sz="1050" dirty="0"/>
          </a:p>
        </p:txBody>
      </p:sp>
      <p:sp>
        <p:nvSpPr>
          <p:cNvPr id="36" name="SK-10-text-35"/>
          <p:cNvSpPr/>
          <p:nvPr/>
        </p:nvSpPr>
        <p:spPr>
          <a:xfrm>
            <a:off x="6400800" y="5833021"/>
            <a:ext cx="506730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basée sur les recommandations </a:t>
            </a:r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OWASP</a:t>
            </a:r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et les meilleures pratiques de l'écosystème Node.js/Express.</a:t>
            </a:r>
            <a:endParaRPr lang="en-US" sz="1050" dirty="0"/>
          </a:p>
        </p:txBody>
      </p:sp>
      <p:sp>
        <p:nvSpPr>
          <p:cNvPr id="37" name="SK-10-text-36"/>
          <p:cNvSpPr/>
          <p:nvPr/>
        </p:nvSpPr>
        <p:spPr>
          <a:xfrm>
            <a:off x="6477000" y="6320582"/>
            <a:ext cx="1221289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0EA5E9"/>
                </a:solidFill>
              </a:rPr>
              <a:t>Salted Hash</a:t>
            </a:r>
            <a:endParaRPr lang="en-US" sz="825" dirty="0"/>
          </a:p>
        </p:txBody>
      </p:sp>
      <p:sp>
        <p:nvSpPr>
          <p:cNvPr id="38" name="SK-10-text-37"/>
          <p:cNvSpPr/>
          <p:nvPr/>
        </p:nvSpPr>
        <p:spPr>
          <a:xfrm>
            <a:off x="7439025" y="6320582"/>
            <a:ext cx="2208547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0EA5E9"/>
                </a:solidFill>
              </a:rPr>
              <a:t>SQL Injection Proof</a:t>
            </a:r>
            <a:endParaRPr lang="en-US" sz="825" dirty="0"/>
          </a:p>
        </p:txBody>
      </p:sp>
      <p:sp>
        <p:nvSpPr>
          <p:cNvPr id="39" name="SK-10-text-38"/>
          <p:cNvSpPr/>
          <p:nvPr/>
        </p:nvSpPr>
        <p:spPr>
          <a:xfrm>
            <a:off x="8934450" y="6320582"/>
            <a:ext cx="1712768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0EA5E9"/>
                </a:solidFill>
              </a:rPr>
              <a:t>Auth Middleware</a:t>
            </a:r>
            <a:endParaRPr lang="en-US" sz="825" dirty="0"/>
          </a:p>
        </p:txBody>
      </p:sp>
      <p:sp>
        <p:nvSpPr>
          <p:cNvPr id="40" name="SK-10-text-39"/>
          <p:cNvSpPr/>
          <p:nvPr/>
        </p:nvSpPr>
        <p:spPr>
          <a:xfrm>
            <a:off x="10163175" y="6320582"/>
            <a:ext cx="978591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0EA5E9"/>
                </a:solidFill>
              </a:rPr>
              <a:t>HTTPS/SSL</a:t>
            </a:r>
            <a:endParaRPr lang="en-US" sz="8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1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1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1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11049000" cy="641896"/>
          </a:xfrm>
          <a:prstGeom prst="rect">
            <a:avLst/>
          </a:prstGeom>
        </p:spPr>
      </p:pic>
      <p:pic>
        <p:nvPicPr>
          <p:cNvPr id="5" name="SK-11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251496"/>
            <a:ext cx="11049000" cy="3091904"/>
          </a:xfrm>
          <a:prstGeom prst="rect">
            <a:avLst/>
          </a:prstGeom>
        </p:spPr>
      </p:pic>
      <p:pic>
        <p:nvPicPr>
          <p:cNvPr id="6" name="SK-11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251496"/>
            <a:ext cx="11049000" cy="504825"/>
          </a:xfrm>
          <a:prstGeom prst="rect">
            <a:avLst/>
          </a:prstGeom>
        </p:spPr>
      </p:pic>
      <p:pic>
        <p:nvPicPr>
          <p:cNvPr id="7" name="SK-11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756321"/>
            <a:ext cx="2762250" cy="751284"/>
          </a:xfrm>
          <a:prstGeom prst="rect">
            <a:avLst/>
          </a:prstGeom>
        </p:spPr>
      </p:pic>
      <p:pic>
        <p:nvPicPr>
          <p:cNvPr id="8" name="SK-11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6997" y="2056507"/>
            <a:ext cx="202406" cy="163711"/>
          </a:xfrm>
          <a:prstGeom prst="rect">
            <a:avLst/>
          </a:prstGeom>
        </p:spPr>
      </p:pic>
      <p:pic>
        <p:nvPicPr>
          <p:cNvPr id="9" name="SK-11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33750" y="1756321"/>
            <a:ext cx="3314700" cy="751284"/>
          </a:xfrm>
          <a:prstGeom prst="rect">
            <a:avLst/>
          </a:prstGeom>
        </p:spPr>
      </p:pic>
      <p:pic>
        <p:nvPicPr>
          <p:cNvPr id="10" name="SK-11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48450" y="1756321"/>
            <a:ext cx="4972050" cy="751284"/>
          </a:xfrm>
          <a:prstGeom prst="rect">
            <a:avLst/>
          </a:prstGeom>
        </p:spPr>
      </p:pic>
      <p:pic>
        <p:nvPicPr>
          <p:cNvPr id="11" name="SK-11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2507605"/>
            <a:ext cx="2762250" cy="751284"/>
          </a:xfrm>
          <a:prstGeom prst="rect">
            <a:avLst/>
          </a:prstGeom>
        </p:spPr>
      </p:pic>
      <p:pic>
        <p:nvPicPr>
          <p:cNvPr id="12" name="SK-11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6997" y="2807791"/>
            <a:ext cx="202406" cy="163711"/>
          </a:xfrm>
          <a:prstGeom prst="rect">
            <a:avLst/>
          </a:prstGeom>
        </p:spPr>
      </p:pic>
      <p:pic>
        <p:nvPicPr>
          <p:cNvPr id="13" name="SK-11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3750" y="2507605"/>
            <a:ext cx="3314700" cy="751284"/>
          </a:xfrm>
          <a:prstGeom prst="rect">
            <a:avLst/>
          </a:prstGeom>
        </p:spPr>
      </p:pic>
      <p:pic>
        <p:nvPicPr>
          <p:cNvPr id="14" name="SK-11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48450" y="2507605"/>
            <a:ext cx="4972050" cy="751284"/>
          </a:xfrm>
          <a:prstGeom prst="rect">
            <a:avLst/>
          </a:prstGeom>
        </p:spPr>
      </p:pic>
      <p:pic>
        <p:nvPicPr>
          <p:cNvPr id="15" name="SK-11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6997" y="3725614"/>
            <a:ext cx="202406" cy="163711"/>
          </a:xfrm>
          <a:prstGeom prst="rect">
            <a:avLst/>
          </a:prstGeom>
        </p:spPr>
      </p:pic>
      <p:pic>
        <p:nvPicPr>
          <p:cNvPr id="16" name="SK-11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00850" y="3829645"/>
            <a:ext cx="419100" cy="190500"/>
          </a:xfrm>
          <a:prstGeom prst="rect">
            <a:avLst/>
          </a:prstGeom>
        </p:spPr>
      </p:pic>
      <p:pic>
        <p:nvPicPr>
          <p:cNvPr id="17" name="SK-11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1500" y="4572000"/>
            <a:ext cx="5410200" cy="1905000"/>
          </a:xfrm>
          <a:prstGeom prst="rect">
            <a:avLst/>
          </a:prstGeom>
        </p:spPr>
      </p:pic>
      <p:pic>
        <p:nvPicPr>
          <p:cNvPr id="18" name="SK-11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2000" y="4762500"/>
            <a:ext cx="2328863" cy="333375"/>
          </a:xfrm>
          <a:prstGeom prst="rect">
            <a:avLst/>
          </a:prstGeom>
        </p:spPr>
      </p:pic>
      <p:pic>
        <p:nvPicPr>
          <p:cNvPr id="19" name="SK-11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62000" y="4803428"/>
            <a:ext cx="214313" cy="175320"/>
          </a:xfrm>
          <a:prstGeom prst="rect">
            <a:avLst/>
          </a:prstGeom>
        </p:spPr>
      </p:pic>
      <p:pic>
        <p:nvPicPr>
          <p:cNvPr id="20" name="SK-11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62000" y="5210175"/>
            <a:ext cx="178594" cy="208359"/>
          </a:xfrm>
          <a:prstGeom prst="rect">
            <a:avLst/>
          </a:prstGeom>
        </p:spPr>
      </p:pic>
      <p:pic>
        <p:nvPicPr>
          <p:cNvPr id="21" name="SK-11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62000" y="5686425"/>
            <a:ext cx="178594" cy="156270"/>
          </a:xfrm>
          <a:prstGeom prst="rect">
            <a:avLst/>
          </a:prstGeom>
        </p:spPr>
      </p:pic>
      <p:pic>
        <p:nvPicPr>
          <p:cNvPr id="22" name="SK-11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62000" y="6162675"/>
            <a:ext cx="178594" cy="156270"/>
          </a:xfrm>
          <a:prstGeom prst="rect">
            <a:avLst/>
          </a:prstGeom>
        </p:spPr>
      </p:pic>
      <p:pic>
        <p:nvPicPr>
          <p:cNvPr id="23" name="SK-11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721644" y="6172200"/>
            <a:ext cx="876300" cy="190500"/>
          </a:xfrm>
          <a:prstGeom prst="rect">
            <a:avLst/>
          </a:prstGeom>
        </p:spPr>
      </p:pic>
      <p:pic>
        <p:nvPicPr>
          <p:cNvPr id="24" name="SK-11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210300" y="4572000"/>
            <a:ext cx="5410200" cy="1905000"/>
          </a:xfrm>
          <a:prstGeom prst="rect">
            <a:avLst/>
          </a:prstGeom>
        </p:spPr>
      </p:pic>
      <p:pic>
        <p:nvPicPr>
          <p:cNvPr id="25" name="SK-11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00800" y="4762500"/>
            <a:ext cx="2157413" cy="333375"/>
          </a:xfrm>
          <a:prstGeom prst="rect">
            <a:avLst/>
          </a:prstGeom>
        </p:spPr>
      </p:pic>
      <p:pic>
        <p:nvPicPr>
          <p:cNvPr id="26" name="SK-11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00800" y="4803428"/>
            <a:ext cx="214313" cy="175320"/>
          </a:xfrm>
          <a:prstGeom prst="rect">
            <a:avLst/>
          </a:prstGeom>
        </p:spPr>
      </p:pic>
      <p:pic>
        <p:nvPicPr>
          <p:cNvPr id="27" name="SK-11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400800" y="5210175"/>
            <a:ext cx="178594" cy="178594"/>
          </a:xfrm>
          <a:prstGeom prst="rect">
            <a:avLst/>
          </a:prstGeom>
        </p:spPr>
      </p:pic>
      <p:pic>
        <p:nvPicPr>
          <p:cNvPr id="28" name="SK-11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400800" y="5686425"/>
            <a:ext cx="178594" cy="192286"/>
          </a:xfrm>
          <a:prstGeom prst="rect">
            <a:avLst/>
          </a:prstGeom>
        </p:spPr>
      </p:pic>
      <p:pic>
        <p:nvPicPr>
          <p:cNvPr id="29" name="SK-11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400800" y="6162675"/>
            <a:ext cx="178594" cy="166688"/>
          </a:xfrm>
          <a:prstGeom prst="rect">
            <a:avLst/>
          </a:prstGeom>
        </p:spPr>
      </p:pic>
      <p:sp>
        <p:nvSpPr>
          <p:cNvPr id="30" name="SK-11-text-29"/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spc="60" kern="0" dirty="0">
                <a:solidFill>
                  <a:srgbClr val="059669"/>
                </a:solidFill>
              </a:rPr>
              <a:t>DWWM 2026 // LYDIE MEUNIER</a:t>
            </a:r>
            <a:endParaRPr lang="en-US" sz="1050" dirty="0"/>
          </a:p>
        </p:txBody>
      </p:sp>
      <p:sp>
        <p:nvSpPr>
          <p:cNvPr id="31" name="SK-11-text-30"/>
          <p:cNvSpPr/>
          <p:nvPr/>
        </p:nvSpPr>
        <p:spPr>
          <a:xfrm>
            <a:off x="762000" y="657225"/>
            <a:ext cx="110109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Déploiement en Production</a:t>
            </a:r>
            <a:endParaRPr lang="en-US" sz="2400" dirty="0"/>
          </a:p>
        </p:txBody>
      </p:sp>
      <p:sp>
        <p:nvSpPr>
          <p:cNvPr id="32" name="SK-11-text-31"/>
          <p:cNvSpPr/>
          <p:nvPr/>
        </p:nvSpPr>
        <p:spPr>
          <a:xfrm>
            <a:off x="723900" y="1251496"/>
            <a:ext cx="253365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spc="30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CLOUD</a:t>
            </a:r>
            <a:endParaRPr lang="en-US" sz="1050" dirty="0"/>
          </a:p>
        </p:txBody>
      </p:sp>
      <p:sp>
        <p:nvSpPr>
          <p:cNvPr id="33" name="SK-11-text-32"/>
          <p:cNvSpPr/>
          <p:nvPr/>
        </p:nvSpPr>
        <p:spPr>
          <a:xfrm>
            <a:off x="3486150" y="1251496"/>
            <a:ext cx="308610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spc="30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RÔLE INFRASTRUCTURE</a:t>
            </a:r>
            <a:endParaRPr lang="en-US" sz="1050" dirty="0"/>
          </a:p>
        </p:txBody>
      </p:sp>
      <p:sp>
        <p:nvSpPr>
          <p:cNvPr id="34" name="SK-11-text-33"/>
          <p:cNvSpPr/>
          <p:nvPr/>
        </p:nvSpPr>
        <p:spPr>
          <a:xfrm>
            <a:off x="6800850" y="1251496"/>
            <a:ext cx="474345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spc="30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DÉTAILS &amp; CONNECTIVITÉ</a:t>
            </a:r>
            <a:endParaRPr lang="en-US" sz="1050" dirty="0"/>
          </a:p>
        </p:txBody>
      </p:sp>
      <p:sp>
        <p:nvSpPr>
          <p:cNvPr id="35" name="SK-11-text-34"/>
          <p:cNvSpPr/>
          <p:nvPr/>
        </p:nvSpPr>
        <p:spPr>
          <a:xfrm>
            <a:off x="1028700" y="2010519"/>
            <a:ext cx="116586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Render</a:t>
            </a:r>
            <a:endParaRPr lang="en-US" sz="1275" dirty="0"/>
          </a:p>
        </p:txBody>
      </p:sp>
      <p:sp>
        <p:nvSpPr>
          <p:cNvPr id="36" name="SK-11-text-35"/>
          <p:cNvSpPr/>
          <p:nvPr/>
        </p:nvSpPr>
        <p:spPr>
          <a:xfrm>
            <a:off x="3486150" y="1756321"/>
            <a:ext cx="5374235" cy="75128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Hébergement du serveur Node.js</a:t>
            </a:r>
            <a:endParaRPr lang="en-US" sz="1275" dirty="0"/>
          </a:p>
        </p:txBody>
      </p:sp>
      <p:sp>
        <p:nvSpPr>
          <p:cNvPr id="37" name="SK-11-text-36"/>
          <p:cNvSpPr/>
          <p:nvPr/>
        </p:nvSpPr>
        <p:spPr>
          <a:xfrm>
            <a:off x="6800850" y="2048619"/>
            <a:ext cx="53911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EA5E9"/>
                </a:solidFill>
              </a:rPr>
              <a:t>https://fmabattage-management-app-1.onrender.com</a:t>
            </a:r>
            <a:endParaRPr lang="en-US" sz="1050" dirty="0"/>
          </a:p>
        </p:txBody>
      </p:sp>
      <p:sp>
        <p:nvSpPr>
          <p:cNvPr id="38" name="SK-11-text-37"/>
          <p:cNvSpPr/>
          <p:nvPr/>
        </p:nvSpPr>
        <p:spPr>
          <a:xfrm>
            <a:off x="1028700" y="2761804"/>
            <a:ext cx="97155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Aiven</a:t>
            </a:r>
            <a:endParaRPr lang="en-US" sz="1275" dirty="0"/>
          </a:p>
        </p:txBody>
      </p:sp>
      <p:sp>
        <p:nvSpPr>
          <p:cNvPr id="39" name="SK-11-text-38"/>
          <p:cNvSpPr/>
          <p:nvPr/>
        </p:nvSpPr>
        <p:spPr>
          <a:xfrm>
            <a:off x="3486150" y="2507605"/>
            <a:ext cx="4844908" cy="75128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de données MySQL Cloud</a:t>
            </a:r>
            <a:endParaRPr lang="en-US" sz="1275" dirty="0"/>
          </a:p>
        </p:txBody>
      </p:sp>
      <p:sp>
        <p:nvSpPr>
          <p:cNvPr id="40" name="SK-11-text-39"/>
          <p:cNvSpPr/>
          <p:nvPr/>
        </p:nvSpPr>
        <p:spPr>
          <a:xfrm>
            <a:off x="6800850" y="2507605"/>
            <a:ext cx="5391150" cy="75128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Connexion sécurisée via SSL configurée (Aiven CA Cert)</a:t>
            </a:r>
            <a:endParaRPr lang="en-US" sz="1275" dirty="0"/>
          </a:p>
        </p:txBody>
      </p:sp>
      <p:sp>
        <p:nvSpPr>
          <p:cNvPr id="41" name="SK-11-text-40"/>
          <p:cNvSpPr/>
          <p:nvPr/>
        </p:nvSpPr>
        <p:spPr>
          <a:xfrm>
            <a:off x="1028700" y="3679627"/>
            <a:ext cx="116586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</a:t>
            </a:r>
            <a:endParaRPr lang="en-US" sz="1275" dirty="0"/>
          </a:p>
        </p:txBody>
      </p:sp>
      <p:sp>
        <p:nvSpPr>
          <p:cNvPr id="42" name="SK-11-text-41"/>
          <p:cNvSpPr/>
          <p:nvPr/>
        </p:nvSpPr>
        <p:spPr>
          <a:xfrm>
            <a:off x="3486150" y="3258889"/>
            <a:ext cx="3962696" cy="108451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Versionnement et CI/CD</a:t>
            </a:r>
            <a:endParaRPr lang="en-US" sz="1275" dirty="0"/>
          </a:p>
        </p:txBody>
      </p:sp>
      <p:sp>
        <p:nvSpPr>
          <p:cNvPr id="43" name="SK-11-text-42"/>
          <p:cNvSpPr/>
          <p:nvPr/>
        </p:nvSpPr>
        <p:spPr>
          <a:xfrm>
            <a:off x="6800850" y="3258889"/>
            <a:ext cx="4667250" cy="108451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Déploiement automatique à chaque push sur la branche </a:t>
            </a:r>
            <a:endParaRPr lang="en-US" sz="1275" dirty="0"/>
          </a:p>
        </p:txBody>
      </p:sp>
      <p:sp>
        <p:nvSpPr>
          <p:cNvPr id="44" name="SK-11-text-43"/>
          <p:cNvSpPr/>
          <p:nvPr/>
        </p:nvSpPr>
        <p:spPr>
          <a:xfrm>
            <a:off x="1071563" y="4762500"/>
            <a:ext cx="493776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Configuration &amp; Sécurité</a:t>
            </a:r>
            <a:endParaRPr lang="en-US" sz="1350" dirty="0"/>
          </a:p>
        </p:txBody>
      </p:sp>
      <p:sp>
        <p:nvSpPr>
          <p:cNvPr id="45" name="SK-11-text-44"/>
          <p:cNvSpPr/>
          <p:nvPr/>
        </p:nvSpPr>
        <p:spPr>
          <a:xfrm>
            <a:off x="1035844" y="5210175"/>
            <a:ext cx="475535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Variables d'environnement sécurisées (SSL, DB_HOST, DB_USER, DB_PWD) hors code source.</a:t>
            </a:r>
            <a:endParaRPr lang="en-US" sz="1125" dirty="0"/>
          </a:p>
        </p:txBody>
      </p:sp>
      <p:sp>
        <p:nvSpPr>
          <p:cNvPr id="46" name="SK-11-text-45"/>
          <p:cNvSpPr/>
          <p:nvPr/>
        </p:nvSpPr>
        <p:spPr>
          <a:xfrm>
            <a:off x="1035844" y="5686425"/>
            <a:ext cx="475535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SSL obligatoire pour la communication entre le serveur Render et la base Aiven.</a:t>
            </a:r>
            <a:endParaRPr lang="en-US" sz="1125" dirty="0"/>
          </a:p>
        </p:txBody>
      </p:sp>
      <p:sp>
        <p:nvSpPr>
          <p:cNvPr id="47" name="SK-11-text-46"/>
          <p:cNvSpPr/>
          <p:nvPr/>
        </p:nvSpPr>
        <p:spPr>
          <a:xfrm>
            <a:off x="1035844" y="6162675"/>
            <a:ext cx="475535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Usage de </a:t>
            </a:r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pour protéger les données sensibles et certificats.</a:t>
            </a:r>
            <a:endParaRPr lang="en-US" sz="1125" dirty="0"/>
          </a:p>
        </p:txBody>
      </p:sp>
      <p:sp>
        <p:nvSpPr>
          <p:cNvPr id="48" name="SK-11-text-47"/>
          <p:cNvSpPr/>
          <p:nvPr/>
        </p:nvSpPr>
        <p:spPr>
          <a:xfrm>
            <a:off x="6710363" y="4762500"/>
            <a:ext cx="473202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Flux de Travail (CI/CD)</a:t>
            </a:r>
            <a:endParaRPr lang="en-US" sz="1350" dirty="0"/>
          </a:p>
        </p:txBody>
      </p:sp>
      <p:sp>
        <p:nvSpPr>
          <p:cNvPr id="49" name="SK-11-text-48"/>
          <p:cNvSpPr/>
          <p:nvPr/>
        </p:nvSpPr>
        <p:spPr>
          <a:xfrm>
            <a:off x="6674644" y="5210175"/>
            <a:ext cx="475535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Gestion multi-branches : 116 commits totalisant le cycle de développement complet.</a:t>
            </a:r>
            <a:endParaRPr lang="en-US" sz="1125" dirty="0"/>
          </a:p>
        </p:txBody>
      </p:sp>
      <p:sp>
        <p:nvSpPr>
          <p:cNvPr id="50" name="SK-11-text-49"/>
          <p:cNvSpPr/>
          <p:nvPr/>
        </p:nvSpPr>
        <p:spPr>
          <a:xfrm>
            <a:off x="6674644" y="5686425"/>
            <a:ext cx="475535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Render : build, migration Sequelize et redémarrage automatique en production.</a:t>
            </a:r>
            <a:endParaRPr lang="en-US" sz="1125" dirty="0"/>
          </a:p>
        </p:txBody>
      </p:sp>
      <p:sp>
        <p:nvSpPr>
          <p:cNvPr id="51" name="SK-11-text-50"/>
          <p:cNvSpPr/>
          <p:nvPr/>
        </p:nvSpPr>
        <p:spPr>
          <a:xfrm>
            <a:off x="6674644" y="6162675"/>
            <a:ext cx="475535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Monitoring en temps réel des logs via le dashboard Render pour le débogage.</a:t>
            </a:r>
            <a:endParaRPr lang="en-US" sz="11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2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2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2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11049000" cy="641896"/>
          </a:xfrm>
          <a:prstGeom prst="rect">
            <a:avLst/>
          </a:prstGeom>
        </p:spPr>
      </p:pic>
      <p:pic>
        <p:nvPicPr>
          <p:cNvPr id="5" name="SK-12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251496"/>
            <a:ext cx="2647950" cy="1872407"/>
          </a:xfrm>
          <a:prstGeom prst="rect">
            <a:avLst/>
          </a:prstGeom>
        </p:spPr>
      </p:pic>
      <p:pic>
        <p:nvPicPr>
          <p:cNvPr id="6" name="SK-12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" y="1403896"/>
            <a:ext cx="342900" cy="342900"/>
          </a:xfrm>
          <a:prstGeom prst="rect">
            <a:avLst/>
          </a:prstGeom>
        </p:spPr>
      </p:pic>
      <p:pic>
        <p:nvPicPr>
          <p:cNvPr id="7" name="SK-12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8194" y="1487686"/>
            <a:ext cx="214313" cy="175320"/>
          </a:xfrm>
          <a:prstGeom prst="rect">
            <a:avLst/>
          </a:prstGeom>
        </p:spPr>
      </p:pic>
      <p:pic>
        <p:nvPicPr>
          <p:cNvPr id="8" name="SK-12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71850" y="1251496"/>
            <a:ext cx="2647950" cy="1872407"/>
          </a:xfrm>
          <a:prstGeom prst="rect">
            <a:avLst/>
          </a:prstGeom>
        </p:spPr>
      </p:pic>
      <p:pic>
        <p:nvPicPr>
          <p:cNvPr id="9" name="SK-12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24250" y="1403896"/>
            <a:ext cx="342900" cy="342900"/>
          </a:xfrm>
          <a:prstGeom prst="rect">
            <a:avLst/>
          </a:prstGeom>
        </p:spPr>
      </p:pic>
      <p:pic>
        <p:nvPicPr>
          <p:cNvPr id="10" name="SK-12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88544" y="1487686"/>
            <a:ext cx="214313" cy="175320"/>
          </a:xfrm>
          <a:prstGeom prst="rect">
            <a:avLst/>
          </a:prstGeom>
        </p:spPr>
      </p:pic>
      <p:pic>
        <p:nvPicPr>
          <p:cNvPr id="11" name="SK-12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72200" y="1251496"/>
            <a:ext cx="2647950" cy="1872407"/>
          </a:xfrm>
          <a:prstGeom prst="rect">
            <a:avLst/>
          </a:prstGeom>
        </p:spPr>
      </p:pic>
      <p:pic>
        <p:nvPicPr>
          <p:cNvPr id="12" name="SK-12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24600" y="1403896"/>
            <a:ext cx="342900" cy="342900"/>
          </a:xfrm>
          <a:prstGeom prst="rect">
            <a:avLst/>
          </a:prstGeom>
        </p:spPr>
      </p:pic>
      <p:pic>
        <p:nvPicPr>
          <p:cNvPr id="13" name="SK-12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88894" y="1487686"/>
            <a:ext cx="214313" cy="175320"/>
          </a:xfrm>
          <a:prstGeom prst="rect">
            <a:avLst/>
          </a:prstGeom>
        </p:spPr>
      </p:pic>
      <p:pic>
        <p:nvPicPr>
          <p:cNvPr id="14" name="SK-12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72550" y="1251496"/>
            <a:ext cx="2647950" cy="1872407"/>
          </a:xfrm>
          <a:prstGeom prst="rect">
            <a:avLst/>
          </a:prstGeom>
        </p:spPr>
      </p:pic>
      <p:pic>
        <p:nvPicPr>
          <p:cNvPr id="15" name="SK-12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24950" y="1403896"/>
            <a:ext cx="342900" cy="342900"/>
          </a:xfrm>
          <a:prstGeom prst="rect">
            <a:avLst/>
          </a:prstGeom>
        </p:spPr>
      </p:pic>
      <p:pic>
        <p:nvPicPr>
          <p:cNvPr id="16" name="SK-12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89244" y="1487686"/>
            <a:ext cx="214313" cy="175320"/>
          </a:xfrm>
          <a:prstGeom prst="rect">
            <a:avLst/>
          </a:prstGeom>
        </p:spPr>
      </p:pic>
      <p:pic>
        <p:nvPicPr>
          <p:cNvPr id="17" name="SK-12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24950" y="2723852"/>
            <a:ext cx="2343150" cy="247650"/>
          </a:xfrm>
          <a:prstGeom prst="rect">
            <a:avLst/>
          </a:prstGeom>
        </p:spPr>
      </p:pic>
      <p:pic>
        <p:nvPicPr>
          <p:cNvPr id="18" name="SK-12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1500" y="3352502"/>
            <a:ext cx="6515100" cy="1962150"/>
          </a:xfrm>
          <a:prstGeom prst="rect">
            <a:avLst/>
          </a:prstGeom>
        </p:spPr>
      </p:pic>
      <p:pic>
        <p:nvPicPr>
          <p:cNvPr id="19" name="SK-12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62000" y="3590627"/>
            <a:ext cx="238125" cy="190500"/>
          </a:xfrm>
          <a:prstGeom prst="rect">
            <a:avLst/>
          </a:prstGeom>
        </p:spPr>
      </p:pic>
      <p:pic>
        <p:nvPicPr>
          <p:cNvPr id="20" name="SK-12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62000" y="3981152"/>
            <a:ext cx="3009900" cy="404813"/>
          </a:xfrm>
          <a:prstGeom prst="rect">
            <a:avLst/>
          </a:prstGeom>
        </p:spPr>
      </p:pic>
      <p:pic>
        <p:nvPicPr>
          <p:cNvPr id="21" name="SK-12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57250" y="4107359"/>
            <a:ext cx="190500" cy="152400"/>
          </a:xfrm>
          <a:prstGeom prst="rect">
            <a:avLst/>
          </a:prstGeom>
        </p:spPr>
      </p:pic>
      <p:pic>
        <p:nvPicPr>
          <p:cNvPr id="22" name="SK-12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886200" y="3981152"/>
            <a:ext cx="3009900" cy="404813"/>
          </a:xfrm>
          <a:prstGeom prst="rect">
            <a:avLst/>
          </a:prstGeom>
        </p:spPr>
      </p:pic>
      <p:pic>
        <p:nvPicPr>
          <p:cNvPr id="23" name="SK-12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81450" y="4107359"/>
            <a:ext cx="190500" cy="152400"/>
          </a:xfrm>
          <a:prstGeom prst="rect">
            <a:avLst/>
          </a:prstGeom>
        </p:spPr>
      </p:pic>
      <p:pic>
        <p:nvPicPr>
          <p:cNvPr id="24" name="SK-12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62000" y="4500265"/>
            <a:ext cx="3009900" cy="404813"/>
          </a:xfrm>
          <a:prstGeom prst="rect">
            <a:avLst/>
          </a:prstGeom>
        </p:spPr>
      </p:pic>
      <p:pic>
        <p:nvPicPr>
          <p:cNvPr id="25" name="SK-12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57250" y="4626471"/>
            <a:ext cx="190500" cy="152400"/>
          </a:xfrm>
          <a:prstGeom prst="rect">
            <a:avLst/>
          </a:prstGeom>
        </p:spPr>
      </p:pic>
      <p:pic>
        <p:nvPicPr>
          <p:cNvPr id="26" name="SK-12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886200" y="4500265"/>
            <a:ext cx="3009900" cy="404813"/>
          </a:xfrm>
          <a:prstGeom prst="rect">
            <a:avLst/>
          </a:prstGeom>
        </p:spPr>
      </p:pic>
      <p:pic>
        <p:nvPicPr>
          <p:cNvPr id="27" name="SK-12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981450" y="4626471"/>
            <a:ext cx="190500" cy="152400"/>
          </a:xfrm>
          <a:prstGeom prst="rect">
            <a:avLst/>
          </a:prstGeom>
        </p:spPr>
      </p:pic>
      <p:pic>
        <p:nvPicPr>
          <p:cNvPr id="28" name="SK-12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277100" y="3352502"/>
            <a:ext cx="4343400" cy="1962150"/>
          </a:xfrm>
          <a:prstGeom prst="rect">
            <a:avLst/>
          </a:prstGeom>
        </p:spPr>
      </p:pic>
      <p:pic>
        <p:nvPicPr>
          <p:cNvPr id="29" name="SK-12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467600" y="4971901"/>
            <a:ext cx="166688" cy="137220"/>
          </a:xfrm>
          <a:prstGeom prst="rect">
            <a:avLst/>
          </a:prstGeom>
        </p:spPr>
      </p:pic>
      <p:sp>
        <p:nvSpPr>
          <p:cNvPr id="30" name="SK-12-text-29"/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spc="60" kern="0" dirty="0">
                <a:solidFill>
                  <a:srgbClr val="059669"/>
                </a:solidFill>
              </a:rPr>
              <a:t>DWWM 2026 // LYDIE MEUNIER</a:t>
            </a:r>
            <a:endParaRPr lang="en-US" sz="1050" dirty="0"/>
          </a:p>
        </p:txBody>
      </p:sp>
      <p:sp>
        <p:nvSpPr>
          <p:cNvPr id="31" name="SK-12-text-30"/>
          <p:cNvSpPr/>
          <p:nvPr/>
        </p:nvSpPr>
        <p:spPr>
          <a:xfrm>
            <a:off x="762000" y="657225"/>
            <a:ext cx="110109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 et Jeux d'Essai</a:t>
            </a:r>
            <a:endParaRPr lang="en-US" sz="2400" dirty="0"/>
          </a:p>
        </p:txBody>
      </p:sp>
      <p:sp>
        <p:nvSpPr>
          <p:cNvPr id="32" name="SK-12-text-31"/>
          <p:cNvSpPr/>
          <p:nvPr/>
        </p:nvSpPr>
        <p:spPr>
          <a:xfrm>
            <a:off x="1162050" y="1475333"/>
            <a:ext cx="15697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ÉTAPE 01</a:t>
            </a:r>
            <a:endParaRPr lang="en-US" sz="1050" dirty="0"/>
          </a:p>
        </p:txBody>
      </p:sp>
      <p:sp>
        <p:nvSpPr>
          <p:cNvPr id="33" name="SK-12-text-32"/>
          <p:cNvSpPr/>
          <p:nvPr/>
        </p:nvSpPr>
        <p:spPr>
          <a:xfrm>
            <a:off x="723900" y="1861096"/>
            <a:ext cx="317182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Création Client</a:t>
            </a:r>
            <a:endParaRPr lang="en-US" sz="1350" dirty="0"/>
          </a:p>
        </p:txBody>
      </p:sp>
      <p:sp>
        <p:nvSpPr>
          <p:cNvPr id="34" name="SK-12-text-33"/>
          <p:cNvSpPr/>
          <p:nvPr/>
        </p:nvSpPr>
        <p:spPr>
          <a:xfrm>
            <a:off x="723900" y="2198191"/>
            <a:ext cx="23431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 :</a:t>
            </a:r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Martin</a:t>
            </a:r>
            <a:endParaRPr lang="en-US" sz="1050" dirty="0"/>
          </a:p>
        </p:txBody>
      </p:sp>
      <p:sp>
        <p:nvSpPr>
          <p:cNvPr id="35" name="SK-12-text-34"/>
          <p:cNvSpPr/>
          <p:nvPr/>
        </p:nvSpPr>
        <p:spPr>
          <a:xfrm>
            <a:off x="723900" y="2441972"/>
            <a:ext cx="368046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Ville :</a:t>
            </a:r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Bourg-en-Bresse</a:t>
            </a:r>
            <a:endParaRPr lang="en-US" sz="1050" dirty="0"/>
          </a:p>
        </p:txBody>
      </p:sp>
      <p:sp>
        <p:nvSpPr>
          <p:cNvPr id="36" name="SK-12-text-35"/>
          <p:cNvSpPr/>
          <p:nvPr/>
        </p:nvSpPr>
        <p:spPr>
          <a:xfrm>
            <a:off x="723900" y="2685752"/>
            <a:ext cx="43967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Identifiant unique attribué</a:t>
            </a:r>
            <a:endParaRPr lang="en-US" sz="1050" dirty="0"/>
          </a:p>
        </p:txBody>
      </p:sp>
      <p:sp>
        <p:nvSpPr>
          <p:cNvPr id="37" name="SK-12-text-36"/>
          <p:cNvSpPr/>
          <p:nvPr/>
        </p:nvSpPr>
        <p:spPr>
          <a:xfrm>
            <a:off x="3962400" y="1475333"/>
            <a:ext cx="15697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ÉTAPE 02</a:t>
            </a:r>
            <a:endParaRPr lang="en-US" sz="1050" dirty="0"/>
          </a:p>
        </p:txBody>
      </p:sp>
      <p:sp>
        <p:nvSpPr>
          <p:cNvPr id="38" name="SK-12-text-37"/>
          <p:cNvSpPr/>
          <p:nvPr/>
        </p:nvSpPr>
        <p:spPr>
          <a:xfrm>
            <a:off x="3524250" y="1861096"/>
            <a:ext cx="296608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Émission Devis</a:t>
            </a:r>
            <a:endParaRPr lang="en-US" sz="1350" dirty="0"/>
          </a:p>
        </p:txBody>
      </p:sp>
      <p:sp>
        <p:nvSpPr>
          <p:cNvPr id="39" name="SK-12-text-38"/>
          <p:cNvSpPr/>
          <p:nvPr/>
        </p:nvSpPr>
        <p:spPr>
          <a:xfrm>
            <a:off x="3581400" y="2198191"/>
            <a:ext cx="2346960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F172A"/>
                </a:solidFill>
              </a:rPr>
              <a:t>D-2026-020</a:t>
            </a:r>
            <a:endParaRPr lang="en-US" sz="1050" dirty="0"/>
          </a:p>
        </p:txBody>
      </p:sp>
      <p:sp>
        <p:nvSpPr>
          <p:cNvPr id="40" name="SK-12-text-39"/>
          <p:cNvSpPr/>
          <p:nvPr/>
        </p:nvSpPr>
        <p:spPr>
          <a:xfrm>
            <a:off x="3524250" y="2443907"/>
            <a:ext cx="32766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Abattage + Nettoyage</a:t>
            </a:r>
            <a:endParaRPr lang="en-US" sz="1050" dirty="0"/>
          </a:p>
        </p:txBody>
      </p:sp>
      <p:sp>
        <p:nvSpPr>
          <p:cNvPr id="41" name="SK-12-text-40"/>
          <p:cNvSpPr/>
          <p:nvPr/>
        </p:nvSpPr>
        <p:spPr>
          <a:xfrm>
            <a:off x="3524250" y="2687687"/>
            <a:ext cx="30937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: </a:t>
            </a:r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345,00 €</a:t>
            </a:r>
            <a:endParaRPr lang="en-US" sz="1050" dirty="0"/>
          </a:p>
        </p:txBody>
      </p:sp>
      <p:sp>
        <p:nvSpPr>
          <p:cNvPr id="42" name="SK-12-text-41"/>
          <p:cNvSpPr/>
          <p:nvPr/>
        </p:nvSpPr>
        <p:spPr>
          <a:xfrm>
            <a:off x="6762750" y="1475333"/>
            <a:ext cx="15697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ÉTAPE 03</a:t>
            </a:r>
            <a:endParaRPr lang="en-US" sz="1050" dirty="0"/>
          </a:p>
        </p:txBody>
      </p:sp>
      <p:sp>
        <p:nvSpPr>
          <p:cNvPr id="43" name="SK-12-text-42"/>
          <p:cNvSpPr/>
          <p:nvPr/>
        </p:nvSpPr>
        <p:spPr>
          <a:xfrm>
            <a:off x="6324600" y="1861096"/>
            <a:ext cx="242887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Facturation</a:t>
            </a:r>
            <a:endParaRPr lang="en-US" sz="1350" dirty="0"/>
          </a:p>
        </p:txBody>
      </p:sp>
      <p:sp>
        <p:nvSpPr>
          <p:cNvPr id="44" name="SK-12-text-43"/>
          <p:cNvSpPr/>
          <p:nvPr/>
        </p:nvSpPr>
        <p:spPr>
          <a:xfrm>
            <a:off x="6324600" y="2198191"/>
            <a:ext cx="3596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 automatique</a:t>
            </a:r>
            <a:endParaRPr lang="en-US" sz="1050" dirty="0"/>
          </a:p>
        </p:txBody>
      </p:sp>
      <p:sp>
        <p:nvSpPr>
          <p:cNvPr id="45" name="SK-12-text-44"/>
          <p:cNvSpPr/>
          <p:nvPr/>
        </p:nvSpPr>
        <p:spPr>
          <a:xfrm>
            <a:off x="6381750" y="2441972"/>
            <a:ext cx="2346960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F172A"/>
                </a:solidFill>
              </a:rPr>
              <a:t>F-2026-020</a:t>
            </a:r>
            <a:endParaRPr lang="en-US" sz="1050" dirty="0"/>
          </a:p>
        </p:txBody>
      </p:sp>
      <p:sp>
        <p:nvSpPr>
          <p:cNvPr id="46" name="SK-12-text-45"/>
          <p:cNvSpPr/>
          <p:nvPr/>
        </p:nvSpPr>
        <p:spPr>
          <a:xfrm>
            <a:off x="6324600" y="2687687"/>
            <a:ext cx="304038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Statut : </a:t>
            </a:r>
            <a:pPr indent="0" marL="0">
              <a:lnSpc>
                <a:spcPts val="1470"/>
              </a:lnSpc>
              <a:buNone/>
            </a:pPr>
            <a:r>
              <a:rPr lang="en-US" sz="105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attente</a:t>
            </a:r>
            <a:endParaRPr lang="en-US" sz="1050" dirty="0"/>
          </a:p>
        </p:txBody>
      </p:sp>
      <p:sp>
        <p:nvSpPr>
          <p:cNvPr id="47" name="SK-12-text-46"/>
          <p:cNvSpPr/>
          <p:nvPr/>
        </p:nvSpPr>
        <p:spPr>
          <a:xfrm>
            <a:off x="9563100" y="1475333"/>
            <a:ext cx="15697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ÉTAPE 04</a:t>
            </a:r>
            <a:endParaRPr lang="en-US" sz="1050" dirty="0"/>
          </a:p>
        </p:txBody>
      </p:sp>
      <p:sp>
        <p:nvSpPr>
          <p:cNvPr id="48" name="SK-12-text-47"/>
          <p:cNvSpPr/>
          <p:nvPr/>
        </p:nvSpPr>
        <p:spPr>
          <a:xfrm>
            <a:off x="9124950" y="1861096"/>
            <a:ext cx="242887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Règlement</a:t>
            </a:r>
            <a:endParaRPr lang="en-US" sz="1350" dirty="0"/>
          </a:p>
        </p:txBody>
      </p:sp>
      <p:sp>
        <p:nvSpPr>
          <p:cNvPr id="49" name="SK-12-text-48"/>
          <p:cNvSpPr/>
          <p:nvPr/>
        </p:nvSpPr>
        <p:spPr>
          <a:xfrm>
            <a:off x="9124950" y="2198191"/>
            <a:ext cx="30670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Paiement : 345,00 €</a:t>
            </a:r>
            <a:endParaRPr lang="en-US" sz="1050" dirty="0"/>
          </a:p>
        </p:txBody>
      </p:sp>
      <p:sp>
        <p:nvSpPr>
          <p:cNvPr id="50" name="SK-12-text-49"/>
          <p:cNvSpPr/>
          <p:nvPr/>
        </p:nvSpPr>
        <p:spPr>
          <a:xfrm>
            <a:off x="9124950" y="2441972"/>
            <a:ext cx="24193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 : Espèces</a:t>
            </a:r>
            <a:endParaRPr lang="en-US" sz="1050" dirty="0"/>
          </a:p>
        </p:txBody>
      </p:sp>
      <p:sp>
        <p:nvSpPr>
          <p:cNvPr id="51" name="SK-12-text-50"/>
          <p:cNvSpPr/>
          <p:nvPr/>
        </p:nvSpPr>
        <p:spPr>
          <a:xfrm>
            <a:off x="9220200" y="2723852"/>
            <a:ext cx="22288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STATUT : PAYÉE</a:t>
            </a:r>
            <a:endParaRPr lang="en-US" sz="900" dirty="0"/>
          </a:p>
        </p:txBody>
      </p:sp>
      <p:sp>
        <p:nvSpPr>
          <p:cNvPr id="52" name="SK-12-text-51"/>
          <p:cNvSpPr/>
          <p:nvPr/>
        </p:nvSpPr>
        <p:spPr>
          <a:xfrm>
            <a:off x="1095375" y="3543002"/>
            <a:ext cx="6400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Bilan des tests fonctionnels</a:t>
            </a:r>
            <a:endParaRPr lang="en-US" sz="1500" dirty="0"/>
          </a:p>
        </p:txBody>
      </p:sp>
      <p:sp>
        <p:nvSpPr>
          <p:cNvPr id="53" name="SK-12-text-52"/>
          <p:cNvSpPr/>
          <p:nvPr/>
        </p:nvSpPr>
        <p:spPr>
          <a:xfrm>
            <a:off x="1143000" y="4076402"/>
            <a:ext cx="47053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Calculs automatiques exacts</a:t>
            </a:r>
            <a:endParaRPr lang="en-US" sz="1125" dirty="0"/>
          </a:p>
        </p:txBody>
      </p:sp>
      <p:sp>
        <p:nvSpPr>
          <p:cNvPr id="54" name="SK-12-text-53"/>
          <p:cNvSpPr/>
          <p:nvPr/>
        </p:nvSpPr>
        <p:spPr>
          <a:xfrm>
            <a:off x="4267200" y="4076402"/>
            <a:ext cx="41910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Génération PDFs conforme</a:t>
            </a:r>
            <a:endParaRPr lang="en-US" sz="1125" dirty="0"/>
          </a:p>
        </p:txBody>
      </p:sp>
      <p:sp>
        <p:nvSpPr>
          <p:cNvPr id="55" name="SK-12-text-54"/>
          <p:cNvSpPr/>
          <p:nvPr/>
        </p:nvSpPr>
        <p:spPr>
          <a:xfrm>
            <a:off x="1143000" y="4595515"/>
            <a:ext cx="47053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Intégrité des relations SQL</a:t>
            </a:r>
            <a:endParaRPr lang="en-US" sz="1125" dirty="0"/>
          </a:p>
        </p:txBody>
      </p:sp>
      <p:sp>
        <p:nvSpPr>
          <p:cNvPr id="56" name="SK-12-text-55"/>
          <p:cNvSpPr/>
          <p:nvPr/>
        </p:nvSpPr>
        <p:spPr>
          <a:xfrm>
            <a:off x="4267200" y="4595515"/>
            <a:ext cx="45339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Cycle métier 100% validé</a:t>
            </a:r>
            <a:endParaRPr lang="en-US" sz="1125" dirty="0"/>
          </a:p>
        </p:txBody>
      </p:sp>
      <p:sp>
        <p:nvSpPr>
          <p:cNvPr id="57" name="SK-12-text-56"/>
          <p:cNvSpPr/>
          <p:nvPr/>
        </p:nvSpPr>
        <p:spPr>
          <a:xfrm>
            <a:off x="7467600" y="3543002"/>
            <a:ext cx="47244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Ajustements &amp; Évolutions</a:t>
            </a:r>
            <a:endParaRPr lang="en-US" sz="1350" dirty="0"/>
          </a:p>
        </p:txBody>
      </p:sp>
      <p:sp>
        <p:nvSpPr>
          <p:cNvPr id="58" name="SK-12-text-57"/>
          <p:cNvSpPr/>
          <p:nvPr/>
        </p:nvSpPr>
        <p:spPr>
          <a:xfrm>
            <a:off x="7467600" y="3914477"/>
            <a:ext cx="39624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Lors des tests, une évolution du schéma SQL a été nécessaire pour ajouter des colonnes manquantes (frais de déplacement, délais). Les relations en cascade ont été renforcées pour éviter les données orphelines.</a:t>
            </a:r>
            <a:endParaRPr lang="en-US" sz="1125" dirty="0"/>
          </a:p>
        </p:txBody>
      </p:sp>
      <p:sp>
        <p:nvSpPr>
          <p:cNvPr id="59" name="SK-12-text-58"/>
          <p:cNvSpPr/>
          <p:nvPr/>
        </p:nvSpPr>
        <p:spPr>
          <a:xfrm>
            <a:off x="7634288" y="4924127"/>
            <a:ext cx="39624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Tests via UI et Swagger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3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3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3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11049000" cy="641896"/>
          </a:xfrm>
          <a:prstGeom prst="rect">
            <a:avLst/>
          </a:prstGeom>
        </p:spPr>
      </p:pic>
      <p:pic>
        <p:nvPicPr>
          <p:cNvPr id="5" name="SK-13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906191"/>
            <a:ext cx="285750" cy="228600"/>
          </a:xfrm>
          <a:prstGeom prst="rect">
            <a:avLst/>
          </a:prstGeom>
        </p:spPr>
      </p:pic>
      <p:pic>
        <p:nvPicPr>
          <p:cNvPr id="6" name="SK-13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520553"/>
            <a:ext cx="76200" cy="76200"/>
          </a:xfrm>
          <a:prstGeom prst="rect">
            <a:avLst/>
          </a:prstGeom>
        </p:spPr>
      </p:pic>
      <p:pic>
        <p:nvPicPr>
          <p:cNvPr id="7" name="SK-13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432870"/>
            <a:ext cx="76200" cy="76200"/>
          </a:xfrm>
          <a:prstGeom prst="rect">
            <a:avLst/>
          </a:prstGeom>
        </p:spPr>
      </p:pic>
      <p:pic>
        <p:nvPicPr>
          <p:cNvPr id="8" name="SK-13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345186"/>
            <a:ext cx="76200" cy="76200"/>
          </a:xfrm>
          <a:prstGeom prst="rect">
            <a:avLst/>
          </a:prstGeom>
        </p:spPr>
      </p:pic>
      <p:pic>
        <p:nvPicPr>
          <p:cNvPr id="9" name="SK-13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5257502"/>
            <a:ext cx="76200" cy="76200"/>
          </a:xfrm>
          <a:prstGeom prst="rect">
            <a:avLst/>
          </a:prstGeom>
        </p:spPr>
      </p:pic>
      <p:pic>
        <p:nvPicPr>
          <p:cNvPr id="10" name="SK-13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1238" y="1441996"/>
            <a:ext cx="9525" cy="4844504"/>
          </a:xfrm>
          <a:prstGeom prst="rect">
            <a:avLst/>
          </a:prstGeom>
        </p:spPr>
      </p:pic>
      <p:pic>
        <p:nvPicPr>
          <p:cNvPr id="11" name="SK-13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72263" y="1906191"/>
            <a:ext cx="285750" cy="228600"/>
          </a:xfrm>
          <a:prstGeom prst="rect">
            <a:avLst/>
          </a:prstGeom>
        </p:spPr>
      </p:pic>
      <p:pic>
        <p:nvPicPr>
          <p:cNvPr id="12" name="SK-13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72263" y="2520553"/>
            <a:ext cx="76200" cy="76200"/>
          </a:xfrm>
          <a:prstGeom prst="rect">
            <a:avLst/>
          </a:prstGeom>
        </p:spPr>
      </p:pic>
      <p:pic>
        <p:nvPicPr>
          <p:cNvPr id="13" name="SK-13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72263" y="3432870"/>
            <a:ext cx="76200" cy="76200"/>
          </a:xfrm>
          <a:prstGeom prst="rect">
            <a:avLst/>
          </a:prstGeom>
        </p:spPr>
      </p:pic>
      <p:pic>
        <p:nvPicPr>
          <p:cNvPr id="14" name="SK-13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72263" y="4345186"/>
            <a:ext cx="76200" cy="76200"/>
          </a:xfrm>
          <a:prstGeom prst="rect">
            <a:avLst/>
          </a:prstGeom>
        </p:spPr>
      </p:pic>
      <p:pic>
        <p:nvPicPr>
          <p:cNvPr id="15" name="SK-13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72263" y="5257502"/>
            <a:ext cx="76200" cy="76200"/>
          </a:xfrm>
          <a:prstGeom prst="rect">
            <a:avLst/>
          </a:prstGeom>
        </p:spPr>
      </p:pic>
      <p:sp>
        <p:nvSpPr>
          <p:cNvPr id="16" name="SK-13-text-15"/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spc="60" kern="0" dirty="0">
                <a:solidFill>
                  <a:srgbClr val="059669"/>
                </a:solidFill>
              </a:rPr>
              <a:t>DWWM 2026 // LYDIE MEUNIER</a:t>
            </a:r>
            <a:endParaRPr lang="en-US" sz="1050" dirty="0"/>
          </a:p>
        </p:txBody>
      </p:sp>
      <p:sp>
        <p:nvSpPr>
          <p:cNvPr id="17" name="SK-13-text-16"/>
          <p:cNvSpPr/>
          <p:nvPr/>
        </p:nvSpPr>
        <p:spPr>
          <a:xfrm>
            <a:off x="762000" y="657225"/>
            <a:ext cx="110109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Difficultés Rencontrées</a:t>
            </a:r>
            <a:endParaRPr lang="en-US" sz="2400" dirty="0"/>
          </a:p>
        </p:txBody>
      </p:sp>
      <p:sp>
        <p:nvSpPr>
          <p:cNvPr id="18" name="SK-13-text-17"/>
          <p:cNvSpPr/>
          <p:nvPr/>
        </p:nvSpPr>
        <p:spPr>
          <a:xfrm>
            <a:off x="971550" y="1863328"/>
            <a:ext cx="664273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Défis Techniques &amp; Métiers</a:t>
            </a:r>
            <a:endParaRPr lang="en-US" sz="1650" dirty="0"/>
          </a:p>
        </p:txBody>
      </p:sp>
      <p:sp>
        <p:nvSpPr>
          <p:cNvPr id="19" name="SK-13-text-18"/>
          <p:cNvSpPr/>
          <p:nvPr/>
        </p:nvSpPr>
        <p:spPr>
          <a:xfrm>
            <a:off x="762000" y="2406253"/>
            <a:ext cx="481774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Logique Métier Complexe</a:t>
            </a:r>
            <a:endParaRPr lang="en-US" sz="1350" dirty="0"/>
          </a:p>
        </p:txBody>
      </p:sp>
      <p:sp>
        <p:nvSpPr>
          <p:cNvPr id="20" name="SK-13-text-19"/>
          <p:cNvSpPr/>
          <p:nvPr/>
        </p:nvSpPr>
        <p:spPr>
          <a:xfrm>
            <a:off x="762000" y="2701528"/>
            <a:ext cx="4757738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Gestion multi-états (Devis → Facture → Relance) et numérotation séquentielle automatisée.</a:t>
            </a:r>
            <a:endParaRPr lang="en-US" sz="1200" dirty="0"/>
          </a:p>
        </p:txBody>
      </p:sp>
      <p:sp>
        <p:nvSpPr>
          <p:cNvPr id="21" name="SK-13-text-20"/>
          <p:cNvSpPr/>
          <p:nvPr/>
        </p:nvSpPr>
        <p:spPr>
          <a:xfrm>
            <a:off x="762000" y="3318570"/>
            <a:ext cx="584644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Configuration SSL Production</a:t>
            </a:r>
            <a:endParaRPr lang="en-US" sz="1350" dirty="0"/>
          </a:p>
        </p:txBody>
      </p:sp>
      <p:sp>
        <p:nvSpPr>
          <p:cNvPr id="22" name="SK-13-text-21"/>
          <p:cNvSpPr/>
          <p:nvPr/>
        </p:nvSpPr>
        <p:spPr>
          <a:xfrm>
            <a:off x="762000" y="3613845"/>
            <a:ext cx="4757738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Difficultés de communication sécurisée entre Render (Node.js) et Aiven (MySQL Cloud).</a:t>
            </a:r>
            <a:endParaRPr lang="en-US" sz="1200" dirty="0"/>
          </a:p>
        </p:txBody>
      </p:sp>
      <p:sp>
        <p:nvSpPr>
          <p:cNvPr id="23" name="SK-13-text-22"/>
          <p:cNvSpPr/>
          <p:nvPr/>
        </p:nvSpPr>
        <p:spPr>
          <a:xfrm>
            <a:off x="762000" y="4230886"/>
            <a:ext cx="42005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Autonomie Full-Stack</a:t>
            </a:r>
            <a:endParaRPr lang="en-US" sz="1350" dirty="0"/>
          </a:p>
        </p:txBody>
      </p:sp>
      <p:sp>
        <p:nvSpPr>
          <p:cNvPr id="24" name="SK-13-text-23"/>
          <p:cNvSpPr/>
          <p:nvPr/>
        </p:nvSpPr>
        <p:spPr>
          <a:xfrm>
            <a:off x="762000" y="4526161"/>
            <a:ext cx="4757738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Responsabilité totale sur toutes les couches applicatives et priorisation des fonctionnalités.</a:t>
            </a:r>
            <a:endParaRPr lang="en-US" sz="1200" dirty="0"/>
          </a:p>
        </p:txBody>
      </p:sp>
      <p:sp>
        <p:nvSpPr>
          <p:cNvPr id="25" name="SK-13-text-24"/>
          <p:cNvSpPr/>
          <p:nvPr/>
        </p:nvSpPr>
        <p:spPr>
          <a:xfrm>
            <a:off x="762000" y="5143202"/>
            <a:ext cx="502348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Génération PDF Puppeteer</a:t>
            </a:r>
            <a:endParaRPr lang="en-US" sz="1350" dirty="0"/>
          </a:p>
        </p:txBody>
      </p:sp>
      <p:sp>
        <p:nvSpPr>
          <p:cNvPr id="26" name="SK-13-text-25"/>
          <p:cNvSpPr/>
          <p:nvPr/>
        </p:nvSpPr>
        <p:spPr>
          <a:xfrm>
            <a:off x="762000" y="5438477"/>
            <a:ext cx="4757738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Ajustement précis des templates HTML et correction des méthodes de formatage de données.</a:t>
            </a:r>
            <a:endParaRPr lang="en-US" sz="1200" dirty="0"/>
          </a:p>
        </p:txBody>
      </p:sp>
      <p:sp>
        <p:nvSpPr>
          <p:cNvPr id="27" name="SK-13-text-26"/>
          <p:cNvSpPr/>
          <p:nvPr/>
        </p:nvSpPr>
        <p:spPr>
          <a:xfrm>
            <a:off x="7072313" y="1863328"/>
            <a:ext cx="511968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Solutions &amp; Adaptations</a:t>
            </a:r>
            <a:endParaRPr lang="en-US" sz="1650" dirty="0"/>
          </a:p>
        </p:txBody>
      </p:sp>
      <p:sp>
        <p:nvSpPr>
          <p:cNvPr id="28" name="SK-13-text-27"/>
          <p:cNvSpPr/>
          <p:nvPr/>
        </p:nvSpPr>
        <p:spPr>
          <a:xfrm>
            <a:off x="6862763" y="2406253"/>
            <a:ext cx="378904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Modélisation &amp; ORM</a:t>
            </a:r>
            <a:endParaRPr lang="en-US" sz="1350" dirty="0"/>
          </a:p>
        </p:txBody>
      </p:sp>
      <p:sp>
        <p:nvSpPr>
          <p:cNvPr id="29" name="SK-13-text-28"/>
          <p:cNvSpPr/>
          <p:nvPr/>
        </p:nvSpPr>
        <p:spPr>
          <a:xfrm>
            <a:off x="6862763" y="2701528"/>
            <a:ext cx="4757738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Utilisation rigoureuse de Sequelize pour gérer l'intégrité et les suppressions en cascade.</a:t>
            </a:r>
            <a:endParaRPr lang="en-US" sz="1200" dirty="0"/>
          </a:p>
        </p:txBody>
      </p:sp>
      <p:sp>
        <p:nvSpPr>
          <p:cNvPr id="30" name="SK-13-text-29"/>
          <p:cNvSpPr/>
          <p:nvPr/>
        </p:nvSpPr>
        <p:spPr>
          <a:xfrm>
            <a:off x="6862763" y="3318570"/>
            <a:ext cx="481774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Debug &amp; Variables d'Env</a:t>
            </a:r>
            <a:endParaRPr lang="en-US" sz="1350" dirty="0"/>
          </a:p>
        </p:txBody>
      </p:sp>
      <p:sp>
        <p:nvSpPr>
          <p:cNvPr id="31" name="SK-13-text-30"/>
          <p:cNvSpPr/>
          <p:nvPr/>
        </p:nvSpPr>
        <p:spPr>
          <a:xfrm>
            <a:off x="6862763" y="3613845"/>
            <a:ext cx="4757738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Paramétrage précis des certificats SSL et isolation des secrets via des variables d'environnement.</a:t>
            </a:r>
            <a:endParaRPr lang="en-US" sz="1200" dirty="0"/>
          </a:p>
        </p:txBody>
      </p:sp>
      <p:sp>
        <p:nvSpPr>
          <p:cNvPr id="32" name="SK-13-text-31"/>
          <p:cNvSpPr/>
          <p:nvPr/>
        </p:nvSpPr>
        <p:spPr>
          <a:xfrm>
            <a:off x="6862763" y="4230886"/>
            <a:ext cx="378904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Approche Agile MVP</a:t>
            </a:r>
            <a:endParaRPr lang="en-US" sz="1350" dirty="0"/>
          </a:p>
        </p:txBody>
      </p:sp>
      <p:sp>
        <p:nvSpPr>
          <p:cNvPr id="33" name="SK-13-text-32"/>
          <p:cNvSpPr/>
          <p:nvPr/>
        </p:nvSpPr>
        <p:spPr>
          <a:xfrm>
            <a:off x="6862763" y="4526161"/>
            <a:ext cx="4757738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Livraison continue via GitHub et focalisation sur le cycle de vente essentiel à l'utilisateur.</a:t>
            </a:r>
            <a:endParaRPr lang="en-US" sz="1200" dirty="0"/>
          </a:p>
        </p:txBody>
      </p:sp>
      <p:sp>
        <p:nvSpPr>
          <p:cNvPr id="34" name="SK-13-text-33"/>
          <p:cNvSpPr/>
          <p:nvPr/>
        </p:nvSpPr>
        <p:spPr>
          <a:xfrm>
            <a:off x="6862763" y="5143202"/>
            <a:ext cx="461200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Refactorisation Native</a:t>
            </a:r>
            <a:endParaRPr lang="en-US" sz="1350" dirty="0"/>
          </a:p>
        </p:txBody>
      </p:sp>
      <p:sp>
        <p:nvSpPr>
          <p:cNvPr id="35" name="SK-13-text-34"/>
          <p:cNvSpPr/>
          <p:nvPr/>
        </p:nvSpPr>
        <p:spPr>
          <a:xfrm>
            <a:off x="6862763" y="5438477"/>
            <a:ext cx="4757738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Optimisation des scripts de rendu serveur pour garantir des documents PDF professionnels.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4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4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4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11049000" cy="641896"/>
          </a:xfrm>
          <a:prstGeom prst="rect">
            <a:avLst/>
          </a:prstGeom>
        </p:spPr>
      </p:pic>
      <p:pic>
        <p:nvPicPr>
          <p:cNvPr id="5" name="SK-14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251496"/>
            <a:ext cx="2619375" cy="4368254"/>
          </a:xfrm>
          <a:prstGeom prst="rect">
            <a:avLst/>
          </a:prstGeom>
        </p:spPr>
      </p:pic>
      <p:pic>
        <p:nvPicPr>
          <p:cNvPr id="6" name="SK-14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1480096"/>
            <a:ext cx="457200" cy="457200"/>
          </a:xfrm>
          <a:prstGeom prst="rect">
            <a:avLst/>
          </a:prstGeom>
        </p:spPr>
      </p:pic>
      <p:pic>
        <p:nvPicPr>
          <p:cNvPr id="7" name="SK-14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825" y="1594396"/>
            <a:ext cx="285750" cy="228600"/>
          </a:xfrm>
          <a:prstGeom prst="rect">
            <a:avLst/>
          </a:prstGeom>
        </p:spPr>
      </p:pic>
      <p:pic>
        <p:nvPicPr>
          <p:cNvPr id="8" name="SK-14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2089696"/>
            <a:ext cx="2162175" cy="361950"/>
          </a:xfrm>
          <a:prstGeom prst="rect">
            <a:avLst/>
          </a:prstGeom>
        </p:spPr>
      </p:pic>
      <p:pic>
        <p:nvPicPr>
          <p:cNvPr id="9" name="SK-14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2604046"/>
            <a:ext cx="171450" cy="228600"/>
          </a:xfrm>
          <a:prstGeom prst="rect">
            <a:avLst/>
          </a:prstGeom>
        </p:spPr>
      </p:pic>
      <p:pic>
        <p:nvPicPr>
          <p:cNvPr id="10" name="SK-14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3118396"/>
            <a:ext cx="178594" cy="178594"/>
          </a:xfrm>
          <a:prstGeom prst="rect">
            <a:avLst/>
          </a:prstGeom>
        </p:spPr>
      </p:pic>
      <p:pic>
        <p:nvPicPr>
          <p:cNvPr id="11" name="SK-14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100" y="3632746"/>
            <a:ext cx="171450" cy="228600"/>
          </a:xfrm>
          <a:prstGeom prst="rect">
            <a:avLst/>
          </a:prstGeom>
        </p:spPr>
      </p:pic>
      <p:pic>
        <p:nvPicPr>
          <p:cNvPr id="12" name="SK-14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81375" y="1251496"/>
            <a:ext cx="2619375" cy="4368254"/>
          </a:xfrm>
          <a:prstGeom prst="rect">
            <a:avLst/>
          </a:prstGeom>
        </p:spPr>
      </p:pic>
      <p:pic>
        <p:nvPicPr>
          <p:cNvPr id="13" name="SK-14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09975" y="1480096"/>
            <a:ext cx="457200" cy="457200"/>
          </a:xfrm>
          <a:prstGeom prst="rect">
            <a:avLst/>
          </a:prstGeom>
        </p:spPr>
      </p:pic>
      <p:pic>
        <p:nvPicPr>
          <p:cNvPr id="14" name="SK-14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95700" y="1594396"/>
            <a:ext cx="285750" cy="228600"/>
          </a:xfrm>
          <a:prstGeom prst="rect">
            <a:avLst/>
          </a:prstGeom>
        </p:spPr>
      </p:pic>
      <p:pic>
        <p:nvPicPr>
          <p:cNvPr id="15" name="SK-14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09975" y="2089696"/>
            <a:ext cx="2162175" cy="361950"/>
          </a:xfrm>
          <a:prstGeom prst="rect">
            <a:avLst/>
          </a:prstGeom>
        </p:spPr>
      </p:pic>
      <p:pic>
        <p:nvPicPr>
          <p:cNvPr id="16" name="SK-14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609975" y="2604046"/>
            <a:ext cx="171450" cy="228600"/>
          </a:xfrm>
          <a:prstGeom prst="rect">
            <a:avLst/>
          </a:prstGeom>
        </p:spPr>
      </p:pic>
      <p:pic>
        <p:nvPicPr>
          <p:cNvPr id="17" name="SK-14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609975" y="3118396"/>
            <a:ext cx="171450" cy="228600"/>
          </a:xfrm>
          <a:prstGeom prst="rect">
            <a:avLst/>
          </a:prstGeom>
        </p:spPr>
      </p:pic>
      <p:pic>
        <p:nvPicPr>
          <p:cNvPr id="18" name="SK-14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609975" y="3832771"/>
            <a:ext cx="152400" cy="228600"/>
          </a:xfrm>
          <a:prstGeom prst="rect">
            <a:avLst/>
          </a:prstGeom>
        </p:spPr>
      </p:pic>
      <p:pic>
        <p:nvPicPr>
          <p:cNvPr id="19" name="SK-14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191250" y="1251496"/>
            <a:ext cx="2619375" cy="4368254"/>
          </a:xfrm>
          <a:prstGeom prst="rect">
            <a:avLst/>
          </a:prstGeom>
        </p:spPr>
      </p:pic>
      <p:pic>
        <p:nvPicPr>
          <p:cNvPr id="20" name="SK-14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19850" y="1480096"/>
            <a:ext cx="457200" cy="457200"/>
          </a:xfrm>
          <a:prstGeom prst="rect">
            <a:avLst/>
          </a:prstGeom>
        </p:spPr>
      </p:pic>
      <p:pic>
        <p:nvPicPr>
          <p:cNvPr id="21" name="SK-14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05575" y="1594396"/>
            <a:ext cx="285750" cy="228600"/>
          </a:xfrm>
          <a:prstGeom prst="rect">
            <a:avLst/>
          </a:prstGeom>
        </p:spPr>
      </p:pic>
      <p:pic>
        <p:nvPicPr>
          <p:cNvPr id="22" name="SK-14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19850" y="2089696"/>
            <a:ext cx="2162175" cy="361950"/>
          </a:xfrm>
          <a:prstGeom prst="rect">
            <a:avLst/>
          </a:prstGeom>
        </p:spPr>
      </p:pic>
      <p:pic>
        <p:nvPicPr>
          <p:cNvPr id="23" name="SK-14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19850" y="2604046"/>
            <a:ext cx="178594" cy="214313"/>
          </a:xfrm>
          <a:prstGeom prst="rect">
            <a:avLst/>
          </a:prstGeom>
        </p:spPr>
      </p:pic>
      <p:pic>
        <p:nvPicPr>
          <p:cNvPr id="24" name="SK-14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19850" y="3118396"/>
            <a:ext cx="152400" cy="228600"/>
          </a:xfrm>
          <a:prstGeom prst="rect">
            <a:avLst/>
          </a:prstGeom>
        </p:spPr>
      </p:pic>
      <p:pic>
        <p:nvPicPr>
          <p:cNvPr id="25" name="SK-14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19850" y="3632746"/>
            <a:ext cx="178594" cy="214313"/>
          </a:xfrm>
          <a:prstGeom prst="rect">
            <a:avLst/>
          </a:prstGeom>
        </p:spPr>
      </p:pic>
      <p:pic>
        <p:nvPicPr>
          <p:cNvPr id="26" name="SK-14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001125" y="1251496"/>
            <a:ext cx="2619375" cy="4368254"/>
          </a:xfrm>
          <a:prstGeom prst="rect">
            <a:avLst/>
          </a:prstGeom>
        </p:spPr>
      </p:pic>
      <p:pic>
        <p:nvPicPr>
          <p:cNvPr id="27" name="SK-14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229725" y="1480096"/>
            <a:ext cx="457200" cy="457200"/>
          </a:xfrm>
          <a:prstGeom prst="rect">
            <a:avLst/>
          </a:prstGeom>
        </p:spPr>
      </p:pic>
      <p:pic>
        <p:nvPicPr>
          <p:cNvPr id="28" name="SK-14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315450" y="1594396"/>
            <a:ext cx="285750" cy="228600"/>
          </a:xfrm>
          <a:prstGeom prst="rect">
            <a:avLst/>
          </a:prstGeom>
        </p:spPr>
      </p:pic>
      <p:pic>
        <p:nvPicPr>
          <p:cNvPr id="29" name="SK-14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229725" y="2089696"/>
            <a:ext cx="2162175" cy="361950"/>
          </a:xfrm>
          <a:prstGeom prst="rect">
            <a:avLst/>
          </a:prstGeom>
        </p:spPr>
      </p:pic>
      <p:pic>
        <p:nvPicPr>
          <p:cNvPr id="30" name="SK-14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229725" y="2604046"/>
            <a:ext cx="152400" cy="228600"/>
          </a:xfrm>
          <a:prstGeom prst="rect">
            <a:avLst/>
          </a:prstGeom>
        </p:spPr>
      </p:pic>
      <p:pic>
        <p:nvPicPr>
          <p:cNvPr id="31" name="SK-14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229725" y="3118396"/>
            <a:ext cx="178594" cy="214313"/>
          </a:xfrm>
          <a:prstGeom prst="rect">
            <a:avLst/>
          </a:prstGeom>
        </p:spPr>
      </p:pic>
      <p:pic>
        <p:nvPicPr>
          <p:cNvPr id="32" name="SK-14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229725" y="3632746"/>
            <a:ext cx="171450" cy="228600"/>
          </a:xfrm>
          <a:prstGeom prst="rect">
            <a:avLst/>
          </a:prstGeom>
        </p:spPr>
      </p:pic>
      <p:pic>
        <p:nvPicPr>
          <p:cNvPr id="33" name="SK-14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71500" y="5924550"/>
            <a:ext cx="11049000" cy="552450"/>
          </a:xfrm>
          <a:prstGeom prst="rect">
            <a:avLst/>
          </a:prstGeom>
        </p:spPr>
      </p:pic>
      <p:pic>
        <p:nvPicPr>
          <p:cNvPr id="34" name="SK-14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00100" y="6076950"/>
            <a:ext cx="695325" cy="247650"/>
          </a:xfrm>
          <a:prstGeom prst="rect">
            <a:avLst/>
          </a:prstGeom>
        </p:spPr>
      </p:pic>
      <p:pic>
        <p:nvPicPr>
          <p:cNvPr id="35" name="SK-14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482013" y="6132165"/>
            <a:ext cx="166688" cy="137220"/>
          </a:xfrm>
          <a:prstGeom prst="rect">
            <a:avLst/>
          </a:prstGeom>
        </p:spPr>
      </p:pic>
      <p:sp>
        <p:nvSpPr>
          <p:cNvPr id="36" name="SK-14-text-35"/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spc="60" kern="0" dirty="0">
                <a:solidFill>
                  <a:srgbClr val="059669"/>
                </a:solidFill>
              </a:rPr>
              <a:t>DWWM 2026 // LYDIE MEUNIER</a:t>
            </a:r>
            <a:endParaRPr lang="en-US" sz="1050" dirty="0"/>
          </a:p>
        </p:txBody>
      </p:sp>
      <p:sp>
        <p:nvSpPr>
          <p:cNvPr id="37" name="SK-14-text-36"/>
          <p:cNvSpPr/>
          <p:nvPr/>
        </p:nvSpPr>
        <p:spPr>
          <a:xfrm>
            <a:off x="762000" y="657225"/>
            <a:ext cx="110109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Perspectives d'Évolution</a:t>
            </a:r>
            <a:endParaRPr lang="en-US" sz="2400" dirty="0"/>
          </a:p>
        </p:txBody>
      </p:sp>
      <p:sp>
        <p:nvSpPr>
          <p:cNvPr id="38" name="SK-14-text-37"/>
          <p:cNvSpPr/>
          <p:nvPr/>
        </p:nvSpPr>
        <p:spPr>
          <a:xfrm>
            <a:off x="800100" y="2089696"/>
            <a:ext cx="3524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Qualité &amp; Tests</a:t>
            </a:r>
            <a:endParaRPr lang="en-US" sz="1500" dirty="0"/>
          </a:p>
        </p:txBody>
      </p:sp>
      <p:sp>
        <p:nvSpPr>
          <p:cNvPr id="39" name="SK-14-text-38"/>
          <p:cNvSpPr/>
          <p:nvPr/>
        </p:nvSpPr>
        <p:spPr>
          <a:xfrm>
            <a:off x="1066800" y="2604046"/>
            <a:ext cx="18954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Mise en place de </a:t>
            </a:r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Jest</a:t>
            </a:r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et </a:t>
            </a:r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Supertest</a:t>
            </a:r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pour l'API.</a:t>
            </a:r>
            <a:endParaRPr lang="en-US" sz="1125" dirty="0"/>
          </a:p>
        </p:txBody>
      </p:sp>
      <p:sp>
        <p:nvSpPr>
          <p:cNvPr id="40" name="SK-14-text-39"/>
          <p:cNvSpPr/>
          <p:nvPr/>
        </p:nvSpPr>
        <p:spPr>
          <a:xfrm>
            <a:off x="1073944" y="3118396"/>
            <a:ext cx="188833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Tests unitaires avec </a:t>
            </a:r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Mocha / Chai</a:t>
            </a:r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25" dirty="0"/>
          </a:p>
        </p:txBody>
      </p:sp>
      <p:sp>
        <p:nvSpPr>
          <p:cNvPr id="41" name="SK-14-text-40"/>
          <p:cNvSpPr/>
          <p:nvPr/>
        </p:nvSpPr>
        <p:spPr>
          <a:xfrm>
            <a:off x="1066800" y="3632746"/>
            <a:ext cx="18954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 de la cohérence des exports CSV.</a:t>
            </a:r>
            <a:endParaRPr lang="en-US" sz="1125" dirty="0"/>
          </a:p>
        </p:txBody>
      </p:sp>
      <p:sp>
        <p:nvSpPr>
          <p:cNvPr id="42" name="SK-14-text-41"/>
          <p:cNvSpPr/>
          <p:nvPr/>
        </p:nvSpPr>
        <p:spPr>
          <a:xfrm>
            <a:off x="3609975" y="2089696"/>
            <a:ext cx="30670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Expérience UI</a:t>
            </a:r>
            <a:endParaRPr lang="en-US" sz="1500" dirty="0"/>
          </a:p>
        </p:txBody>
      </p:sp>
      <p:sp>
        <p:nvSpPr>
          <p:cNvPr id="43" name="SK-14-text-42"/>
          <p:cNvSpPr/>
          <p:nvPr/>
        </p:nvSpPr>
        <p:spPr>
          <a:xfrm>
            <a:off x="3876675" y="2604046"/>
            <a:ext cx="18954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Optimisation </a:t>
            </a:r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Responsive Design</a:t>
            </a:r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(Tablettes).</a:t>
            </a:r>
            <a:endParaRPr lang="en-US" sz="1125" dirty="0"/>
          </a:p>
        </p:txBody>
      </p:sp>
      <p:sp>
        <p:nvSpPr>
          <p:cNvPr id="44" name="SK-14-text-43"/>
          <p:cNvSpPr/>
          <p:nvPr/>
        </p:nvSpPr>
        <p:spPr>
          <a:xfrm>
            <a:off x="3876675" y="3118396"/>
            <a:ext cx="189547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Amélioration de l'accessibilité (normes WCAG).</a:t>
            </a:r>
            <a:endParaRPr lang="en-US" sz="1125" dirty="0"/>
          </a:p>
        </p:txBody>
      </p:sp>
      <p:sp>
        <p:nvSpPr>
          <p:cNvPr id="45" name="SK-14-text-44"/>
          <p:cNvSpPr/>
          <p:nvPr/>
        </p:nvSpPr>
        <p:spPr>
          <a:xfrm>
            <a:off x="3857625" y="3832771"/>
            <a:ext cx="191452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Tableau de bord interactif avec graphiques dynamiques.</a:t>
            </a:r>
            <a:endParaRPr lang="en-US" sz="1125" dirty="0"/>
          </a:p>
        </p:txBody>
      </p:sp>
      <p:sp>
        <p:nvSpPr>
          <p:cNvPr id="46" name="SK-14-text-45"/>
          <p:cNvSpPr/>
          <p:nvPr/>
        </p:nvSpPr>
        <p:spPr>
          <a:xfrm>
            <a:off x="6419850" y="2089696"/>
            <a:ext cx="37528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Fonctions Métier</a:t>
            </a:r>
            <a:endParaRPr lang="en-US" sz="1500" dirty="0"/>
          </a:p>
        </p:txBody>
      </p:sp>
      <p:sp>
        <p:nvSpPr>
          <p:cNvPr id="47" name="SK-14-text-46"/>
          <p:cNvSpPr/>
          <p:nvPr/>
        </p:nvSpPr>
        <p:spPr>
          <a:xfrm>
            <a:off x="6693694" y="2604046"/>
            <a:ext cx="188833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Gestion avancée des </a:t>
            </a:r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acomptes</a:t>
            </a:r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facturés.</a:t>
            </a:r>
            <a:endParaRPr lang="en-US" sz="1125" dirty="0"/>
          </a:p>
        </p:txBody>
      </p:sp>
      <p:sp>
        <p:nvSpPr>
          <p:cNvPr id="48" name="SK-14-text-47"/>
          <p:cNvSpPr/>
          <p:nvPr/>
        </p:nvSpPr>
        <p:spPr>
          <a:xfrm>
            <a:off x="6667500" y="3118396"/>
            <a:ext cx="19145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Planification des paiements partiels automatiques.</a:t>
            </a:r>
            <a:endParaRPr lang="en-US" sz="1125" dirty="0"/>
          </a:p>
        </p:txBody>
      </p:sp>
      <p:sp>
        <p:nvSpPr>
          <p:cNvPr id="49" name="SK-14-text-48"/>
          <p:cNvSpPr/>
          <p:nvPr/>
        </p:nvSpPr>
        <p:spPr>
          <a:xfrm>
            <a:off x="6693694" y="3632746"/>
            <a:ext cx="188833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de gestion des stocks de matériel.</a:t>
            </a:r>
            <a:endParaRPr lang="en-US" sz="1125" dirty="0"/>
          </a:p>
        </p:txBody>
      </p:sp>
      <p:sp>
        <p:nvSpPr>
          <p:cNvPr id="50" name="SK-14-text-49"/>
          <p:cNvSpPr/>
          <p:nvPr/>
        </p:nvSpPr>
        <p:spPr>
          <a:xfrm>
            <a:off x="9229725" y="2089696"/>
            <a:ext cx="29622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Technique &amp; SEO</a:t>
            </a:r>
            <a:endParaRPr lang="en-US" sz="1500" dirty="0"/>
          </a:p>
        </p:txBody>
      </p:sp>
      <p:sp>
        <p:nvSpPr>
          <p:cNvPr id="51" name="SK-14-text-50"/>
          <p:cNvSpPr/>
          <p:nvPr/>
        </p:nvSpPr>
        <p:spPr>
          <a:xfrm>
            <a:off x="9477375" y="2604046"/>
            <a:ext cx="19145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Refactorisation pour une meilleure maintenabilité.</a:t>
            </a:r>
            <a:endParaRPr lang="en-US" sz="1125" dirty="0"/>
          </a:p>
        </p:txBody>
      </p:sp>
      <p:sp>
        <p:nvSpPr>
          <p:cNvPr id="52" name="SK-14-text-51"/>
          <p:cNvSpPr/>
          <p:nvPr/>
        </p:nvSpPr>
        <p:spPr>
          <a:xfrm>
            <a:off x="9503569" y="3118396"/>
            <a:ext cx="188833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Optimisation </a:t>
            </a:r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SEO</a:t>
            </a:r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pour la vitrine publique.</a:t>
            </a:r>
            <a:endParaRPr lang="en-US" sz="1125" dirty="0"/>
          </a:p>
        </p:txBody>
      </p:sp>
      <p:sp>
        <p:nvSpPr>
          <p:cNvPr id="53" name="SK-14-text-52"/>
          <p:cNvSpPr/>
          <p:nvPr/>
        </p:nvSpPr>
        <p:spPr>
          <a:xfrm>
            <a:off x="9496425" y="3632746"/>
            <a:ext cx="18954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Renforcement des logs et monitoring serveur.</a:t>
            </a:r>
            <a:endParaRPr lang="en-US" sz="1125" dirty="0"/>
          </a:p>
        </p:txBody>
      </p:sp>
      <p:sp>
        <p:nvSpPr>
          <p:cNvPr id="54" name="SK-14-text-53"/>
          <p:cNvSpPr/>
          <p:nvPr/>
        </p:nvSpPr>
        <p:spPr>
          <a:xfrm>
            <a:off x="914400" y="6076950"/>
            <a:ext cx="72066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ROADMAP</a:t>
            </a:r>
            <a:endParaRPr lang="en-US" sz="900" dirty="0"/>
          </a:p>
        </p:txBody>
      </p:sp>
      <p:sp>
        <p:nvSpPr>
          <p:cNvPr id="55" name="SK-14-text-54"/>
          <p:cNvSpPr/>
          <p:nvPr/>
        </p:nvSpPr>
        <p:spPr>
          <a:xfrm>
            <a:off x="1647825" y="6100763"/>
            <a:ext cx="81610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Suivi des évolutions via les </a:t>
            </a:r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Issues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sur GitHub</a:t>
            </a:r>
            <a:endParaRPr lang="en-US" sz="1050" dirty="0"/>
          </a:p>
        </p:txBody>
      </p:sp>
      <p:sp>
        <p:nvSpPr>
          <p:cNvPr id="56" name="SK-14-text-55"/>
          <p:cNvSpPr/>
          <p:nvPr/>
        </p:nvSpPr>
        <p:spPr>
          <a:xfrm>
            <a:off x="8724900" y="6100763"/>
            <a:ext cx="34671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/LydieMnr/FmAbattage-Management-app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5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5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5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11049000" cy="641896"/>
          </a:xfrm>
          <a:prstGeom prst="rect">
            <a:avLst/>
          </a:prstGeom>
        </p:spPr>
      </p:pic>
      <p:pic>
        <p:nvPicPr>
          <p:cNvPr id="5" name="SK-15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791200"/>
            <a:ext cx="12192000" cy="1066800"/>
          </a:xfrm>
          <a:prstGeom prst="rect">
            <a:avLst/>
          </a:prstGeom>
        </p:spPr>
      </p:pic>
      <p:pic>
        <p:nvPicPr>
          <p:cNvPr id="6" name="SK-15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0425" y="6096000"/>
            <a:ext cx="457200" cy="457200"/>
          </a:xfrm>
          <a:prstGeom prst="rect">
            <a:avLst/>
          </a:prstGeom>
        </p:spPr>
      </p:pic>
      <p:pic>
        <p:nvPicPr>
          <p:cNvPr id="7" name="SK-15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9963" y="6229350"/>
            <a:ext cx="238125" cy="190500"/>
          </a:xfrm>
          <a:prstGeom prst="rect">
            <a:avLst/>
          </a:prstGeom>
        </p:spPr>
      </p:pic>
      <p:pic>
        <p:nvPicPr>
          <p:cNvPr id="8" name="SK-15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5825" y="6096000"/>
            <a:ext cx="457200" cy="457200"/>
          </a:xfrm>
          <a:prstGeom prst="rect">
            <a:avLst/>
          </a:prstGeom>
        </p:spPr>
      </p:pic>
      <p:pic>
        <p:nvPicPr>
          <p:cNvPr id="9" name="SK-15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05363" y="6229350"/>
            <a:ext cx="238125" cy="190500"/>
          </a:xfrm>
          <a:prstGeom prst="rect">
            <a:avLst/>
          </a:prstGeom>
        </p:spPr>
      </p:pic>
      <p:pic>
        <p:nvPicPr>
          <p:cNvPr id="10" name="SK-15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55087" y="6096000"/>
            <a:ext cx="457200" cy="457200"/>
          </a:xfrm>
          <a:prstGeom prst="rect">
            <a:avLst/>
          </a:prstGeom>
        </p:spPr>
      </p:pic>
      <p:pic>
        <p:nvPicPr>
          <p:cNvPr id="11" name="SK-15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64625" y="6229350"/>
            <a:ext cx="238125" cy="190500"/>
          </a:xfrm>
          <a:prstGeom prst="rect">
            <a:avLst/>
          </a:prstGeom>
        </p:spPr>
      </p:pic>
      <p:sp>
        <p:nvSpPr>
          <p:cNvPr id="12" name="SK-15-text-11"/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spc="60" kern="0" dirty="0">
                <a:solidFill>
                  <a:srgbClr val="059669"/>
                </a:solidFill>
              </a:rPr>
              <a:t>DWWM 2026 // LYDIE MEUNIER</a:t>
            </a:r>
            <a:endParaRPr lang="en-US" sz="1050" dirty="0"/>
          </a:p>
        </p:txBody>
      </p:sp>
      <p:sp>
        <p:nvSpPr>
          <p:cNvPr id="13" name="SK-15-text-12"/>
          <p:cNvSpPr/>
          <p:nvPr/>
        </p:nvSpPr>
        <p:spPr>
          <a:xfrm>
            <a:off x="762000" y="657225"/>
            <a:ext cx="110109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14" name="SK-15-text-13"/>
          <p:cNvSpPr/>
          <p:nvPr/>
        </p:nvSpPr>
        <p:spPr>
          <a:xfrm>
            <a:off x="1466850" y="2201168"/>
            <a:ext cx="9258300" cy="104001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4095"/>
              </a:lnSpc>
              <a:buNone/>
            </a:pPr>
            <a:r>
              <a:rPr lang="en-US" sz="31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réponse technique complète aux besoins concrets d'une micro-entreprise.</a:t>
            </a:r>
            <a:endParaRPr lang="en-US" sz="3150" dirty="0"/>
          </a:p>
        </p:txBody>
      </p:sp>
      <p:sp>
        <p:nvSpPr>
          <p:cNvPr id="15" name="SK-15-text-14"/>
          <p:cNvSpPr/>
          <p:nvPr/>
        </p:nvSpPr>
        <p:spPr>
          <a:xfrm>
            <a:off x="2286000" y="3545979"/>
            <a:ext cx="762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projet FM Abattage démontre la capacité à concevoir, développer et déployer une solution logicielle métier automatisée, sécurisée et pérenne, validant l'ensemble des compétences du titre professionnel DWWM.</a:t>
            </a:r>
            <a:endParaRPr lang="en-US" sz="1500" dirty="0"/>
          </a:p>
        </p:txBody>
      </p:sp>
      <p:sp>
        <p:nvSpPr>
          <p:cNvPr id="16" name="SK-15-text-15"/>
          <p:cNvSpPr/>
          <p:nvPr/>
        </p:nvSpPr>
        <p:spPr>
          <a:xfrm>
            <a:off x="1870025" y="6096000"/>
            <a:ext cx="255460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spc="30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OPÉRATIONNEL</a:t>
            </a:r>
            <a:endParaRPr lang="en-US" sz="1350" dirty="0"/>
          </a:p>
        </p:txBody>
      </p:sp>
      <p:sp>
        <p:nvSpPr>
          <p:cNvPr id="17" name="SK-15-text-16"/>
          <p:cNvSpPr/>
          <p:nvPr/>
        </p:nvSpPr>
        <p:spPr>
          <a:xfrm>
            <a:off x="1870025" y="6353175"/>
            <a:ext cx="42367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Déployé sur Render / Aiven</a:t>
            </a:r>
            <a:endParaRPr lang="en-US" sz="1050" dirty="0"/>
          </a:p>
        </p:txBody>
      </p:sp>
      <p:sp>
        <p:nvSpPr>
          <p:cNvPr id="18" name="SK-15-text-17"/>
          <p:cNvSpPr/>
          <p:nvPr/>
        </p:nvSpPr>
        <p:spPr>
          <a:xfrm>
            <a:off x="5305425" y="6096000"/>
            <a:ext cx="22764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spc="30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SÉCURISÉ</a:t>
            </a:r>
            <a:endParaRPr lang="en-US" sz="1350" dirty="0"/>
          </a:p>
        </p:txBody>
      </p:sp>
      <p:sp>
        <p:nvSpPr>
          <p:cNvPr id="19" name="SK-15-text-18"/>
          <p:cNvSpPr/>
          <p:nvPr/>
        </p:nvSpPr>
        <p:spPr>
          <a:xfrm>
            <a:off x="5305425" y="6353175"/>
            <a:ext cx="55168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Bcrypt, Sessions &amp; SQLi protection</a:t>
            </a:r>
            <a:endParaRPr lang="en-US" sz="1050" dirty="0"/>
          </a:p>
        </p:txBody>
      </p:sp>
      <p:sp>
        <p:nvSpPr>
          <p:cNvPr id="20" name="SK-15-text-19"/>
          <p:cNvSpPr/>
          <p:nvPr/>
        </p:nvSpPr>
        <p:spPr>
          <a:xfrm>
            <a:off x="9164687" y="6096000"/>
            <a:ext cx="19240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spc="30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ÉVOLUTIF</a:t>
            </a:r>
            <a:endParaRPr lang="en-US" sz="1350" dirty="0"/>
          </a:p>
        </p:txBody>
      </p:sp>
      <p:sp>
        <p:nvSpPr>
          <p:cNvPr id="21" name="SK-15-text-20"/>
          <p:cNvSpPr/>
          <p:nvPr/>
        </p:nvSpPr>
        <p:spPr>
          <a:xfrm>
            <a:off x="9164687" y="6353175"/>
            <a:ext cx="30273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MVC &amp; API REST</a:t>
            </a:r>
            <a:endParaRPr lang="en-US" sz="1050" dirty="0"/>
          </a:p>
        </p:txBody>
      </p:sp>
      <p:sp>
        <p:nvSpPr>
          <p:cNvPr id="22" name="SK-15-text-21"/>
          <p:cNvSpPr/>
          <p:nvPr/>
        </p:nvSpPr>
        <p:spPr>
          <a:xfrm>
            <a:off x="7686675" y="6610350"/>
            <a:ext cx="45053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Lydie Meunier — Session 2026 — Centre Européen de Formation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2026-06-17T08:58:38Z</dcterms:created>
  <dcterms:modified xsi:type="dcterms:W3CDTF">2026-06-17T08:58:38Z</dcterms:modified>
</cp:coreProperties>
</file>